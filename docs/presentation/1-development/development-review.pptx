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notesMasterIdLst>
    <p:notesMasterId r:id="rId3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발표" id="{95fcba1d-10ae-463c-6cd1-8916d43f4f86}">
          <p14:sldIdLst>
            <p14:sldId id="256"/>
            <p14:sldId id="257"/>
            <p14:sldId id="258"/>
            <p14:sldId id="259"/>
            <p14:sldId id="260"/>
            <p14:sldId id="261"/>
            <p14:sldId id="262"/>
            <p14:sldId id="263"/>
            <p14:sldId id="264"/>
            <p14:sldId id="265"/>
            <p14:sldId id="266"/>
            <p14:sldId id="267"/>
            <p14:sldId id="268"/>
            <p14:sldId id="269"/>
            <p14:sldId id="270"/>
            <p14:sldId id="271"/>
            <p14:sldId id="272"/>
            <p14:sldId id="273"/>
          </p14:sldIdLst>
        </p14:section>
        <p14:section name="부록 · 용어 사전" id="{09d3bf5d-3cf6-f59e-5783-0fe464aaaf2f}">
          <p14:sldIdLst>
            <p14:sldId id="274"/>
            <p14:sldId id="275"/>
            <p14:sldId id="276"/>
            <p14:sldId id="277"/>
            <p14:sldId id="278"/>
            <p14:sldId id="279"/>
            <p14:sldId id="280"/>
            <p14:sldId id="281"/>
            <p14:sldId id="282"/>
            <p14:sldId id="283"/>
            <p14:sldId id="284"/>
            <p14:sldId id="285"/>
            <p14:sldId id="286"/>
            <p14:sldId id="287"/>
            <p14:sldId id="28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 공유할 내용은 회사에서 바이브 코딩이 본격화되기 전에, 동영상 강좌를 따라 Claude Code로 풀스택 앱을 직접 만들어 본 22일간의 기록입니다. 바이브 코딩은 코드를 한 줄씩 직접 쓰는 대신, 원하는 결과를 말로 설명하고 AI가 만든 결과를 확인하며 조정하는 개발 방식입니다. 풀스택은 화면(프론트엔드), 서버(백엔드), 데이터베이스까지 전부를 말합니다. 아래 검은 상자의 첫 줄이 제가 처음 입력한 문장이고, 마지막 줄이 22일 뒤의 결과입니다.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출발점은 Claude 채팅으로 만들어 둔 요구사항 문서와 화면 4개였습니다. 데이터가 브라우저 메모리에만 있어서 새로고침하면 사라지는 시제품이었습니다. 저는 백엔드(서버)와 DB 경험이 없었고, 회사에서는 claude.ai 접속이 막혀 있어 태블릿으로 집 PC에 원격 접속해서 진행했습니다. --remote-control은 집 PC의 Claude Code 세션을 다른 기기에서 이어서 조작하게 해 주는 옵션입니다.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장은 용어가 낯선 분들을 위한 지도입니다. 위에서 아래로 사용자의 요청이 흘러갑니다. 프론트엔드는 화면입니다(SvelteKit). 화면은 API, 즉 정해진 주소와 형식으로 백엔드에 요청하고 JSON이라는 텍스트로 답을 받습니다. 백엔드는 Express라는 Node.js 서버 도구로 만들었고, 로그인과 권한, 동시 수정 충돌 같은 규칙을 처리합니다. Knex는 백엔드와 데이터베이스 사이의 통역사로, 자바스크립트 코드를 SQL 명령으로 바꿔 PostgreSQL에 전달합니다. 오른쪽은 코드를 쓰기 전에 만든 설계 문서들과 개발을 도운 도구들입니다. 식당 비유로 기억하시면 쉽습니다. 각 용어는 부록 용어 사전에 정리했습니다.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커밋은 변경 묶음 하나를 이력에 저장한 것, 이슈는 할 일 목록, PR(Pull Request)은 작업한 내용을 본선(main)에 합쳐 달라는 요청입니다. 22일 동안 180번 정도 지시했고, 결과로 문서 8개와 앱 코드 약 6천 줄, 자동 테스트 275개가 남았습니다. 자동 테스트는 코드가 기대대로 동작하는지 자동으로 확인하는 코드입니다.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강좌가 제시한 워크플로우는 도메인정의서, PRD, 페르소나, ERD, 실행계획, UI 설계 순서였습니다. 처음 9일은 코드를 거의 쓰지 않고 문서만 만들었습니다. PRD는 제품 요구사항 문서, ERD는 데이터베이스 표들의 설계도, DDL은 표를 만드는 SQL 명령, Swagger는 API 명세서입니다. 문서가 충분하니 GitHub 이슈와 구현이 빠르게 진행됐습니다.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CLAUDE.md는 Claude Code가 작업을 시작할 때마다 먼저 읽는 규칙 파일입니다. 여기에 한국어 사용과 오버엔지니어링 금지(요청하지 않은 것을 미리 만들지 말 것)를 적어 두니 이후 결과물이 단순해졌습니다. 훅(Hook)은 특정 시점에 자동으로 실행되는 스크립트로, 작업이 끝나면 음성으로 알려 주게 했습니다. 서브에이전트는 특정 분야를 맡는 보조 AI입니다.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설계 문서는 한 번에 완성하지 않고, 서브에이전트에게 다섯 가지 기준으로 평가를 맡긴 뒤 부족한 부분을 고치는 식으로 반복했습니다. 업무에 대한 사실(무엇이 범위이고 무엇이 아닌지)은 제가 답해야 했습니다. 오른쪽 목록이 9월 23일부터 29일까지 만든 문서들입니다. 와이어프레임은 색이나 디자인 없이 화면 배치만 잡은 뼈대 그림입니다.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백엔드를 몰라서 판단할 수 없을 때는 "필요한지 먼저 판단해 주고, 맞으면 해 줘"라고 물었습니다. DDL은 데이터베이스에 표를 만드는 SQL 명령입니다. 나중에 이 내용은 마이그레이션, 즉 DB 구조 변경을 순서대로 기록한 스크립트로 옮겨졌습니다. camelCase는 chipSize처럼 단어를 붙여 쓰고 대문자로 구분하는 이름 표기법입니다.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Swagger(정식 명칭은 OpenAPI)는 API의 주소, 입력값, 응답, 오류를 정해진 형식으로 적은 명세서입니다. 화면과 서버가 같은 약속을 보게 해 줍니다. 목 서버는 진짜 백엔드가 없어도 명세대로 가짜 응답을 돌려주는 서버입니다. MCP(Model Context Protocol)는 AI가 데이터베이스나 문서 검색 같은 외부 도구에 연결하는 표준 방식으로, AI용 USB 포트라고 생각하면 됩니다. 확신이 없을 때는 실행 전에 먼저 물어봤습니다.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실행계획 문서의 할 일들을 GitHub 이슈로 자동 생성했습니다. 이슈는 할 일이나 버그를 적어 두는 게시물입니다. 그리고 커스텀 명령을 만들었습니다. 반복 절차를 문장으로 적은 파일인데, 이슈 번호만 넣으면 분석, 테스트 작성, 구현, 검증까지 같은 순서로 진행합니다. 브랜치는 원본을 건드리지 않고 따로 작업하는 갈래입니다. gh는 명령창에서 GitHub를 다루는 도구입니다.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BE는 백엔드, FE는 프론트엔드 작업 번호입니다. 낙관적 잠금은 여러 사람이 같은 행을 고칠 때 내가 본 버전이 최신일 때만 저장하게 해서 남의 수정을 덮어쓰지 않게 하는 방식입니다. SSE(Server-Sent Events)는 서버가 브라우저로 변경 알림을 계속 보내 주는 실시간 통신입니다. 회사에서는 화면을 볼 수 없어서 "브라우저 확인은 API와 코드 검증으로 대체"라는 문장을 붙여, Claude가 실제 서버에 요청을 보내 결과를 확인하게 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 점검은 실제 브라우저로 했습니다. Claude in Chrome은 Claude가 제 Chrome을 직접 클릭하고 입력하며 조작하게 해 주는 확장 프로그램입니다. 탭 두 개를 열어 한쪽 변경이 다른 쪽에 바로 반영되는지, 동시에 저장하면 충돌 안내가 뜨는지 확인했습니다. 실제 샘플 엑셀로 써 보니 필요한 기능(엑셀 안의 칩 이미지 표시)이 보여서 그 자리에서 추가했습니다. API 검증만으로는 찾지 못한 문제 3건도 이때 나왔습니다.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22일 동안 효과가 좋았던 입력 방식을 정리했습니다. 핵심은 세 가지입니다. 첫째, 기준을 주고 평가를 시키기. 둘째, 모호하면 나에게 물어보라고 허락하기. 셋째, 반복되는 절차는 커스텀 명령으로 굳히기. 커버리지 80%는 테스트가 실제로 실행해 본 코드 비율이 80% 이상이어야 한다는 뜻입니다.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잘 안 된 순간들도 공유합니다. AI가 오래 걸리면 멈추고 상황을 묻는 게 좋았고, 모르는 것은 아주 기초적인 질문(Ctrl+C가 뭔지)이라도 그냥 물어보면 됐습니다. 포트는 프로그램마다 쓰는 문 번호입니다(화면 5173, 서버 3001). 취약점은 악의적인 입력으로 프로그램을 오동작시킬 수 있는 보안 약점입니다.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지금은 화면 다섯 개(로그인 포함 여섯)가 서버와 연결되어 실제로 동작합니다. 남은 일은 사내 서버에 올리는 배포, 임가공 필수 입력 항목에 대한 업무 담당자 확인, 그리고 1차 시스템의 로그인 방식으로 바꾸는 작업입니다. 로그인 부분은 처음부터 한 파일만 바꾸면 되도록 분리해 두었습니다.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여기서부터는 앞으로의 계획입니다. 지금까지는 개발만 끝난 상태이고, 실제로 회사에서 쓰려면 운영과 배포라는 단계가 더 필요합니다. 배포는 개발한 프로그램을 실제 사용자가 쓰는 서버에 설치하는 일입니다. 개발을 마친 시점에서 예상한 순서를 OP-1부터 OP-7까지 번호로 정리했습니다. 먼저 독립 시스템으로 운영할지 1차 시스템에 합칠지를 정하고, 집 PC에서 운영에 필요한 코드를 보강한 뒤, 회사 PC에 먼저 설치해 확인하고, 사내 서버에 설치해 시범 운영을 거쳐 정식으로 엽니다. 마지막 칸은 일부러 비워 두었습니다. 운영까지 끝나면 운영 편 발표에서 이 예측이 실제로 어떻게 바뀌었는지 비교해 보려고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계획대로 가기 전에 회사에서 먼저 확인해야 할 것이 여섯 가지 있습니다. 설치 권한, 외부 사이트 접속 가능 여부, 코드 반입과 오픈소스 승인, 엑셀 파일의 암호화 여부, 사용자 계정을 만드는 방법, 1차 시스템과의 병합 방식입니다. 이 중 가장 큰 변수는 엑셀 암호화입니다. 사내 문서는 보안 솔루션으로 암호화되는 경우가 많은데, 지금 만든 MapGen은 암호화되지 않은 엑셀만 읽을 수 있습니다. 이 확인 결과에 따라 운영 준비 개발에서 만들 내용이 달라집니다.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마무리로 다섯 가지를 말씀드립니다. 규칙 파일부터, 코드보다 문서를 먼저, 판단은 맡기되 결정은 사람이, 반복은 명령으로, 마지막 확인은 사람 눈으로. 함께 드린 HTML 파일에는 날짜별 타임라인과 제가 실제로 입력한 요청 180건, 용어 사전이 들어 있습니다. 운영까지 마치면 운영 편에서 오늘 보여 드린 계획과 실제 결과를 비교해 다시 공유하겠습니다.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 중 모르는 용어가 나오면 이 부록을 참고하시면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320040"/>
          </a:xfrm>
          <a:prstGeom prst="rect">
            <a:avLst/>
          </a:prstGeom>
          <a:noFill/>
          <a:ln/>
        </p:spPr>
        <p:txBody>
          <a:bodyPr wrap="square" rtlCol="0"/>
          <a:lstStyle>
            <a:lvl1pPr indent="0" marL="0">
              <a:buNone/>
              <a:defRPr lang="en-US" sz="1200" dirty="0">
                <a:solidFill>
                  <a:srgbClr val="A4520C"/>
                </a:solidFill>
                <a:latin typeface="Consolas" pitchFamily="34" charset="0"/>
                <a:ea typeface="Consolas" pitchFamily="34" charset="-122"/>
                <a:cs typeface="Consolas" pitchFamily="34" charset="-120"/>
              </a:defRPr>
            </a:lvl1pPr>
          </a:lstStyle>
          <a:p>
            <a:pPr indent="0" marL="0">
              <a:buNone/>
            </a:pPr>
            <a:endParaRPr lang="en-US" sz="1200" dirty="0"/>
          </a:p>
        </p:txBody>
      </p:sp>
      <p:sp>
        <p:nvSpPr>
          <p:cNvPr id="3" name="Text 0"/>
          <p:cNvSpPr/>
          <p:nvPr>
            <p:ph idx="101" type="title" hasCustomPrompt="1"/>
          </p:nvPr>
        </p:nvSpPr>
        <p:spPr>
          <a:xfrm>
            <a:off x="548640" y="658368"/>
            <a:ext cx="11094415" cy="731520"/>
          </a:xfrm>
          <a:prstGeom prst="rect">
            <a:avLst/>
          </a:prstGeom>
          <a:noFill/>
          <a:ln/>
        </p:spPr>
        <p:txBody>
          <a:bodyPr wrap="square" rtlCol="0"/>
          <a:lstStyle>
            <a:lvl1pPr algn="l" indent="0" marL="0">
              <a:buNone/>
              <a:defRPr lang="en-US" sz="3000" b="1" dirty="0">
                <a:solidFill>
                  <a:srgbClr val="18212F"/>
                </a:solidFill>
              </a:defRPr>
            </a:lvl1pPr>
          </a:lstStyle>
          <a:p>
            <a:pPr algn="l" indent="0" marL="0">
              <a:buNone/>
            </a:pPr>
            <a:endParaRPr lang="en-US" sz="3000" dirty="0"/>
          </a:p>
        </p:txBody>
      </p:sp>
      <p:sp>
        <p:nvSpPr>
          <p:cNvPr id="4" name="Text 0"/>
          <p:cNvSpPr/>
          <p:nvPr/>
        </p:nvSpPr>
        <p:spPr>
          <a:xfrm>
            <a:off x="548640" y="6419088"/>
            <a:ext cx="5486400" cy="274320"/>
          </a:xfrm>
          <a:prstGeom prst="rect">
            <a:avLst/>
          </a:prstGeom>
          <a:noFill/>
          <a:ln/>
        </p:spPr>
        <p:txBody>
          <a:bodyPr wrap="square" lIns="0" tIns="0" rIns="0" bIns="0" rtlCol="0" anchor="ctr"/>
          <a:lstStyle/>
          <a:p>
            <a:pPr indent="0" marL="0">
              <a:buNone/>
            </a:pPr>
            <a:r>
              <a:rPr lang="en-US" sz="1000" dirty="0">
                <a:solidFill>
                  <a:srgbClr val="5B6678"/>
                </a:solidFill>
              </a:rPr>
              <a:t>MPW Plus 개발 편</a:t>
            </a:r>
            <a:endParaRPr lang="en-US" sz="1000" dirty="0"/>
          </a:p>
        </p:txBody>
      </p:sp>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B2A4A"/>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4EE"/>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548640"/>
            <a:ext cx="11094415" cy="320040"/>
          </a:xfrm>
          <a:prstGeom prst="rect">
            <a:avLst/>
          </a:prstGeom>
          <a:noFill/>
          <a:ln/>
        </p:spPr>
        <p:txBody>
          <a:bodyPr wrap="square" lIns="0" tIns="0" rIns="0" bIns="0" rtlCol="0" anchor="ctr"/>
          <a:lstStyle/>
          <a:p>
            <a:pPr indent="0" marL="0">
              <a:buNone/>
            </a:pPr>
            <a:r>
              <a:rPr lang="en-US" sz="1300" dirty="0">
                <a:solidFill>
                  <a:srgbClr val="F2A25C"/>
                </a:solidFill>
                <a:latin typeface="Consolas" pitchFamily="34" charset="0"/>
                <a:ea typeface="Consolas" pitchFamily="34" charset="-122"/>
                <a:cs typeface="Consolas" pitchFamily="34" charset="-120"/>
              </a:rPr>
              <a:t>개발 편 · 2026.09.18 → 2026.10.09 · 22일 · 사내 공유용</a:t>
            </a:r>
            <a:endParaRPr lang="en-US" sz="1300" dirty="0"/>
          </a:p>
        </p:txBody>
      </p:sp>
      <p:sp>
        <p:nvSpPr>
          <p:cNvPr id="3" name="Text 1"/>
          <p:cNvSpPr txBox="1"/>
          <p:nvPr/>
        </p:nvSpPr>
        <p:spPr>
          <a:xfrm>
            <a:off x="548640" y="1051560"/>
            <a:ext cx="8229600" cy="1737360"/>
          </a:xfrm>
          <a:prstGeom prst="rect">
            <a:avLst/>
          </a:prstGeom>
          <a:noFill/>
          <a:ln/>
        </p:spPr>
        <p:txBody>
          <a:bodyPr wrap="square" lIns="0" tIns="0" rIns="0" bIns="0" rtlCol="0" anchor="t"/>
          <a:lstStyle/>
          <a:p>
            <a:pPr indent="0" marL="0">
              <a:buNone/>
            </a:pPr>
            <a:r>
              <a:rPr lang="en-US" sz="4600" b="1" dirty="0">
                <a:solidFill>
                  <a:srgbClr val="FFFFFF"/>
                </a:solidFill>
              </a:rPr>
              <a:t>Claude Code로 해 본</a:t>
            </a:r>
            <a:endParaRPr lang="en-US" sz="4600" dirty="0"/>
          </a:p>
          <a:p>
            <a:pPr indent="0" marL="0">
              <a:buNone/>
            </a:pPr>
            <a:r>
              <a:rPr lang="en-US" sz="4600" b="1" dirty="0">
                <a:solidFill>
                  <a:srgbClr val="FFFFFF"/>
                </a:solidFill>
              </a:rPr>
              <a:t>풀스택 바이브 코딩</a:t>
            </a:r>
            <a:endParaRPr lang="en-US" sz="4600" dirty="0"/>
          </a:p>
        </p:txBody>
      </p:sp>
      <p:sp>
        <p:nvSpPr>
          <p:cNvPr id="4" name="Text 2"/>
          <p:cNvSpPr txBox="1"/>
          <p:nvPr/>
        </p:nvSpPr>
        <p:spPr>
          <a:xfrm>
            <a:off x="548640" y="2880360"/>
            <a:ext cx="8778240" cy="822960"/>
          </a:xfrm>
          <a:prstGeom prst="rect">
            <a:avLst/>
          </a:prstGeom>
          <a:noFill/>
          <a:ln/>
        </p:spPr>
        <p:txBody>
          <a:bodyPr wrap="square" lIns="0" tIns="0" rIns="0" bIns="0" rtlCol="0" anchor="t"/>
          <a:lstStyle/>
          <a:p>
            <a:pPr indent="0" marL="0">
              <a:buNone/>
            </a:pPr>
            <a:r>
              <a:rPr lang="en-US" sz="1700" dirty="0">
                <a:solidFill>
                  <a:srgbClr val="C9D4EE"/>
                </a:solidFill>
              </a:rPr>
              <a:t>"클로드 코드를 이용한 풀스택 개발" 동영상 강좌를 따라, 프론트엔드만 있던 사내 도구 프로토타입을 DB·백엔드·실시간 공유까지 갖춘 앱으로 만든 기록입니다.</a:t>
            </a:r>
            <a:endParaRPr lang="en-US" sz="1700" dirty="0"/>
          </a:p>
        </p:txBody>
      </p:sp>
      <p:sp>
        <p:nvSpPr>
          <p:cNvPr id="5" name="Text 3"/>
          <p:cNvSpPr txBox="1"/>
          <p:nvPr/>
        </p:nvSpPr>
        <p:spPr>
          <a:xfrm>
            <a:off x="548640" y="3931920"/>
            <a:ext cx="9326880" cy="1417320"/>
          </a:xfrm>
          <a:prstGeom prst="roundRect">
            <a:avLst>
              <a:gd name="adj" fmla="val 5161"/>
            </a:avLst>
          </a:prstGeom>
          <a:solidFill>
            <a:srgbClr val="24365E"/>
          </a:solidFill>
          <a:ln>
            <a:solidFill>
              <a:srgbClr val="24365E"/>
            </a:solidFill>
          </a:ln>
        </p:spPr>
        <p:txBody>
          <a:bodyPr wrap="square" lIns="152400" tIns="152400" rIns="152400" bIns="152400" rtlCol="0" anchor="ctr"/>
          <a:lstStyle/>
          <a:p>
            <a:pPr indent="0" marL="0">
              <a:buNone/>
            </a:pPr>
            <a:r>
              <a:rPr lang="en-US" sz="1300" dirty="0">
                <a:solidFill>
                  <a:srgbClr val="F2A25C"/>
                </a:solidFill>
                <a:latin typeface="Consolas" pitchFamily="34" charset="0"/>
                <a:ea typeface="Consolas" pitchFamily="34" charset="-122"/>
                <a:cs typeface="Consolas" pitchFamily="34" charset="-120"/>
              </a:rPr>
              <a:t>❯ </a:t>
            </a:r>
            <a:pPr indent="0" marL="0">
              <a:buNone/>
            </a:pPr>
            <a:r>
              <a:rPr lang="en-US" sz="1300" dirty="0">
                <a:solidFill>
                  <a:srgbClr val="FFFFFF"/>
                </a:solidFill>
                <a:latin typeface="Consolas" pitchFamily="34" charset="0"/>
                <a:ea typeface="Consolas" pitchFamily="34" charset="-122"/>
                <a:cs typeface="Consolas" pitchFamily="34" charset="-120"/>
              </a:rPr>
              <a:t>Svelte 기반의 웹 시스템을 만들고 싶어. 클로드 채팅으로 만든 결과물을 여기서 가져올 수 있을까?</a:t>
            </a:r>
            <a:endParaRPr lang="en-US" sz="1300" dirty="0"/>
          </a:p>
          <a:p>
            <a:pPr indent="0" marL="0">
              <a:buNone/>
            </a:pPr>
            <a:r>
              <a:rPr lang="en-US" sz="1300" dirty="0">
                <a:solidFill>
                  <a:srgbClr val="8B99B8"/>
                </a:solidFill>
                <a:latin typeface="Consolas" pitchFamily="34" charset="0"/>
                <a:ea typeface="Consolas" pitchFamily="34" charset="-122"/>
                <a:cs typeface="Consolas" pitchFamily="34" charset="-120"/>
              </a:rPr>
              <a:t># 9/18 14:50, 첫 요청</a:t>
            </a:r>
            <a:endParaRPr lang="en-US" sz="1300" dirty="0"/>
          </a:p>
          <a:p>
            <a:pPr indent="0" marL="0">
              <a:buNone/>
            </a:pPr>
            <a:r>
              <a:rPr lang="en-US" sz="1300" dirty="0">
                <a:solidFill>
                  <a:srgbClr val="5FC792"/>
                </a:solidFill>
                <a:latin typeface="Consolas" pitchFamily="34" charset="0"/>
                <a:ea typeface="Consolas" pitchFamily="34" charset="-122"/>
                <a:cs typeface="Consolas" pitchFamily="34" charset="-120"/>
              </a:rPr>
              <a:t>✓ </a:t>
            </a:r>
            <a:pPr indent="0" marL="0">
              <a:buNone/>
            </a:pPr>
            <a:r>
              <a:rPr lang="en-US" sz="1300" dirty="0">
                <a:solidFill>
                  <a:srgbClr val="FFFFFF"/>
                </a:solidFill>
                <a:latin typeface="Consolas" pitchFamily="34" charset="0"/>
                <a:ea typeface="Consolas" pitchFamily="34" charset="-122"/>
                <a:cs typeface="Consolas" pitchFamily="34" charset="-120"/>
              </a:rPr>
              <a:t>PR #42 merged · 이슈 22개 모두 close · 테스트 프론트 99 / 백엔드 176 통과</a:t>
            </a:r>
            <a:endParaRPr lang="en-US" sz="1300" dirty="0"/>
          </a:p>
          <a:p>
            <a:pPr indent="0" marL="0">
              <a:buNone/>
            </a:pPr>
            <a:r>
              <a:rPr lang="en-US" sz="1300" dirty="0">
                <a:solidFill>
                  <a:srgbClr val="8B99B8"/>
                </a:solidFill>
                <a:latin typeface="Consolas" pitchFamily="34" charset="0"/>
                <a:ea typeface="Consolas" pitchFamily="34" charset="-122"/>
                <a:cs typeface="Consolas" pitchFamily="34" charset="-120"/>
              </a:rPr>
              <a:t># 10/9 20:47, 마지막 머지</a:t>
            </a:r>
            <a:endParaRPr lang="en-US" sz="1300" dirty="0"/>
          </a:p>
        </p:txBody>
      </p:sp>
      <p:sp>
        <p:nvSpPr>
          <p:cNvPr id="6" name="Text 4"/>
          <p:cNvSpPr txBox="1"/>
          <p:nvPr/>
        </p:nvSpPr>
        <p:spPr>
          <a:xfrm>
            <a:off x="548640" y="5806440"/>
            <a:ext cx="11094415" cy="320040"/>
          </a:xfrm>
          <a:prstGeom prst="rect">
            <a:avLst/>
          </a:prstGeom>
          <a:noFill/>
          <a:ln/>
        </p:spPr>
        <p:txBody>
          <a:bodyPr wrap="square" lIns="0" tIns="0" rIns="0" bIns="0" rtlCol="0" anchor="ctr"/>
          <a:lstStyle/>
          <a:p>
            <a:pPr indent="0" marL="0">
              <a:buNone/>
            </a:pPr>
            <a:r>
              <a:rPr lang="en-US" sz="1300" dirty="0">
                <a:solidFill>
                  <a:srgbClr val="C9D4EE"/>
                </a:solidFill>
              </a:rPr>
              <a:t>프로젝트: MPW Plus 2차 개발분   ·   도구: Claude Code + GitHub   ·   방식: 회사에서 태블릿으로 집 PC 원격 접속</a:t>
            </a:r>
            <a:endParaRPr lang="en-US" sz="1300" dirty="0"/>
          </a:p>
        </p:txBody>
      </p:sp>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4EE"/>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320040"/>
          </a:xfrm>
          <a:prstGeom prst="rect">
            <a:avLst/>
          </a:prstGeom>
          <a:noFill/>
          <a:ln/>
        </p:spPr>
        <p:txBody>
          <a:bodyPr wrap="square" lIns="0" tIns="0" rIns="0" bIns="0" rtlCol="0" anchor="ctr"/>
          <a:lstStyle/>
          <a:p>
            <a:pPr indent="0" marL="0">
              <a:buNone/>
            </a:pPr>
            <a:r>
              <a:rPr lang="en-US" sz="1200" dirty="0">
                <a:solidFill>
                  <a:srgbClr val="A4520C"/>
                </a:solidFill>
                <a:latin typeface="Consolas" pitchFamily="34" charset="0"/>
                <a:ea typeface="Consolas" pitchFamily="34" charset="-122"/>
                <a:cs typeface="Consolas" pitchFamily="34" charset="-120"/>
              </a:rPr>
              <a:t>배경</a:t>
            </a:r>
            <a:endParaRPr lang="en-US" sz="1200" dirty="0"/>
          </a:p>
        </p:txBody>
      </p:sp>
      <p:sp>
        <p:nvSpPr>
          <p:cNvPr id="3" name="Text 0"/>
          <p:cNvSpPr/>
          <p:nvPr>
            <p:ph idx="101" type="title" hasCustomPrompt="1"/>
          </p:nvPr>
        </p:nvSpPr>
        <p:spPr>
          <a:xfrm>
            <a:off x="548640" y="658368"/>
            <a:ext cx="11094415" cy="731520"/>
          </a:xfrm>
          <a:prstGeom prst="rect">
            <a:avLst/>
          </a:prstGeom>
          <a:noFill/>
          <a:ln/>
        </p:spPr>
        <p:txBody>
          <a:bodyPr wrap="square" lIns="0" tIns="0" rIns="0" bIns="0" rtlCol="0" anchor="ctr"/>
          <a:lstStyle/>
          <a:p>
            <a:pPr algn="l" indent="0" marL="0">
              <a:buNone/>
            </a:pPr>
            <a:r>
              <a:rPr lang="en-US" sz="3000" b="1" dirty="0">
                <a:solidFill>
                  <a:srgbClr val="18212F"/>
                </a:solidFill>
              </a:rPr>
              <a:t>왜, 어떤 조건에서 했나</a:t>
            </a:r>
            <a:endParaRPr lang="en-US" sz="3000" dirty="0"/>
          </a:p>
        </p:txBody>
      </p:sp>
      <p:sp>
        <p:nvSpPr>
          <p:cNvPr id="4" name="input"/>
          <p:cNvSpPr txBox="1"/>
          <p:nvPr/>
        </p:nvSpPr>
        <p:spPr>
          <a:xfrm>
            <a:off x="548640" y="1600200"/>
            <a:ext cx="5212080" cy="1600200"/>
          </a:xfrm>
          <a:prstGeom prst="roundRect">
            <a:avLst>
              <a:gd name="adj" fmla="val 4571"/>
            </a:avLst>
          </a:prstGeom>
          <a:solidFill>
            <a:srgbClr val="FBEFE2"/>
          </a:solidFill>
          <a:ln>
            <a:solidFill>
              <a:srgbClr val="FBEFE2"/>
            </a:solidFill>
          </a:ln>
        </p:spPr>
        <p:txBody>
          <a:bodyPr wrap="square" lIns="127000" tIns="127000" rIns="127000" bIns="127000" rtlCol="0" anchor="t"/>
          <a:lstStyle/>
          <a:p>
            <a:pPr indent="0" marL="0">
              <a:buNone/>
            </a:pPr>
            <a:r>
              <a:rPr lang="en-US" sz="1100" b="1" dirty="0">
                <a:solidFill>
                  <a:srgbClr val="A4520C"/>
                </a:solidFill>
                <a:latin typeface="Consolas" pitchFamily="34" charset="0"/>
                <a:ea typeface="Consolas" pitchFamily="34" charset="-122"/>
                <a:cs typeface="Consolas" pitchFamily="34" charset="-120"/>
              </a:rPr>
              <a:t>❯ 내가 입력한 것</a:t>
            </a:r>
            <a:endParaRPr lang="en-US" sz="1100" dirty="0"/>
          </a:p>
          <a:p>
            <a:pPr indent="0" marL="0">
              <a:spcBef>
                <a:spcPts val="400"/>
              </a:spcBef>
              <a:buNone/>
            </a:pPr>
            <a:r>
              <a:rPr lang="en-US" sz="1400" dirty="0">
                <a:solidFill>
                  <a:srgbClr val="18212F"/>
                </a:solidFill>
              </a:rPr>
              <a:t>회사에서는 claude에 접속할 수 없어서 지금 태블릿으로 집 PC를 원격접속하고 있거든. 강좌에서는 "/명령어"를 보여주고 command 입력 위주로 교육하는데, 원격접속한 상태에서도 다 따라 할 수 있을까?</a:t>
            </a:r>
            <a:endParaRPr lang="en-US" sz="1100" dirty="0"/>
          </a:p>
        </p:txBody>
      </p:sp>
      <p:sp>
        <p:nvSpPr>
          <p:cNvPr id="5" name="output"/>
          <p:cNvSpPr txBox="1"/>
          <p:nvPr/>
        </p:nvSpPr>
        <p:spPr>
          <a:xfrm>
            <a:off x="548640" y="3337560"/>
            <a:ext cx="5212080" cy="1325880"/>
          </a:xfrm>
          <a:prstGeom prst="roundRect">
            <a:avLst>
              <a:gd name="adj" fmla="val 5517"/>
            </a:avLst>
          </a:prstGeom>
          <a:solidFill>
            <a:srgbClr val="E1F2E8"/>
          </a:solidFill>
          <a:ln>
            <a:solidFill>
              <a:srgbClr val="E1F2E8"/>
            </a:solidFill>
          </a:ln>
        </p:spPr>
        <p:txBody>
          <a:bodyPr wrap="square" lIns="127000" tIns="127000" rIns="127000" bIns="127000" rtlCol="0" anchor="t"/>
          <a:lstStyle/>
          <a:p>
            <a:pPr indent="0" marL="0">
              <a:buNone/>
            </a:pPr>
            <a:r>
              <a:rPr lang="en-US" sz="1100" b="1" dirty="0">
                <a:solidFill>
                  <a:srgbClr val="1D7347"/>
                </a:solidFill>
                <a:latin typeface="Consolas" pitchFamily="34" charset="0"/>
                <a:ea typeface="Consolas" pitchFamily="34" charset="-122"/>
                <a:cs typeface="Consolas" pitchFamily="34" charset="-120"/>
              </a:rPr>
              <a:t>✓ 나온 결과</a:t>
            </a:r>
            <a:endParaRPr lang="en-US" sz="1100" dirty="0"/>
          </a:p>
          <a:p>
            <a:pPr indent="0" marL="0">
              <a:spcBef>
                <a:spcPts val="400"/>
              </a:spcBef>
              <a:buNone/>
            </a:pPr>
            <a:r>
              <a:rPr lang="en-US" sz="1400" dirty="0">
                <a:solidFill>
                  <a:srgbClr val="18212F"/>
                </a:solidFill>
              </a:rPr>
              <a:t>claude --remote-control로 집 PC 세션을 열어 두고 태블릿 앱으로 이어서 지시. 강좌의 슬래시 명령·훅·MCP·서브에이전트를 대부분 그대로 따라 함.</a:t>
            </a:r>
            <a:endParaRPr lang="en-US" sz="11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6035040" y="1600200"/>
          <a:ext cx="5605272" cy="914400"/>
        </p:xfrm>
        <a:graphic>
          <a:graphicData uri="http://schemas.openxmlformats.org/drawingml/2006/table">
            <a:tbl>
              <a:tblPr/>
              <a:tblGrid>
                <a:gridCol w="1188720"/>
                <a:gridCol w="4416552"/>
              </a:tblGrid>
              <a:tr h="0">
                <a:tc>
                  <a:txBody>
                    <a:bodyPr/>
                    <a:lstStyle/>
                    <a:p>
                      <a:pPr indent="0" marL="0">
                        <a:buNone/>
                      </a:pPr>
                      <a:r>
                        <a:rPr lang="en-US" sz="1200" b="1" dirty="0">
                          <a:solidFill>
                            <a:srgbClr val="5B6678"/>
                          </a:solidFill>
                          <a:latin typeface="Malgun Gothic" pitchFamily="34" charset="0"/>
                          <a:ea typeface="Malgun Gothic" pitchFamily="34" charset="-122"/>
                          <a:cs typeface="Malgun Gothic" pitchFamily="34" charset="-120"/>
                        </a:rPr>
                        <a:t>구분</a:t>
                      </a:r>
                      <a:endParaRPr lang="en-US" sz="12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solidFill>
                      <a:srgbClr val="F3F5F8"/>
                    </a:solidFill>
                  </a:tcPr>
                </a:tc>
                <a:tc>
                  <a:txBody>
                    <a:bodyPr/>
                    <a:lstStyle/>
                    <a:p>
                      <a:pPr indent="0" marL="0">
                        <a:buNone/>
                      </a:pPr>
                      <a:r>
                        <a:rPr lang="en-US" sz="1200" b="1" dirty="0">
                          <a:solidFill>
                            <a:srgbClr val="5B6678"/>
                          </a:solidFill>
                          <a:latin typeface="Malgun Gothic" pitchFamily="34" charset="0"/>
                          <a:ea typeface="Malgun Gothic" pitchFamily="34" charset="-122"/>
                          <a:cs typeface="Malgun Gothic" pitchFamily="34" charset="-120"/>
                        </a:rPr>
                        <a:t>내용</a:t>
                      </a:r>
                      <a:endParaRPr lang="en-US" sz="12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solidFill>
                      <a:srgbClr val="F3F5F8"/>
                    </a:solidFill>
                  </a:tcPr>
                </a:tc>
              </a:tr>
              <a:tr h="0">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출발점</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Claude 채팅으로 만든 Requirement.md와 Svelte 페이지 4개 (브라우저 메모리만 쓰는 프로토타입)</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나의 배경</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프론트는 조금, 백엔드·DB는 경험 없음. 학습 목적이라 Claude의 제안을 따르기로 함</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목표</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사내 "MPW Plus" 1차 시스템에 붙일 2차 기능을 완성해 1차 개발자에게 전달</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제약</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회사 PC에서 화면 직접 확인 불가, 토큰 사용량 걱정, 원격이라 서버 창 조작이 어려움</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320040"/>
          </a:xfrm>
          <a:prstGeom prst="rect">
            <a:avLst/>
          </a:prstGeom>
          <a:noFill/>
          <a:ln/>
        </p:spPr>
        <p:txBody>
          <a:bodyPr wrap="square" lIns="0" tIns="0" rIns="0" bIns="0" rtlCol="0" anchor="ctr"/>
          <a:lstStyle/>
          <a:p>
            <a:pPr indent="0" marL="0">
              <a:buNone/>
            </a:pPr>
            <a:r>
              <a:rPr lang="en-US" sz="1200" dirty="0">
                <a:solidFill>
                  <a:srgbClr val="A4520C"/>
                </a:solidFill>
                <a:latin typeface="Consolas" pitchFamily="34" charset="0"/>
                <a:ea typeface="Consolas" pitchFamily="34" charset="-122"/>
                <a:cs typeface="Consolas" pitchFamily="34" charset="-120"/>
              </a:rPr>
              <a:t>풀스택 한 장 지도</a:t>
            </a:r>
            <a:endParaRPr lang="en-US" sz="1200" dirty="0"/>
          </a:p>
        </p:txBody>
      </p:sp>
      <p:sp>
        <p:nvSpPr>
          <p:cNvPr id="3" name="Text 0"/>
          <p:cNvSpPr/>
          <p:nvPr>
            <p:ph idx="101" type="title" hasCustomPrompt="1"/>
          </p:nvPr>
        </p:nvSpPr>
        <p:spPr>
          <a:xfrm>
            <a:off x="548640" y="658368"/>
            <a:ext cx="11094415" cy="731520"/>
          </a:xfrm>
          <a:prstGeom prst="rect">
            <a:avLst/>
          </a:prstGeom>
          <a:noFill/>
          <a:ln/>
        </p:spPr>
        <p:txBody>
          <a:bodyPr wrap="square" lIns="0" tIns="0" rIns="0" bIns="0" rtlCol="0" anchor="ctr"/>
          <a:lstStyle/>
          <a:p>
            <a:pPr algn="l" indent="0" marL="0">
              <a:buNone/>
            </a:pPr>
            <a:r>
              <a:rPr lang="en-US" sz="3000" b="1" dirty="0">
                <a:solidFill>
                  <a:srgbClr val="18212F"/>
                </a:solidFill>
              </a:rPr>
              <a:t>화면에서 DB까지, 각 기술이 맡은 자리</a:t>
            </a:r>
            <a:endParaRPr lang="en-US" sz="3000" dirty="0"/>
          </a:p>
        </p:txBody>
      </p:sp>
      <p:sp>
        <p:nvSpPr>
          <p:cNvPr id="4" name="layer 사용자"/>
          <p:cNvSpPr/>
          <p:nvPr/>
        </p:nvSpPr>
        <p:spPr>
          <a:xfrm>
            <a:off x="548640" y="1600200"/>
            <a:ext cx="6766560" cy="566928"/>
          </a:xfrm>
          <a:prstGeom prst="roundRect">
            <a:avLst>
              <a:gd name="adj" fmla="val 12903"/>
            </a:avLst>
          </a:prstGeom>
          <a:solidFill>
            <a:srgbClr val="F3F5F8"/>
          </a:solidFill>
          <a:ln w="9525">
            <a:solidFill>
              <a:srgbClr val="D8DDE6"/>
            </a:solidFill>
            <a:prstDash val="solid"/>
          </a:ln>
        </p:spPr>
      </p:sp>
      <p:sp>
        <p:nvSpPr>
          <p:cNvPr id="5" name="Text 3"/>
          <p:cNvSpPr txBox="1"/>
          <p:nvPr/>
        </p:nvSpPr>
        <p:spPr>
          <a:xfrm>
            <a:off x="685800" y="1673352"/>
            <a:ext cx="1645920" cy="420624"/>
          </a:xfrm>
          <a:prstGeom prst="rect">
            <a:avLst/>
          </a:prstGeom>
          <a:noFill/>
          <a:ln/>
        </p:spPr>
        <p:txBody>
          <a:bodyPr wrap="square" lIns="0" tIns="0" rIns="0" bIns="0" rtlCol="0" anchor="t"/>
          <a:lstStyle/>
          <a:p>
            <a:pPr indent="0" marL="0">
              <a:buNone/>
            </a:pPr>
            <a:r>
              <a:rPr lang="en-US" sz="1500" b="1" dirty="0">
                <a:solidFill>
                  <a:srgbClr val="18212F"/>
                </a:solidFill>
              </a:rPr>
              <a:t>사용자</a:t>
            </a:r>
            <a:endParaRPr lang="en-US" sz="1500" dirty="0"/>
          </a:p>
          <a:p>
            <a:pPr indent="0" marL="0">
              <a:buNone/>
            </a:pPr>
            <a:r>
              <a:rPr lang="en-US" sz="1100" dirty="0">
                <a:solidFill>
                  <a:srgbClr val="5B6678"/>
                </a:solidFill>
                <a:latin typeface="Consolas" pitchFamily="34" charset="0"/>
                <a:ea typeface="Consolas" pitchFamily="34" charset="-122"/>
                <a:cs typeface="Consolas" pitchFamily="34" charset="-120"/>
              </a:rPr>
              <a:t>브라우저</a:t>
            </a:r>
            <a:endParaRPr lang="en-US" sz="1500" dirty="0"/>
          </a:p>
        </p:txBody>
      </p:sp>
      <p:sp>
        <p:nvSpPr>
          <p:cNvPr id="6" name="Text 4"/>
          <p:cNvSpPr txBox="1"/>
          <p:nvPr/>
        </p:nvSpPr>
        <p:spPr>
          <a:xfrm>
            <a:off x="2377440" y="1673352"/>
            <a:ext cx="4800600" cy="420624"/>
          </a:xfrm>
          <a:prstGeom prst="rect">
            <a:avLst/>
          </a:prstGeom>
          <a:noFill/>
          <a:ln/>
        </p:spPr>
        <p:txBody>
          <a:bodyPr wrap="square" lIns="0" tIns="0" rIns="0" bIns="0" rtlCol="0" anchor="t"/>
          <a:lstStyle/>
          <a:p>
            <a:pPr indent="0" marL="0">
              <a:buNone/>
            </a:pPr>
            <a:r>
              <a:rPr lang="en-US" sz="1300" dirty="0">
                <a:solidFill>
                  <a:srgbClr val="18212F"/>
                </a:solidFill>
              </a:rPr>
              <a:t>Chrome에서 localhost:5173 접속, 로그인 후 화면 사용</a:t>
            </a:r>
            <a:endParaRPr lang="en-US" sz="1300" dirty="0"/>
          </a:p>
        </p:txBody>
      </p:sp>
      <p:sp>
        <p:nvSpPr>
          <p:cNvPr id="7" name="layer 프론트엔드"/>
          <p:cNvSpPr/>
          <p:nvPr/>
        </p:nvSpPr>
        <p:spPr>
          <a:xfrm>
            <a:off x="548640" y="2258568"/>
            <a:ext cx="6766560" cy="868680"/>
          </a:xfrm>
          <a:prstGeom prst="roundRect">
            <a:avLst>
              <a:gd name="adj" fmla="val 8421"/>
            </a:avLst>
          </a:prstGeom>
          <a:solidFill>
            <a:srgbClr val="E4EBFB"/>
          </a:solidFill>
          <a:ln w="9525">
            <a:solidFill>
              <a:srgbClr val="D8DDE6"/>
            </a:solidFill>
            <a:prstDash val="solid"/>
          </a:ln>
        </p:spPr>
      </p:sp>
      <p:sp>
        <p:nvSpPr>
          <p:cNvPr id="8" name="Text 6"/>
          <p:cNvSpPr txBox="1"/>
          <p:nvPr/>
        </p:nvSpPr>
        <p:spPr>
          <a:xfrm>
            <a:off x="685800" y="2331720"/>
            <a:ext cx="1645920" cy="722376"/>
          </a:xfrm>
          <a:prstGeom prst="rect">
            <a:avLst/>
          </a:prstGeom>
          <a:noFill/>
          <a:ln/>
        </p:spPr>
        <p:txBody>
          <a:bodyPr wrap="square" lIns="0" tIns="0" rIns="0" bIns="0" rtlCol="0" anchor="t"/>
          <a:lstStyle/>
          <a:p>
            <a:pPr indent="0" marL="0">
              <a:buNone/>
            </a:pPr>
            <a:r>
              <a:rPr lang="en-US" sz="1500" b="1" dirty="0">
                <a:solidFill>
                  <a:srgbClr val="18212F"/>
                </a:solidFill>
              </a:rPr>
              <a:t>프론트엔드</a:t>
            </a:r>
            <a:endParaRPr lang="en-US" sz="1500" dirty="0"/>
          </a:p>
          <a:p>
            <a:pPr indent="0" marL="0">
              <a:buNone/>
            </a:pPr>
            <a:r>
              <a:rPr lang="en-US" sz="1100" dirty="0">
                <a:solidFill>
                  <a:srgbClr val="5B6678"/>
                </a:solidFill>
                <a:latin typeface="Consolas" pitchFamily="34" charset="0"/>
                <a:ea typeface="Consolas" pitchFamily="34" charset="-122"/>
                <a:cs typeface="Consolas" pitchFamily="34" charset="-120"/>
              </a:rPr>
              <a:t>src/ · 5173</a:t>
            </a:r>
            <a:endParaRPr lang="en-US" sz="1500" dirty="0"/>
          </a:p>
        </p:txBody>
      </p:sp>
      <p:sp>
        <p:nvSpPr>
          <p:cNvPr id="9" name="Text 7"/>
          <p:cNvSpPr txBox="1"/>
          <p:nvPr/>
        </p:nvSpPr>
        <p:spPr>
          <a:xfrm>
            <a:off x="2377440" y="2331720"/>
            <a:ext cx="4800600" cy="722376"/>
          </a:xfrm>
          <a:prstGeom prst="rect">
            <a:avLst/>
          </a:prstGeom>
          <a:noFill/>
          <a:ln/>
        </p:spPr>
        <p:txBody>
          <a:bodyPr wrap="square" lIns="0" tIns="0" rIns="0" bIns="0" rtlCol="0" anchor="t"/>
          <a:lstStyle/>
          <a:p>
            <a:pPr indent="0" marL="0">
              <a:buNone/>
            </a:pPr>
            <a:r>
              <a:rPr lang="en-US" sz="1300" dirty="0">
                <a:solidFill>
                  <a:srgbClr val="18212F"/>
                </a:solidFill>
              </a:rPr>
              <a:t>SvelteKit 화면 → 스토어(공유 상태) → API 클라이언트. 개발 중에는 Vite가 화면을 띄우고 Tailwind로 꾸밈</a:t>
            </a:r>
            <a:endParaRPr lang="en-US" sz="1300" dirty="0"/>
          </a:p>
        </p:txBody>
      </p:sp>
      <p:sp>
        <p:nvSpPr>
          <p:cNvPr id="10" name="Text 8"/>
          <p:cNvSpPr txBox="1"/>
          <p:nvPr/>
        </p:nvSpPr>
        <p:spPr>
          <a:xfrm>
            <a:off x="548640" y="3172968"/>
            <a:ext cx="6766560" cy="274320"/>
          </a:xfrm>
          <a:prstGeom prst="rect">
            <a:avLst/>
          </a:prstGeom>
          <a:noFill/>
          <a:ln/>
        </p:spPr>
        <p:txBody>
          <a:bodyPr wrap="square" lIns="0" tIns="0" rIns="0" bIns="0" rtlCol="0" anchor="ctr"/>
          <a:lstStyle/>
          <a:p>
            <a:pPr algn="ctr" indent="0" marL="0">
              <a:buNone/>
            </a:pPr>
            <a:r>
              <a:rPr lang="en-US" sz="1100" dirty="0">
                <a:solidFill>
                  <a:srgbClr val="5B6678"/>
                </a:solidFill>
                <a:latin typeface="Consolas" pitchFamily="34" charset="0"/>
                <a:ea typeface="Consolas" pitchFamily="34" charset="-122"/>
                <a:cs typeface="Consolas" pitchFamily="34" charset="-120"/>
              </a:rPr>
              <a:t>↓ HTTP 요청 · REST API · JSON     ↑ 응답 · SSE 실시간 알림</a:t>
            </a:r>
            <a:endParaRPr lang="en-US" sz="1100" dirty="0"/>
          </a:p>
        </p:txBody>
      </p:sp>
      <p:sp>
        <p:nvSpPr>
          <p:cNvPr id="11" name="layer 백엔드"/>
          <p:cNvSpPr/>
          <p:nvPr/>
        </p:nvSpPr>
        <p:spPr>
          <a:xfrm>
            <a:off x="548640" y="3474720"/>
            <a:ext cx="6766560" cy="868680"/>
          </a:xfrm>
          <a:prstGeom prst="roundRect">
            <a:avLst>
              <a:gd name="adj" fmla="val 8421"/>
            </a:avLst>
          </a:prstGeom>
          <a:solidFill>
            <a:srgbClr val="FBEFE2"/>
          </a:solidFill>
          <a:ln w="9525">
            <a:solidFill>
              <a:srgbClr val="D8DDE6"/>
            </a:solidFill>
            <a:prstDash val="solid"/>
          </a:ln>
        </p:spPr>
      </p:sp>
      <p:sp>
        <p:nvSpPr>
          <p:cNvPr id="12" name="Text 10"/>
          <p:cNvSpPr txBox="1"/>
          <p:nvPr/>
        </p:nvSpPr>
        <p:spPr>
          <a:xfrm>
            <a:off x="685800" y="3547872"/>
            <a:ext cx="1645920" cy="722376"/>
          </a:xfrm>
          <a:prstGeom prst="rect">
            <a:avLst/>
          </a:prstGeom>
          <a:noFill/>
          <a:ln/>
        </p:spPr>
        <p:txBody>
          <a:bodyPr wrap="square" lIns="0" tIns="0" rIns="0" bIns="0" rtlCol="0" anchor="t"/>
          <a:lstStyle/>
          <a:p>
            <a:pPr indent="0" marL="0">
              <a:buNone/>
            </a:pPr>
            <a:r>
              <a:rPr lang="en-US" sz="1500" b="1" dirty="0">
                <a:solidFill>
                  <a:srgbClr val="18212F"/>
                </a:solidFill>
              </a:rPr>
              <a:t>백엔드</a:t>
            </a:r>
            <a:endParaRPr lang="en-US" sz="1500" dirty="0"/>
          </a:p>
          <a:p>
            <a:pPr indent="0" marL="0">
              <a:buNone/>
            </a:pPr>
            <a:r>
              <a:rPr lang="en-US" sz="1100" dirty="0">
                <a:solidFill>
                  <a:srgbClr val="5B6678"/>
                </a:solidFill>
                <a:latin typeface="Consolas" pitchFamily="34" charset="0"/>
                <a:ea typeface="Consolas" pitchFamily="34" charset="-122"/>
                <a:cs typeface="Consolas" pitchFamily="34" charset="-120"/>
              </a:rPr>
              <a:t>server/ · 3001</a:t>
            </a:r>
            <a:endParaRPr lang="en-US" sz="1500" dirty="0"/>
          </a:p>
        </p:txBody>
      </p:sp>
      <p:sp>
        <p:nvSpPr>
          <p:cNvPr id="13" name="Text 11"/>
          <p:cNvSpPr txBox="1"/>
          <p:nvPr/>
        </p:nvSpPr>
        <p:spPr>
          <a:xfrm>
            <a:off x="2377440" y="3547872"/>
            <a:ext cx="4800600" cy="722376"/>
          </a:xfrm>
          <a:prstGeom prst="rect">
            <a:avLst/>
          </a:prstGeom>
          <a:noFill/>
          <a:ln/>
        </p:spPr>
        <p:txBody>
          <a:bodyPr wrap="square" lIns="0" tIns="0" rIns="0" bIns="0" rtlCol="0" anchor="t"/>
          <a:lstStyle/>
          <a:p>
            <a:pPr indent="0" marL="0">
              <a:buNone/>
            </a:pPr>
            <a:r>
              <a:rPr lang="en-US" sz="1300" dirty="0">
                <a:solidFill>
                  <a:srgbClr val="18212F"/>
                </a:solidFill>
              </a:rPr>
              <a:t>Node.js 위의 Express 서버. 로그인은 Passport와 세션, 업무 규칙(권한·낙관적 잠금)과 엑셀 업로드 처리</a:t>
            </a:r>
            <a:endParaRPr lang="en-US" sz="1300" dirty="0"/>
          </a:p>
        </p:txBody>
      </p:sp>
      <p:sp>
        <p:nvSpPr>
          <p:cNvPr id="14" name="Text 12"/>
          <p:cNvSpPr txBox="1"/>
          <p:nvPr/>
        </p:nvSpPr>
        <p:spPr>
          <a:xfrm>
            <a:off x="548640" y="4389120"/>
            <a:ext cx="6766560" cy="274320"/>
          </a:xfrm>
          <a:prstGeom prst="rect">
            <a:avLst/>
          </a:prstGeom>
          <a:noFill/>
          <a:ln/>
        </p:spPr>
        <p:txBody>
          <a:bodyPr wrap="square" lIns="0" tIns="0" rIns="0" bIns="0" rtlCol="0" anchor="ctr"/>
          <a:lstStyle/>
          <a:p>
            <a:pPr algn="ctr" indent="0" marL="0">
              <a:buNone/>
            </a:pPr>
            <a:r>
              <a:rPr lang="en-US" sz="1100" dirty="0">
                <a:solidFill>
                  <a:srgbClr val="5B6678"/>
                </a:solidFill>
                <a:latin typeface="Consolas" pitchFamily="34" charset="0"/>
                <a:ea typeface="Consolas" pitchFamily="34" charset="-122"/>
                <a:cs typeface="Consolas" pitchFamily="34" charset="-120"/>
              </a:rPr>
              <a:t>↓ Knex가 SQL로 바꿔 전달     ↑ 결과 행</a:t>
            </a:r>
            <a:endParaRPr lang="en-US" sz="1100" dirty="0"/>
          </a:p>
        </p:txBody>
      </p:sp>
      <p:sp>
        <p:nvSpPr>
          <p:cNvPr id="15" name="layer 데이터베이스"/>
          <p:cNvSpPr/>
          <p:nvPr/>
        </p:nvSpPr>
        <p:spPr>
          <a:xfrm>
            <a:off x="548640" y="4690872"/>
            <a:ext cx="6766560" cy="868680"/>
          </a:xfrm>
          <a:prstGeom prst="roundRect">
            <a:avLst>
              <a:gd name="adj" fmla="val 8421"/>
            </a:avLst>
          </a:prstGeom>
          <a:solidFill>
            <a:srgbClr val="E1F2E8"/>
          </a:solidFill>
          <a:ln w="9525">
            <a:solidFill>
              <a:srgbClr val="D8DDE6"/>
            </a:solidFill>
            <a:prstDash val="solid"/>
          </a:ln>
        </p:spPr>
      </p:sp>
      <p:sp>
        <p:nvSpPr>
          <p:cNvPr id="16" name="Text 14"/>
          <p:cNvSpPr txBox="1"/>
          <p:nvPr/>
        </p:nvSpPr>
        <p:spPr>
          <a:xfrm>
            <a:off x="685800" y="4764024"/>
            <a:ext cx="1645920" cy="722376"/>
          </a:xfrm>
          <a:prstGeom prst="rect">
            <a:avLst/>
          </a:prstGeom>
          <a:noFill/>
          <a:ln/>
        </p:spPr>
        <p:txBody>
          <a:bodyPr wrap="square" lIns="0" tIns="0" rIns="0" bIns="0" rtlCol="0" anchor="t"/>
          <a:lstStyle/>
          <a:p>
            <a:pPr indent="0" marL="0">
              <a:buNone/>
            </a:pPr>
            <a:r>
              <a:rPr lang="en-US" sz="1500" b="1" dirty="0">
                <a:solidFill>
                  <a:srgbClr val="18212F"/>
                </a:solidFill>
              </a:rPr>
              <a:t>데이터베이스</a:t>
            </a:r>
            <a:endParaRPr lang="en-US" sz="1500" dirty="0"/>
          </a:p>
          <a:p>
            <a:pPr indent="0" marL="0">
              <a:buNone/>
            </a:pPr>
            <a:r>
              <a:rPr lang="en-US" sz="1100" dirty="0">
                <a:solidFill>
                  <a:srgbClr val="5B6678"/>
                </a:solidFill>
                <a:latin typeface="Consolas" pitchFamily="34" charset="0"/>
                <a:ea typeface="Consolas" pitchFamily="34" charset="-122"/>
                <a:cs typeface="Consolas" pitchFamily="34" charset="-120"/>
              </a:rPr>
              <a:t>PostgreSQL</a:t>
            </a:r>
            <a:endParaRPr lang="en-US" sz="1500" dirty="0"/>
          </a:p>
        </p:txBody>
      </p:sp>
      <p:sp>
        <p:nvSpPr>
          <p:cNvPr id="17" name="Text 15"/>
          <p:cNvSpPr txBox="1"/>
          <p:nvPr/>
        </p:nvSpPr>
        <p:spPr>
          <a:xfrm>
            <a:off x="2377440" y="4764024"/>
            <a:ext cx="4800600" cy="722376"/>
          </a:xfrm>
          <a:prstGeom prst="rect">
            <a:avLst/>
          </a:prstGeom>
          <a:noFill/>
          <a:ln/>
        </p:spPr>
        <p:txBody>
          <a:bodyPr wrap="square" lIns="0" tIns="0" rIns="0" bIns="0" rtlCol="0" anchor="t"/>
          <a:lstStyle/>
          <a:p>
            <a:pPr indent="0" marL="0">
              <a:buNone/>
            </a:pPr>
            <a:r>
              <a:rPr lang="en-US" sz="1300" dirty="0">
                <a:solidFill>
                  <a:srgbClr val="18212F"/>
                </a:solidFill>
              </a:rPr>
              <a:t>테이블 4개(사용자, Deliverables, 임가공, Master). 구조는 마이그레이션, 기본 데이터는 시드. 업로드 엑셀은 server/uploads 폴더</a:t>
            </a:r>
            <a:endParaRPr lang="en-US" sz="1300" dirty="0"/>
          </a:p>
        </p:txBody>
      </p:sp>
      <p:sp>
        <p:nvSpPr>
          <p:cNvPr id="18" name="Text 16"/>
          <p:cNvSpPr txBox="1"/>
          <p:nvPr/>
        </p:nvSpPr>
        <p:spPr>
          <a:xfrm>
            <a:off x="7635240" y="1600200"/>
            <a:ext cx="4007815" cy="1051560"/>
          </a:xfrm>
          <a:prstGeom prst="rect">
            <a:avLst/>
          </a:prstGeom>
          <a:noFill/>
          <a:ln w="9525">
            <a:solidFill>
              <a:srgbClr val="D8DDE6"/>
            </a:solidFill>
            <a:prstDash val="dash"/>
          </a:ln>
        </p:spPr>
        <p:txBody>
          <a:bodyPr wrap="square" lIns="101600" tIns="101600" rIns="101600" bIns="101600" rtlCol="0" anchor="t"/>
          <a:lstStyle/>
          <a:p>
            <a:pPr indent="0" marL="0">
              <a:buNone/>
            </a:pPr>
            <a:r>
              <a:rPr lang="en-US" sz="1300" b="1" dirty="0">
                <a:solidFill>
                  <a:srgbClr val="18212F"/>
                </a:solidFill>
              </a:rPr>
              <a:t>설계 문서 (먼저 만든 것)</a:t>
            </a:r>
            <a:endParaRPr lang="en-US" sz="1300" dirty="0"/>
          </a:p>
          <a:p>
            <a:pPr indent="0" marL="0">
              <a:buNone/>
            </a:pPr>
            <a:r>
              <a:rPr lang="en-US" sz="1200" dirty="0">
                <a:solidFill>
                  <a:srgbClr val="18212F"/>
                </a:solidFill>
              </a:rPr>
              <a:t>도메인정의서 → PRD → 사용자 시나리오 → 아키텍처 → ERD → DDL → 실행계획 → 와이어프레임 → Swagger</a:t>
            </a:r>
            <a:endParaRPr lang="en-US" sz="1300" dirty="0"/>
          </a:p>
        </p:txBody>
      </p:sp>
      <p:sp>
        <p:nvSpPr>
          <p:cNvPr id="19" name="Text 17"/>
          <p:cNvSpPr txBox="1"/>
          <p:nvPr/>
        </p:nvSpPr>
        <p:spPr>
          <a:xfrm>
            <a:off x="7635240" y="2743200"/>
            <a:ext cx="4007815" cy="868680"/>
          </a:xfrm>
          <a:prstGeom prst="rect">
            <a:avLst/>
          </a:prstGeom>
          <a:noFill/>
          <a:ln w="9525">
            <a:solidFill>
              <a:srgbClr val="D8DDE6"/>
            </a:solidFill>
            <a:prstDash val="dash"/>
          </a:ln>
        </p:spPr>
        <p:txBody>
          <a:bodyPr wrap="square" lIns="101600" tIns="101600" rIns="101600" bIns="101600" rtlCol="0" anchor="t"/>
          <a:lstStyle/>
          <a:p>
            <a:pPr indent="0" marL="0">
              <a:buNone/>
            </a:pPr>
            <a:r>
              <a:rPr lang="en-US" sz="1300" b="1" dirty="0">
                <a:solidFill>
                  <a:srgbClr val="18212F"/>
                </a:solidFill>
              </a:rPr>
              <a:t>개발을 도운 도구</a:t>
            </a:r>
            <a:endParaRPr lang="en-US" sz="1300" dirty="0"/>
          </a:p>
          <a:p>
            <a:pPr indent="0" marL="0">
              <a:buNone/>
            </a:pPr>
            <a:r>
              <a:rPr lang="en-US" sz="1200" dirty="0">
                <a:solidFill>
                  <a:srgbClr val="18212F"/>
                </a:solidFill>
              </a:rPr>
              <a:t>Claude Code, CLAUDE.md, 서브에이전트, MCP, 커스텀 명령, GitHub(이슈 → 브랜치 → PR → 머지)</a:t>
            </a:r>
            <a:endParaRPr lang="en-US" sz="13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7635240" y="3749040"/>
          <a:ext cx="4007815" cy="914400"/>
        </p:xfrm>
        <a:graphic>
          <a:graphicData uri="http://schemas.openxmlformats.org/drawingml/2006/table">
            <a:tbl>
              <a:tblPr/>
              <a:tblGrid>
                <a:gridCol w="1828800"/>
                <a:gridCol w="2179015"/>
              </a:tblGrid>
              <a:tr h="0">
                <a:tc>
                  <a:txBody>
                    <a:bodyPr/>
                    <a:lstStyle/>
                    <a:p>
                      <a:pPr indent="0" marL="0">
                        <a:buNone/>
                      </a:pPr>
                      <a:r>
                        <a:rPr lang="en-US" sz="1100" b="1" dirty="0">
                          <a:solidFill>
                            <a:srgbClr val="5B6678"/>
                          </a:solidFill>
                          <a:latin typeface="Malgun Gothic" pitchFamily="34" charset="0"/>
                          <a:ea typeface="Malgun Gothic" pitchFamily="34" charset="-122"/>
                          <a:cs typeface="Malgun Gothic" pitchFamily="34" charset="-120"/>
                        </a:rPr>
                        <a:t>식당으로 비유하면</a:t>
                      </a:r>
                      <a:endParaRPr lang="en-US" sz="11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solidFill>
                      <a:srgbClr val="F3F5F8"/>
                    </a:solidFill>
                  </a:tcPr>
                </a:tc>
                <a:tc>
                  <a:txBody>
                    <a:bodyPr/>
                    <a:lstStyle/>
                    <a:p>
                      <a:pPr indent="0" marL="0">
                        <a:buNone/>
                      </a:pPr>
                      <a:endParaRPr lang="en-US" sz="11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solidFill>
                      <a:srgbClr val="F3F5F8"/>
                    </a:solidFill>
                  </a:tcPr>
                </a:tc>
              </a:tr>
              <a:tr h="0">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프론트엔드</a:t>
                      </a:r>
                      <a:endParaRPr lang="en-US" sz="12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손님이 보는 홀과 메뉴판</a:t>
                      </a:r>
                      <a:endParaRPr lang="en-US" sz="12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API · Swagger</a:t>
                      </a:r>
                      <a:endParaRPr lang="en-US" sz="12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주문서 양식과 그 설명서</a:t>
                      </a:r>
                      <a:endParaRPr lang="en-US" sz="12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백엔드 · Express</a:t>
                      </a:r>
                      <a:endParaRPr lang="en-US" sz="12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주방과 일하는 순서</a:t>
                      </a:r>
                      <a:endParaRPr lang="en-US" sz="12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Knex · PostgreSQL</a:t>
                      </a:r>
                      <a:endParaRPr lang="en-US" sz="12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창고 담당자와 창고</a:t>
                      </a:r>
                      <a:endParaRPr lang="en-US" sz="12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ERD · 마이그레이션</a:t>
                      </a:r>
                      <a:endParaRPr lang="en-US" sz="12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창고 설계도와 변경 기록</a:t>
                      </a:r>
                      <a:endParaRPr lang="en-US" sz="12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320040"/>
          </a:xfrm>
          <a:prstGeom prst="rect">
            <a:avLst/>
          </a:prstGeom>
          <a:noFill/>
          <a:ln/>
        </p:spPr>
        <p:txBody>
          <a:bodyPr wrap="square" lIns="0" tIns="0" rIns="0" bIns="0" rtlCol="0" anchor="ctr"/>
          <a:lstStyle/>
          <a:p>
            <a:pPr indent="0" marL="0">
              <a:buNone/>
            </a:pPr>
            <a:r>
              <a:rPr lang="en-US" sz="1200" dirty="0">
                <a:solidFill>
                  <a:srgbClr val="A4520C"/>
                </a:solidFill>
                <a:latin typeface="Consolas" pitchFamily="34" charset="0"/>
                <a:ea typeface="Consolas" pitchFamily="34" charset="-122"/>
                <a:cs typeface="Consolas" pitchFamily="34" charset="-120"/>
              </a:rPr>
              <a:t>한눈에</a:t>
            </a:r>
            <a:endParaRPr lang="en-US" sz="1200" dirty="0"/>
          </a:p>
        </p:txBody>
      </p:sp>
      <p:sp>
        <p:nvSpPr>
          <p:cNvPr id="3" name="Text 0"/>
          <p:cNvSpPr/>
          <p:nvPr>
            <p:ph idx="101" type="title" hasCustomPrompt="1"/>
          </p:nvPr>
        </p:nvSpPr>
        <p:spPr>
          <a:xfrm>
            <a:off x="548640" y="658368"/>
            <a:ext cx="11094415" cy="731520"/>
          </a:xfrm>
          <a:prstGeom prst="rect">
            <a:avLst/>
          </a:prstGeom>
          <a:noFill/>
          <a:ln/>
        </p:spPr>
        <p:txBody>
          <a:bodyPr wrap="square" lIns="0" tIns="0" rIns="0" bIns="0" rtlCol="0" anchor="ctr"/>
          <a:lstStyle/>
          <a:p>
            <a:pPr algn="l" indent="0" marL="0">
              <a:buNone/>
            </a:pPr>
            <a:r>
              <a:rPr lang="en-US" sz="3000" b="1" dirty="0">
                <a:solidFill>
                  <a:srgbClr val="18212F"/>
                </a:solidFill>
              </a:rPr>
              <a:t>22일 동안 나온 것</a:t>
            </a:r>
            <a:endParaRPr lang="en-US" sz="3000" dirty="0"/>
          </a:p>
        </p:txBody>
      </p:sp>
      <p:sp>
        <p:nvSpPr>
          <p:cNvPr id="4" name="stat 180"/>
          <p:cNvSpPr/>
          <p:nvPr/>
        </p:nvSpPr>
        <p:spPr>
          <a:xfrm>
            <a:off x="548640" y="1600200"/>
            <a:ext cx="2567864" cy="1965960"/>
          </a:xfrm>
          <a:prstGeom prst="roundRect">
            <a:avLst>
              <a:gd name="adj" fmla="val 3721"/>
            </a:avLst>
          </a:prstGeom>
          <a:solidFill>
            <a:srgbClr val="F3F5F8"/>
          </a:solidFill>
          <a:ln w="9525">
            <a:solidFill>
              <a:srgbClr val="D8DDE6"/>
            </a:solidFill>
            <a:prstDash val="solid"/>
          </a:ln>
        </p:spPr>
      </p:sp>
      <p:sp>
        <p:nvSpPr>
          <p:cNvPr id="5" name="Text 3"/>
          <p:cNvSpPr txBox="1"/>
          <p:nvPr/>
        </p:nvSpPr>
        <p:spPr>
          <a:xfrm>
            <a:off x="731520" y="1828800"/>
            <a:ext cx="2202104" cy="868680"/>
          </a:xfrm>
          <a:prstGeom prst="rect">
            <a:avLst/>
          </a:prstGeom>
          <a:noFill/>
          <a:ln/>
        </p:spPr>
        <p:txBody>
          <a:bodyPr wrap="square" lIns="0" tIns="0" rIns="0" bIns="0" rtlCol="0" anchor="ctr"/>
          <a:lstStyle/>
          <a:p>
            <a:pPr indent="0" marL="0">
              <a:buNone/>
            </a:pPr>
            <a:r>
              <a:rPr lang="en-US" sz="4400" b="1" dirty="0">
                <a:solidFill>
                  <a:srgbClr val="A4520C"/>
                </a:solidFill>
              </a:rPr>
              <a:t>180</a:t>
            </a:r>
            <a:endParaRPr lang="en-US" sz="4400" dirty="0"/>
          </a:p>
        </p:txBody>
      </p:sp>
      <p:sp>
        <p:nvSpPr>
          <p:cNvPr id="6" name="Text 4"/>
          <p:cNvSpPr txBox="1"/>
          <p:nvPr/>
        </p:nvSpPr>
        <p:spPr>
          <a:xfrm>
            <a:off x="731520" y="2743200"/>
            <a:ext cx="2202104" cy="685800"/>
          </a:xfrm>
          <a:prstGeom prst="rect">
            <a:avLst/>
          </a:prstGeom>
          <a:noFill/>
          <a:ln/>
        </p:spPr>
        <p:txBody>
          <a:bodyPr wrap="square" lIns="0" tIns="0" rIns="0" bIns="0" rtlCol="0" anchor="t"/>
          <a:lstStyle/>
          <a:p>
            <a:pPr indent="0" marL="0">
              <a:buNone/>
            </a:pPr>
            <a:r>
              <a:rPr lang="en-US" sz="1300" dirty="0">
                <a:solidFill>
                  <a:srgbClr val="5B6678"/>
                </a:solidFill>
              </a:rPr>
              <a:t>의미 있는 요청 (대화 세션 21개)</a:t>
            </a:r>
            <a:endParaRPr lang="en-US" sz="1300" dirty="0"/>
          </a:p>
        </p:txBody>
      </p:sp>
      <p:sp>
        <p:nvSpPr>
          <p:cNvPr id="7" name="stat 54"/>
          <p:cNvSpPr/>
          <p:nvPr/>
        </p:nvSpPr>
        <p:spPr>
          <a:xfrm>
            <a:off x="3390824" y="1600200"/>
            <a:ext cx="2567864" cy="1965960"/>
          </a:xfrm>
          <a:prstGeom prst="roundRect">
            <a:avLst>
              <a:gd name="adj" fmla="val 3721"/>
            </a:avLst>
          </a:prstGeom>
          <a:solidFill>
            <a:srgbClr val="F3F5F8"/>
          </a:solidFill>
          <a:ln w="9525">
            <a:solidFill>
              <a:srgbClr val="D8DDE6"/>
            </a:solidFill>
            <a:prstDash val="solid"/>
          </a:ln>
        </p:spPr>
      </p:sp>
      <p:sp>
        <p:nvSpPr>
          <p:cNvPr id="8" name="Text 6"/>
          <p:cNvSpPr txBox="1"/>
          <p:nvPr/>
        </p:nvSpPr>
        <p:spPr>
          <a:xfrm>
            <a:off x="3573704" y="1828800"/>
            <a:ext cx="2202104" cy="868680"/>
          </a:xfrm>
          <a:prstGeom prst="rect">
            <a:avLst/>
          </a:prstGeom>
          <a:noFill/>
          <a:ln/>
        </p:spPr>
        <p:txBody>
          <a:bodyPr wrap="square" lIns="0" tIns="0" rIns="0" bIns="0" rtlCol="0" anchor="ctr"/>
          <a:lstStyle/>
          <a:p>
            <a:pPr indent="0" marL="0">
              <a:buNone/>
            </a:pPr>
            <a:r>
              <a:rPr lang="en-US" sz="4400" b="1" dirty="0">
                <a:solidFill>
                  <a:srgbClr val="2B55C9"/>
                </a:solidFill>
              </a:rPr>
              <a:t>54</a:t>
            </a:r>
            <a:endParaRPr lang="en-US" sz="4400" dirty="0"/>
          </a:p>
        </p:txBody>
      </p:sp>
      <p:sp>
        <p:nvSpPr>
          <p:cNvPr id="9" name="Text 7"/>
          <p:cNvSpPr txBox="1"/>
          <p:nvPr/>
        </p:nvSpPr>
        <p:spPr>
          <a:xfrm>
            <a:off x="3573704" y="2743200"/>
            <a:ext cx="2202104" cy="685800"/>
          </a:xfrm>
          <a:prstGeom prst="rect">
            <a:avLst/>
          </a:prstGeom>
          <a:noFill/>
          <a:ln/>
        </p:spPr>
        <p:txBody>
          <a:bodyPr wrap="square" lIns="0" tIns="0" rIns="0" bIns="0" rtlCol="0" anchor="t"/>
          <a:lstStyle/>
          <a:p>
            <a:pPr indent="0" marL="0">
              <a:buNone/>
            </a:pPr>
            <a:r>
              <a:rPr lang="en-US" sz="1300" dirty="0">
                <a:solidFill>
                  <a:srgbClr val="5B6678"/>
                </a:solidFill>
              </a:rPr>
              <a:t>커밋 (머지 커밋 제외)</a:t>
            </a:r>
            <a:endParaRPr lang="en-US" sz="1300" dirty="0"/>
          </a:p>
        </p:txBody>
      </p:sp>
      <p:sp>
        <p:nvSpPr>
          <p:cNvPr id="10" name="stat 22"/>
          <p:cNvSpPr/>
          <p:nvPr/>
        </p:nvSpPr>
        <p:spPr>
          <a:xfrm>
            <a:off x="6233008" y="1600200"/>
            <a:ext cx="2567864" cy="1965960"/>
          </a:xfrm>
          <a:prstGeom prst="roundRect">
            <a:avLst>
              <a:gd name="adj" fmla="val 3721"/>
            </a:avLst>
          </a:prstGeom>
          <a:solidFill>
            <a:srgbClr val="F3F5F8"/>
          </a:solidFill>
          <a:ln w="9525">
            <a:solidFill>
              <a:srgbClr val="D8DDE6"/>
            </a:solidFill>
            <a:prstDash val="solid"/>
          </a:ln>
        </p:spPr>
      </p:sp>
      <p:sp>
        <p:nvSpPr>
          <p:cNvPr id="11" name="Text 9"/>
          <p:cNvSpPr txBox="1"/>
          <p:nvPr/>
        </p:nvSpPr>
        <p:spPr>
          <a:xfrm>
            <a:off x="6415888" y="1828800"/>
            <a:ext cx="2202104" cy="868680"/>
          </a:xfrm>
          <a:prstGeom prst="rect">
            <a:avLst/>
          </a:prstGeom>
          <a:noFill/>
          <a:ln/>
        </p:spPr>
        <p:txBody>
          <a:bodyPr wrap="square" lIns="0" tIns="0" rIns="0" bIns="0" rtlCol="0" anchor="ctr"/>
          <a:lstStyle/>
          <a:p>
            <a:pPr indent="0" marL="0">
              <a:buNone/>
            </a:pPr>
            <a:r>
              <a:rPr lang="en-US" sz="4400" b="1" dirty="0">
                <a:solidFill>
                  <a:srgbClr val="2B55C9"/>
                </a:solidFill>
              </a:rPr>
              <a:t>22</a:t>
            </a:r>
            <a:endParaRPr lang="en-US" sz="4400" dirty="0"/>
          </a:p>
        </p:txBody>
      </p:sp>
      <p:sp>
        <p:nvSpPr>
          <p:cNvPr id="12" name="Text 10"/>
          <p:cNvSpPr txBox="1"/>
          <p:nvPr/>
        </p:nvSpPr>
        <p:spPr>
          <a:xfrm>
            <a:off x="6415888" y="2743200"/>
            <a:ext cx="2202104" cy="685800"/>
          </a:xfrm>
          <a:prstGeom prst="rect">
            <a:avLst/>
          </a:prstGeom>
          <a:noFill/>
          <a:ln/>
        </p:spPr>
        <p:txBody>
          <a:bodyPr wrap="square" lIns="0" tIns="0" rIns="0" bIns="0" rtlCol="0" anchor="t"/>
          <a:lstStyle/>
          <a:p>
            <a:pPr indent="0" marL="0">
              <a:buNone/>
            </a:pPr>
            <a:r>
              <a:rPr lang="en-US" sz="1300" dirty="0">
                <a:solidFill>
                  <a:srgbClr val="5B6678"/>
                </a:solidFill>
              </a:rPr>
              <a:t>GitHub 이슈 (계획 19 + 점검 발견 3)</a:t>
            </a:r>
            <a:endParaRPr lang="en-US" sz="1300" dirty="0"/>
          </a:p>
        </p:txBody>
      </p:sp>
      <p:sp>
        <p:nvSpPr>
          <p:cNvPr id="13" name="stat 20"/>
          <p:cNvSpPr/>
          <p:nvPr/>
        </p:nvSpPr>
        <p:spPr>
          <a:xfrm>
            <a:off x="9075191" y="1600200"/>
            <a:ext cx="2567864" cy="1965960"/>
          </a:xfrm>
          <a:prstGeom prst="roundRect">
            <a:avLst>
              <a:gd name="adj" fmla="val 3721"/>
            </a:avLst>
          </a:prstGeom>
          <a:solidFill>
            <a:srgbClr val="F3F5F8"/>
          </a:solidFill>
          <a:ln w="9525">
            <a:solidFill>
              <a:srgbClr val="D8DDE6"/>
            </a:solidFill>
            <a:prstDash val="solid"/>
          </a:ln>
        </p:spPr>
      </p:sp>
      <p:sp>
        <p:nvSpPr>
          <p:cNvPr id="14" name="Text 12"/>
          <p:cNvSpPr txBox="1"/>
          <p:nvPr/>
        </p:nvSpPr>
        <p:spPr>
          <a:xfrm>
            <a:off x="9258071" y="1828800"/>
            <a:ext cx="2202104" cy="868680"/>
          </a:xfrm>
          <a:prstGeom prst="rect">
            <a:avLst/>
          </a:prstGeom>
          <a:noFill/>
          <a:ln/>
        </p:spPr>
        <p:txBody>
          <a:bodyPr wrap="square" lIns="0" tIns="0" rIns="0" bIns="0" rtlCol="0" anchor="ctr"/>
          <a:lstStyle/>
          <a:p>
            <a:pPr indent="0" marL="0">
              <a:buNone/>
            </a:pPr>
            <a:r>
              <a:rPr lang="en-US" sz="4400" b="1" dirty="0">
                <a:solidFill>
                  <a:srgbClr val="2B55C9"/>
                </a:solidFill>
              </a:rPr>
              <a:t>20</a:t>
            </a:r>
            <a:endParaRPr lang="en-US" sz="4400" dirty="0"/>
          </a:p>
        </p:txBody>
      </p:sp>
      <p:sp>
        <p:nvSpPr>
          <p:cNvPr id="15" name="Text 13"/>
          <p:cNvSpPr txBox="1"/>
          <p:nvPr/>
        </p:nvSpPr>
        <p:spPr>
          <a:xfrm>
            <a:off x="9258071" y="2743200"/>
            <a:ext cx="2202104" cy="685800"/>
          </a:xfrm>
          <a:prstGeom prst="rect">
            <a:avLst/>
          </a:prstGeom>
          <a:noFill/>
          <a:ln/>
        </p:spPr>
        <p:txBody>
          <a:bodyPr wrap="square" lIns="0" tIns="0" rIns="0" bIns="0" rtlCol="0" anchor="t"/>
          <a:lstStyle/>
          <a:p>
            <a:pPr indent="0" marL="0">
              <a:buNone/>
            </a:pPr>
            <a:r>
              <a:rPr lang="en-US" sz="1300" dirty="0">
                <a:solidFill>
                  <a:srgbClr val="5B6678"/>
                </a:solidFill>
              </a:rPr>
              <a:t>PR, 전부 main에 머지</a:t>
            </a:r>
            <a:endParaRPr lang="en-US" sz="1300" dirty="0"/>
          </a:p>
        </p:txBody>
      </p:sp>
      <p:sp>
        <p:nvSpPr>
          <p:cNvPr id="16" name="stat 8"/>
          <p:cNvSpPr/>
          <p:nvPr/>
        </p:nvSpPr>
        <p:spPr>
          <a:xfrm>
            <a:off x="548640" y="3840480"/>
            <a:ext cx="2567864" cy="1965960"/>
          </a:xfrm>
          <a:prstGeom prst="roundRect">
            <a:avLst>
              <a:gd name="adj" fmla="val 3721"/>
            </a:avLst>
          </a:prstGeom>
          <a:solidFill>
            <a:srgbClr val="F3F5F8"/>
          </a:solidFill>
          <a:ln w="9525">
            <a:solidFill>
              <a:srgbClr val="D8DDE6"/>
            </a:solidFill>
            <a:prstDash val="solid"/>
          </a:ln>
        </p:spPr>
      </p:sp>
      <p:sp>
        <p:nvSpPr>
          <p:cNvPr id="17" name="Text 15"/>
          <p:cNvSpPr txBox="1"/>
          <p:nvPr/>
        </p:nvSpPr>
        <p:spPr>
          <a:xfrm>
            <a:off x="731520" y="4069080"/>
            <a:ext cx="2202104" cy="868680"/>
          </a:xfrm>
          <a:prstGeom prst="rect">
            <a:avLst/>
          </a:prstGeom>
          <a:noFill/>
          <a:ln/>
        </p:spPr>
        <p:txBody>
          <a:bodyPr wrap="square" lIns="0" tIns="0" rIns="0" bIns="0" rtlCol="0" anchor="ctr"/>
          <a:lstStyle/>
          <a:p>
            <a:pPr indent="0" marL="0">
              <a:buNone/>
            </a:pPr>
            <a:r>
              <a:rPr lang="en-US" sz="4400" b="1" dirty="0">
                <a:solidFill>
                  <a:srgbClr val="A4520C"/>
                </a:solidFill>
              </a:rPr>
              <a:t>8</a:t>
            </a:r>
            <a:endParaRPr lang="en-US" sz="4400" dirty="0"/>
          </a:p>
        </p:txBody>
      </p:sp>
      <p:sp>
        <p:nvSpPr>
          <p:cNvPr id="18" name="Text 16"/>
          <p:cNvSpPr txBox="1"/>
          <p:nvPr/>
        </p:nvSpPr>
        <p:spPr>
          <a:xfrm>
            <a:off x="731520" y="4983480"/>
            <a:ext cx="2202104" cy="685800"/>
          </a:xfrm>
          <a:prstGeom prst="rect">
            <a:avLst/>
          </a:prstGeom>
          <a:noFill/>
          <a:ln/>
        </p:spPr>
        <p:txBody>
          <a:bodyPr wrap="square" lIns="0" tIns="0" rIns="0" bIns="0" rtlCol="0" anchor="t"/>
          <a:lstStyle/>
          <a:p>
            <a:pPr indent="0" marL="0">
              <a:buNone/>
            </a:pPr>
            <a:r>
              <a:rPr lang="en-US" sz="1300" dirty="0">
                <a:solidFill>
                  <a:srgbClr val="5B6678"/>
                </a:solidFill>
              </a:rPr>
              <a:t>설계 문서 + Swagger 스펙 + DDL</a:t>
            </a:r>
            <a:endParaRPr lang="en-US" sz="1300" dirty="0"/>
          </a:p>
        </p:txBody>
      </p:sp>
      <p:sp>
        <p:nvSpPr>
          <p:cNvPr id="19" name="stat 6,000"/>
          <p:cNvSpPr/>
          <p:nvPr/>
        </p:nvSpPr>
        <p:spPr>
          <a:xfrm>
            <a:off x="3390824" y="3840480"/>
            <a:ext cx="2567864" cy="1965960"/>
          </a:xfrm>
          <a:prstGeom prst="roundRect">
            <a:avLst>
              <a:gd name="adj" fmla="val 3721"/>
            </a:avLst>
          </a:prstGeom>
          <a:solidFill>
            <a:srgbClr val="F3F5F8"/>
          </a:solidFill>
          <a:ln w="9525">
            <a:solidFill>
              <a:srgbClr val="D8DDE6"/>
            </a:solidFill>
            <a:prstDash val="solid"/>
          </a:ln>
        </p:spPr>
      </p:sp>
      <p:sp>
        <p:nvSpPr>
          <p:cNvPr id="20" name="Text 18"/>
          <p:cNvSpPr txBox="1"/>
          <p:nvPr/>
        </p:nvSpPr>
        <p:spPr>
          <a:xfrm>
            <a:off x="3573704" y="4069080"/>
            <a:ext cx="2202104" cy="868680"/>
          </a:xfrm>
          <a:prstGeom prst="rect">
            <a:avLst/>
          </a:prstGeom>
          <a:noFill/>
          <a:ln/>
        </p:spPr>
        <p:txBody>
          <a:bodyPr wrap="square" lIns="0" tIns="0" rIns="0" bIns="0" rtlCol="0" anchor="ctr"/>
          <a:lstStyle/>
          <a:p>
            <a:pPr indent="0" marL="0">
              <a:buNone/>
            </a:pPr>
            <a:r>
              <a:rPr lang="en-US" sz="4400" b="1" dirty="0">
                <a:solidFill>
                  <a:srgbClr val="2B55C9"/>
                </a:solidFill>
              </a:rPr>
              <a:t>6,000</a:t>
            </a:r>
            <a:endParaRPr lang="en-US" sz="4400" dirty="0"/>
          </a:p>
        </p:txBody>
      </p:sp>
      <p:sp>
        <p:nvSpPr>
          <p:cNvPr id="21" name="Text 19"/>
          <p:cNvSpPr txBox="1"/>
          <p:nvPr/>
        </p:nvSpPr>
        <p:spPr>
          <a:xfrm>
            <a:off x="3573704" y="4983480"/>
            <a:ext cx="2202104" cy="685800"/>
          </a:xfrm>
          <a:prstGeom prst="rect">
            <a:avLst/>
          </a:prstGeom>
          <a:noFill/>
          <a:ln/>
        </p:spPr>
        <p:txBody>
          <a:bodyPr wrap="square" lIns="0" tIns="0" rIns="0" bIns="0" rtlCol="0" anchor="t"/>
          <a:lstStyle/>
          <a:p>
            <a:pPr indent="0" marL="0">
              <a:buNone/>
            </a:pPr>
            <a:r>
              <a:rPr lang="en-US" sz="1300" dirty="0">
                <a:solidFill>
                  <a:srgbClr val="5B6678"/>
                </a:solidFill>
              </a:rPr>
              <a:t>앱 코드 줄 수 (프론트 4.4천 · 백엔드 1.6천)</a:t>
            </a:r>
            <a:endParaRPr lang="en-US" sz="1300" dirty="0"/>
          </a:p>
        </p:txBody>
      </p:sp>
      <p:sp>
        <p:nvSpPr>
          <p:cNvPr id="22" name="stat 275"/>
          <p:cNvSpPr/>
          <p:nvPr/>
        </p:nvSpPr>
        <p:spPr>
          <a:xfrm>
            <a:off x="6233008" y="3840480"/>
            <a:ext cx="2567864" cy="1965960"/>
          </a:xfrm>
          <a:prstGeom prst="roundRect">
            <a:avLst>
              <a:gd name="adj" fmla="val 3721"/>
            </a:avLst>
          </a:prstGeom>
          <a:solidFill>
            <a:srgbClr val="F3F5F8"/>
          </a:solidFill>
          <a:ln w="9525">
            <a:solidFill>
              <a:srgbClr val="D8DDE6"/>
            </a:solidFill>
            <a:prstDash val="solid"/>
          </a:ln>
        </p:spPr>
      </p:sp>
      <p:sp>
        <p:nvSpPr>
          <p:cNvPr id="23" name="Text 21"/>
          <p:cNvSpPr txBox="1"/>
          <p:nvPr/>
        </p:nvSpPr>
        <p:spPr>
          <a:xfrm>
            <a:off x="6415888" y="4069080"/>
            <a:ext cx="2202104" cy="868680"/>
          </a:xfrm>
          <a:prstGeom prst="rect">
            <a:avLst/>
          </a:prstGeom>
          <a:noFill/>
          <a:ln/>
        </p:spPr>
        <p:txBody>
          <a:bodyPr wrap="square" lIns="0" tIns="0" rIns="0" bIns="0" rtlCol="0" anchor="ctr"/>
          <a:lstStyle/>
          <a:p>
            <a:pPr indent="0" marL="0">
              <a:buNone/>
            </a:pPr>
            <a:r>
              <a:rPr lang="en-US" sz="4400" b="1" dirty="0">
                <a:solidFill>
                  <a:srgbClr val="2B55C9"/>
                </a:solidFill>
              </a:rPr>
              <a:t>275</a:t>
            </a:r>
            <a:endParaRPr lang="en-US" sz="4400" dirty="0"/>
          </a:p>
        </p:txBody>
      </p:sp>
      <p:sp>
        <p:nvSpPr>
          <p:cNvPr id="24" name="Text 22"/>
          <p:cNvSpPr txBox="1"/>
          <p:nvPr/>
        </p:nvSpPr>
        <p:spPr>
          <a:xfrm>
            <a:off x="6415888" y="4983480"/>
            <a:ext cx="2202104" cy="685800"/>
          </a:xfrm>
          <a:prstGeom prst="rect">
            <a:avLst/>
          </a:prstGeom>
          <a:noFill/>
          <a:ln/>
        </p:spPr>
        <p:txBody>
          <a:bodyPr wrap="square" lIns="0" tIns="0" rIns="0" bIns="0" rtlCol="0" anchor="t"/>
          <a:lstStyle/>
          <a:p>
            <a:pPr indent="0" marL="0">
              <a:buNone/>
            </a:pPr>
            <a:r>
              <a:rPr lang="en-US" sz="1300" dirty="0">
                <a:solidFill>
                  <a:srgbClr val="5B6678"/>
                </a:solidFill>
              </a:rPr>
              <a:t>자동 테스트 (프론트 99 · 백엔드 176)</a:t>
            </a:r>
            <a:endParaRPr lang="en-US" sz="1300" dirty="0"/>
          </a:p>
        </p:txBody>
      </p:sp>
      <p:sp>
        <p:nvSpPr>
          <p:cNvPr id="25" name="stat 6"/>
          <p:cNvSpPr/>
          <p:nvPr/>
        </p:nvSpPr>
        <p:spPr>
          <a:xfrm>
            <a:off x="9075191" y="3840480"/>
            <a:ext cx="2567864" cy="1965960"/>
          </a:xfrm>
          <a:prstGeom prst="roundRect">
            <a:avLst>
              <a:gd name="adj" fmla="val 3721"/>
            </a:avLst>
          </a:prstGeom>
          <a:solidFill>
            <a:srgbClr val="F3F5F8"/>
          </a:solidFill>
          <a:ln w="9525">
            <a:solidFill>
              <a:srgbClr val="D8DDE6"/>
            </a:solidFill>
            <a:prstDash val="solid"/>
          </a:ln>
        </p:spPr>
      </p:sp>
      <p:sp>
        <p:nvSpPr>
          <p:cNvPr id="26" name="Text 24"/>
          <p:cNvSpPr txBox="1"/>
          <p:nvPr/>
        </p:nvSpPr>
        <p:spPr>
          <a:xfrm>
            <a:off x="9258071" y="4069080"/>
            <a:ext cx="2202104" cy="868680"/>
          </a:xfrm>
          <a:prstGeom prst="rect">
            <a:avLst/>
          </a:prstGeom>
          <a:noFill/>
          <a:ln/>
        </p:spPr>
        <p:txBody>
          <a:bodyPr wrap="square" lIns="0" tIns="0" rIns="0" bIns="0" rtlCol="0" anchor="ctr"/>
          <a:lstStyle/>
          <a:p>
            <a:pPr indent="0" marL="0">
              <a:buNone/>
            </a:pPr>
            <a:r>
              <a:rPr lang="en-US" sz="4400" b="1" dirty="0">
                <a:solidFill>
                  <a:srgbClr val="2B55C9"/>
                </a:solidFill>
              </a:rPr>
              <a:t>6</a:t>
            </a:r>
            <a:endParaRPr lang="en-US" sz="4400" dirty="0"/>
          </a:p>
        </p:txBody>
      </p:sp>
      <p:sp>
        <p:nvSpPr>
          <p:cNvPr id="27" name="Text 25"/>
          <p:cNvSpPr txBox="1"/>
          <p:nvPr/>
        </p:nvSpPr>
        <p:spPr>
          <a:xfrm>
            <a:off x="9258071" y="4983480"/>
            <a:ext cx="2202104" cy="685800"/>
          </a:xfrm>
          <a:prstGeom prst="rect">
            <a:avLst/>
          </a:prstGeom>
          <a:noFill/>
          <a:ln/>
        </p:spPr>
        <p:txBody>
          <a:bodyPr wrap="square" lIns="0" tIns="0" rIns="0" bIns="0" rtlCol="0" anchor="t"/>
          <a:lstStyle/>
          <a:p>
            <a:pPr indent="0" marL="0">
              <a:buNone/>
            </a:pPr>
            <a:r>
              <a:rPr lang="en-US" sz="1300" dirty="0">
                <a:solidFill>
                  <a:srgbClr val="5B6678"/>
                </a:solidFill>
              </a:rPr>
              <a:t>화면 (로그인 포함, Deliverables 신규)</a:t>
            </a:r>
            <a:endParaRPr lang="en-US" sz="1300" dirty="0"/>
          </a:p>
        </p:txBody>
      </p:sp>
      <p:sp>
        <p:nvSpPr>
          <p:cNvPr id="28" name="Text 26"/>
          <p:cNvSpPr txBox="1"/>
          <p:nvPr/>
        </p:nvSpPr>
        <p:spPr>
          <a:xfrm>
            <a:off x="548640" y="5989320"/>
            <a:ext cx="11094415" cy="320040"/>
          </a:xfrm>
          <a:prstGeom prst="rect">
            <a:avLst/>
          </a:prstGeom>
          <a:noFill/>
          <a:ln/>
        </p:spPr>
        <p:txBody>
          <a:bodyPr wrap="square" lIns="0" tIns="0" rIns="0" bIns="0" rtlCol="0" anchor="t"/>
          <a:lstStyle/>
          <a:p>
            <a:pPr indent="0" marL="0">
              <a:buNone/>
            </a:pPr>
            <a:r>
              <a:rPr lang="en-US" sz="1200" dirty="0">
                <a:solidFill>
                  <a:srgbClr val="5B6678"/>
                </a:solidFill>
              </a:rPr>
              <a:t>요청 수는 상태 확인(/status), 중단, 숫자 한 글자 응답 같은 것을 뺀 값입니다. 코드 줄 수는 테스트를 제외한 대략값입니다.</a:t>
            </a:r>
            <a:endParaRPr lang="en-US" sz="1200" dirty="0"/>
          </a:p>
        </p:txBody>
      </p:sp>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320040"/>
          </a:xfrm>
          <a:prstGeom prst="rect">
            <a:avLst/>
          </a:prstGeom>
          <a:noFill/>
          <a:ln/>
        </p:spPr>
        <p:txBody>
          <a:bodyPr wrap="square" lIns="0" tIns="0" rIns="0" bIns="0" rtlCol="0" anchor="ctr"/>
          <a:lstStyle/>
          <a:p>
            <a:pPr indent="0" marL="0">
              <a:buNone/>
            </a:pPr>
            <a:r>
              <a:rPr lang="en-US" sz="1200" dirty="0">
                <a:solidFill>
                  <a:srgbClr val="A4520C"/>
                </a:solidFill>
                <a:latin typeface="Consolas" pitchFamily="34" charset="0"/>
                <a:ea typeface="Consolas" pitchFamily="34" charset="-122"/>
                <a:cs typeface="Consolas" pitchFamily="34" charset="-120"/>
              </a:rPr>
              <a:t>전체 흐름</a:t>
            </a:r>
            <a:endParaRPr lang="en-US" sz="1200" dirty="0"/>
          </a:p>
        </p:txBody>
      </p:sp>
      <p:sp>
        <p:nvSpPr>
          <p:cNvPr id="3" name="Text 0"/>
          <p:cNvSpPr/>
          <p:nvPr>
            <p:ph idx="101" type="title" hasCustomPrompt="1"/>
          </p:nvPr>
        </p:nvSpPr>
        <p:spPr>
          <a:xfrm>
            <a:off x="548640" y="658368"/>
            <a:ext cx="11094415" cy="731520"/>
          </a:xfrm>
          <a:prstGeom prst="rect">
            <a:avLst/>
          </a:prstGeom>
          <a:noFill/>
          <a:ln/>
        </p:spPr>
        <p:txBody>
          <a:bodyPr wrap="square" lIns="0" tIns="0" rIns="0" bIns="0" rtlCol="0" anchor="ctr"/>
          <a:lstStyle/>
          <a:p>
            <a:pPr algn="l" indent="0" marL="0">
              <a:buNone/>
            </a:pPr>
            <a:r>
              <a:rPr lang="en-US" sz="3000" b="1" dirty="0">
                <a:solidFill>
                  <a:srgbClr val="18212F"/>
                </a:solidFill>
              </a:rPr>
              <a:t>강좌 순서대로: 문서 → 계약 → 이슈 → 구현 → 점검</a:t>
            </a:r>
            <a:endParaRPr lang="en-US" sz="3000" dirty="0"/>
          </a:p>
        </p:txBody>
      </p:sp>
      <p:sp>
        <p:nvSpPr>
          <p:cNvPr id="4" name="Text 2"/>
          <p:cNvSpPr txBox="1"/>
          <p:nvPr/>
        </p:nvSpPr>
        <p:spPr>
          <a:xfrm>
            <a:off x="548640" y="1600200"/>
            <a:ext cx="2036003" cy="1234440"/>
          </a:xfrm>
          <a:prstGeom prst="roundRect">
            <a:avLst>
              <a:gd name="adj" fmla="val 5926"/>
            </a:avLst>
          </a:prstGeom>
          <a:solidFill>
            <a:srgbClr val="F3F5F8"/>
          </a:solidFill>
          <a:ln w="9525">
            <a:solidFill>
              <a:srgbClr val="D8DDE6"/>
            </a:solidFill>
          </a:ln>
        </p:spPr>
        <p:txBody>
          <a:bodyPr wrap="square" lIns="114300" tIns="114300" rIns="114300" bIns="114300" rtlCol="0" anchor="t"/>
          <a:lstStyle/>
          <a:p>
            <a:pPr indent="0" marL="0">
              <a:buNone/>
            </a:pPr>
            <a:r>
              <a:rPr lang="en-US" sz="1100" dirty="0">
                <a:solidFill>
                  <a:srgbClr val="5B6678"/>
                </a:solidFill>
                <a:latin typeface="Consolas" pitchFamily="34" charset="0"/>
                <a:ea typeface="Consolas" pitchFamily="34" charset="-122"/>
                <a:cs typeface="Consolas" pitchFamily="34" charset="-120"/>
              </a:rPr>
              <a:t>9/18–22</a:t>
            </a:r>
            <a:endParaRPr lang="en-US" sz="1100" dirty="0"/>
          </a:p>
          <a:p>
            <a:pPr indent="0" marL="0">
              <a:buNone/>
            </a:pPr>
            <a:r>
              <a:rPr lang="en-US" sz="1400" b="1" dirty="0">
                <a:solidFill>
                  <a:srgbClr val="18212F"/>
                </a:solidFill>
              </a:rPr>
              <a:t>1. 환경 준비</a:t>
            </a:r>
            <a:endParaRPr lang="en-US" sz="1100" dirty="0"/>
          </a:p>
        </p:txBody>
      </p:sp>
      <p:sp>
        <p:nvSpPr>
          <p:cNvPr id="5" name="Text 3"/>
          <p:cNvSpPr txBox="1"/>
          <p:nvPr/>
        </p:nvSpPr>
        <p:spPr>
          <a:xfrm>
            <a:off x="2813243" y="1600200"/>
            <a:ext cx="2036003" cy="1234440"/>
          </a:xfrm>
          <a:prstGeom prst="roundRect">
            <a:avLst>
              <a:gd name="adj" fmla="val 5926"/>
            </a:avLst>
          </a:prstGeom>
          <a:solidFill>
            <a:srgbClr val="E4EBFB"/>
          </a:solidFill>
          <a:ln w="9525">
            <a:solidFill>
              <a:srgbClr val="D8DDE6"/>
            </a:solidFill>
          </a:ln>
        </p:spPr>
        <p:txBody>
          <a:bodyPr wrap="square" lIns="114300" tIns="114300" rIns="114300" bIns="114300" rtlCol="0" anchor="t"/>
          <a:lstStyle/>
          <a:p>
            <a:pPr indent="0" marL="0">
              <a:buNone/>
            </a:pPr>
            <a:r>
              <a:rPr lang="en-US" sz="1100" dirty="0">
                <a:solidFill>
                  <a:srgbClr val="5B6678"/>
                </a:solidFill>
                <a:latin typeface="Consolas" pitchFamily="34" charset="0"/>
                <a:ea typeface="Consolas" pitchFamily="34" charset="-122"/>
                <a:cs typeface="Consolas" pitchFamily="34" charset="-120"/>
              </a:rPr>
              <a:t>9/23</a:t>
            </a:r>
            <a:endParaRPr lang="en-US" sz="1100" dirty="0"/>
          </a:p>
          <a:p>
            <a:pPr indent="0" marL="0">
              <a:buNone/>
            </a:pPr>
            <a:r>
              <a:rPr lang="en-US" sz="1400" b="1" dirty="0">
                <a:solidFill>
                  <a:srgbClr val="18212F"/>
                </a:solidFill>
              </a:rPr>
              <a:t>2. 도메인정의서</a:t>
            </a:r>
            <a:endParaRPr lang="en-US" sz="1100" dirty="0"/>
          </a:p>
        </p:txBody>
      </p:sp>
      <p:sp>
        <p:nvSpPr>
          <p:cNvPr id="6" name="Text 4"/>
          <p:cNvSpPr txBox="1"/>
          <p:nvPr/>
        </p:nvSpPr>
        <p:spPr>
          <a:xfrm>
            <a:off x="5077846" y="1600200"/>
            <a:ext cx="2036003" cy="1234440"/>
          </a:xfrm>
          <a:prstGeom prst="roundRect">
            <a:avLst>
              <a:gd name="adj" fmla="val 5926"/>
            </a:avLst>
          </a:prstGeom>
          <a:solidFill>
            <a:srgbClr val="E4EBFB"/>
          </a:solidFill>
          <a:ln w="9525">
            <a:solidFill>
              <a:srgbClr val="D8DDE6"/>
            </a:solidFill>
          </a:ln>
        </p:spPr>
        <p:txBody>
          <a:bodyPr wrap="square" lIns="114300" tIns="114300" rIns="114300" bIns="114300" rtlCol="0" anchor="t"/>
          <a:lstStyle/>
          <a:p>
            <a:pPr indent="0" marL="0">
              <a:buNone/>
            </a:pPr>
            <a:r>
              <a:rPr lang="en-US" sz="1100" dirty="0">
                <a:solidFill>
                  <a:srgbClr val="5B6678"/>
                </a:solidFill>
                <a:latin typeface="Consolas" pitchFamily="34" charset="0"/>
                <a:ea typeface="Consolas" pitchFamily="34" charset="-122"/>
                <a:cs typeface="Consolas" pitchFamily="34" charset="-120"/>
              </a:rPr>
              <a:t>9/28</a:t>
            </a:r>
            <a:endParaRPr lang="en-US" sz="1100" dirty="0"/>
          </a:p>
          <a:p>
            <a:pPr indent="0" marL="0">
              <a:buNone/>
            </a:pPr>
            <a:r>
              <a:rPr lang="en-US" sz="1400" b="1" dirty="0">
                <a:solidFill>
                  <a:srgbClr val="18212F"/>
                </a:solidFill>
              </a:rPr>
              <a:t>3. PRD · 시나리오</a:t>
            </a:r>
            <a:endParaRPr lang="en-US" sz="1100" dirty="0"/>
          </a:p>
        </p:txBody>
      </p:sp>
      <p:sp>
        <p:nvSpPr>
          <p:cNvPr id="7" name="Text 5"/>
          <p:cNvSpPr txBox="1"/>
          <p:nvPr/>
        </p:nvSpPr>
        <p:spPr>
          <a:xfrm>
            <a:off x="7342449" y="1600200"/>
            <a:ext cx="2036003" cy="1234440"/>
          </a:xfrm>
          <a:prstGeom prst="roundRect">
            <a:avLst>
              <a:gd name="adj" fmla="val 5926"/>
            </a:avLst>
          </a:prstGeom>
          <a:solidFill>
            <a:srgbClr val="E4EBFB"/>
          </a:solidFill>
          <a:ln w="9525">
            <a:solidFill>
              <a:srgbClr val="D8DDE6"/>
            </a:solidFill>
          </a:ln>
        </p:spPr>
        <p:txBody>
          <a:bodyPr wrap="square" lIns="114300" tIns="114300" rIns="114300" bIns="114300" rtlCol="0" anchor="t"/>
          <a:lstStyle/>
          <a:p>
            <a:pPr indent="0" marL="0">
              <a:buNone/>
            </a:pPr>
            <a:r>
              <a:rPr lang="en-US" sz="1100" dirty="0">
                <a:solidFill>
                  <a:srgbClr val="5B6678"/>
                </a:solidFill>
                <a:latin typeface="Consolas" pitchFamily="34" charset="0"/>
                <a:ea typeface="Consolas" pitchFamily="34" charset="-122"/>
                <a:cs typeface="Consolas" pitchFamily="34" charset="-120"/>
              </a:rPr>
              <a:t>9/29</a:t>
            </a:r>
            <a:endParaRPr lang="en-US" sz="1100" dirty="0"/>
          </a:p>
          <a:p>
            <a:pPr indent="0" marL="0">
              <a:buNone/>
            </a:pPr>
            <a:r>
              <a:rPr lang="en-US" sz="1400" b="1" dirty="0">
                <a:solidFill>
                  <a:srgbClr val="18212F"/>
                </a:solidFill>
              </a:rPr>
              <a:t>4. 구조원칙 · 아키텍처 · ERD · DDL · 실행계획 · 와이어프레임</a:t>
            </a:r>
            <a:endParaRPr lang="en-US" sz="1100" dirty="0"/>
          </a:p>
        </p:txBody>
      </p:sp>
      <p:sp>
        <p:nvSpPr>
          <p:cNvPr id="8" name="Text 6"/>
          <p:cNvSpPr txBox="1"/>
          <p:nvPr/>
        </p:nvSpPr>
        <p:spPr>
          <a:xfrm>
            <a:off x="9607052" y="1600200"/>
            <a:ext cx="2036003" cy="1234440"/>
          </a:xfrm>
          <a:prstGeom prst="roundRect">
            <a:avLst>
              <a:gd name="adj" fmla="val 5926"/>
            </a:avLst>
          </a:prstGeom>
          <a:solidFill>
            <a:srgbClr val="E4EBFB"/>
          </a:solidFill>
          <a:ln w="9525">
            <a:solidFill>
              <a:srgbClr val="D8DDE6"/>
            </a:solidFill>
          </a:ln>
        </p:spPr>
        <p:txBody>
          <a:bodyPr wrap="square" lIns="114300" tIns="114300" rIns="114300" bIns="114300" rtlCol="0" anchor="t"/>
          <a:lstStyle/>
          <a:p>
            <a:pPr indent="0" marL="0">
              <a:buNone/>
            </a:pPr>
            <a:r>
              <a:rPr lang="en-US" sz="1100" dirty="0">
                <a:solidFill>
                  <a:srgbClr val="5B6678"/>
                </a:solidFill>
                <a:latin typeface="Consolas" pitchFamily="34" charset="0"/>
                <a:ea typeface="Consolas" pitchFamily="34" charset="-122"/>
                <a:cs typeface="Consolas" pitchFamily="34" charset="-120"/>
              </a:rPr>
              <a:t>10/1–4</a:t>
            </a:r>
            <a:endParaRPr lang="en-US" sz="1100" dirty="0"/>
          </a:p>
          <a:p>
            <a:pPr indent="0" marL="0">
              <a:buNone/>
            </a:pPr>
            <a:r>
              <a:rPr lang="en-US" sz="1400" b="1" dirty="0">
                <a:solidFill>
                  <a:srgbClr val="18212F"/>
                </a:solidFill>
              </a:rPr>
              <a:t>5. Swagger · 목서버 · DB · MCP</a:t>
            </a:r>
            <a:endParaRPr lang="en-US" sz="1100" dirty="0"/>
          </a:p>
        </p:txBody>
      </p:sp>
      <p:sp>
        <p:nvSpPr>
          <p:cNvPr id="9" name="Text 7"/>
          <p:cNvSpPr txBox="1"/>
          <p:nvPr/>
        </p:nvSpPr>
        <p:spPr>
          <a:xfrm>
            <a:off x="548640" y="3154680"/>
            <a:ext cx="2036003" cy="1234440"/>
          </a:xfrm>
          <a:prstGeom prst="roundRect">
            <a:avLst>
              <a:gd name="adj" fmla="val 5926"/>
            </a:avLst>
          </a:prstGeom>
          <a:solidFill>
            <a:srgbClr val="FBEFE2"/>
          </a:solidFill>
          <a:ln w="9525">
            <a:solidFill>
              <a:srgbClr val="D8DDE6"/>
            </a:solidFill>
          </a:ln>
        </p:spPr>
        <p:txBody>
          <a:bodyPr wrap="square" lIns="114300" tIns="114300" rIns="114300" bIns="114300" rtlCol="0" anchor="t"/>
          <a:lstStyle/>
          <a:p>
            <a:pPr indent="0" marL="0">
              <a:buNone/>
            </a:pPr>
            <a:r>
              <a:rPr lang="en-US" sz="1100" dirty="0">
                <a:solidFill>
                  <a:srgbClr val="5B6678"/>
                </a:solidFill>
                <a:latin typeface="Consolas" pitchFamily="34" charset="0"/>
                <a:ea typeface="Consolas" pitchFamily="34" charset="-122"/>
                <a:cs typeface="Consolas" pitchFamily="34" charset="-120"/>
              </a:rPr>
              <a:t>10/6</a:t>
            </a:r>
            <a:endParaRPr lang="en-US" sz="1100" dirty="0"/>
          </a:p>
          <a:p>
            <a:pPr indent="0" marL="0">
              <a:buNone/>
            </a:pPr>
            <a:r>
              <a:rPr lang="en-US" sz="1400" b="1" dirty="0">
                <a:solidFill>
                  <a:srgbClr val="18212F"/>
                </a:solidFill>
              </a:rPr>
              <a:t>6. GitHub 이슈 19개 · 커스텀 명령</a:t>
            </a:r>
            <a:endParaRPr lang="en-US" sz="1100" dirty="0"/>
          </a:p>
        </p:txBody>
      </p:sp>
      <p:sp>
        <p:nvSpPr>
          <p:cNvPr id="10" name="Text 8"/>
          <p:cNvSpPr txBox="1"/>
          <p:nvPr/>
        </p:nvSpPr>
        <p:spPr>
          <a:xfrm>
            <a:off x="2813243" y="3154680"/>
            <a:ext cx="2036003" cy="1234440"/>
          </a:xfrm>
          <a:prstGeom prst="roundRect">
            <a:avLst>
              <a:gd name="adj" fmla="val 5926"/>
            </a:avLst>
          </a:prstGeom>
          <a:solidFill>
            <a:srgbClr val="FBEFE2"/>
          </a:solidFill>
          <a:ln w="9525">
            <a:solidFill>
              <a:srgbClr val="D8DDE6"/>
            </a:solidFill>
          </a:ln>
        </p:spPr>
        <p:txBody>
          <a:bodyPr wrap="square" lIns="114300" tIns="114300" rIns="114300" bIns="114300" rtlCol="0" anchor="t"/>
          <a:lstStyle/>
          <a:p>
            <a:pPr indent="0" marL="0">
              <a:buNone/>
            </a:pPr>
            <a:r>
              <a:rPr lang="en-US" sz="1100" dirty="0">
                <a:solidFill>
                  <a:srgbClr val="5B6678"/>
                </a:solidFill>
                <a:latin typeface="Consolas" pitchFamily="34" charset="0"/>
                <a:ea typeface="Consolas" pitchFamily="34" charset="-122"/>
                <a:cs typeface="Consolas" pitchFamily="34" charset="-120"/>
              </a:rPr>
              <a:t>10/6–8</a:t>
            </a:r>
            <a:endParaRPr lang="en-US" sz="1100" dirty="0"/>
          </a:p>
          <a:p>
            <a:pPr indent="0" marL="0">
              <a:buNone/>
            </a:pPr>
            <a:r>
              <a:rPr lang="en-US" sz="1400" b="1" dirty="0">
                <a:solidFill>
                  <a:srgbClr val="18212F"/>
                </a:solidFill>
              </a:rPr>
              <a:t>7. 백엔드 BE-1~6 · 프론트 FE-1~6B</a:t>
            </a:r>
            <a:endParaRPr lang="en-US" sz="1100" dirty="0"/>
          </a:p>
        </p:txBody>
      </p:sp>
      <p:sp>
        <p:nvSpPr>
          <p:cNvPr id="11" name="Text 9"/>
          <p:cNvSpPr txBox="1"/>
          <p:nvPr/>
        </p:nvSpPr>
        <p:spPr>
          <a:xfrm>
            <a:off x="5077846" y="3154680"/>
            <a:ext cx="2036003" cy="1234440"/>
          </a:xfrm>
          <a:prstGeom prst="roundRect">
            <a:avLst>
              <a:gd name="adj" fmla="val 5926"/>
            </a:avLst>
          </a:prstGeom>
          <a:solidFill>
            <a:srgbClr val="E1F2E8"/>
          </a:solidFill>
          <a:ln w="9525">
            <a:solidFill>
              <a:srgbClr val="D8DDE6"/>
            </a:solidFill>
          </a:ln>
        </p:spPr>
        <p:txBody>
          <a:bodyPr wrap="square" lIns="114300" tIns="114300" rIns="114300" bIns="114300" rtlCol="0" anchor="t"/>
          <a:lstStyle/>
          <a:p>
            <a:pPr indent="0" marL="0">
              <a:buNone/>
            </a:pPr>
            <a:r>
              <a:rPr lang="en-US" sz="1100" dirty="0">
                <a:solidFill>
                  <a:srgbClr val="5B6678"/>
                </a:solidFill>
                <a:latin typeface="Consolas" pitchFamily="34" charset="0"/>
                <a:ea typeface="Consolas" pitchFamily="34" charset="-122"/>
                <a:cs typeface="Consolas" pitchFamily="34" charset="-120"/>
              </a:rPr>
              <a:t>10/8–9</a:t>
            </a:r>
            <a:endParaRPr lang="en-US" sz="1100" dirty="0"/>
          </a:p>
          <a:p>
            <a:pPr indent="0" marL="0">
              <a:buNone/>
            </a:pPr>
            <a:r>
              <a:rPr lang="en-US" sz="1400" b="1" dirty="0">
                <a:solidFill>
                  <a:srgbClr val="18212F"/>
                </a:solidFill>
              </a:rPr>
              <a:t>8. 통합 점검 BE-7 · FE-7</a:t>
            </a:r>
            <a:endParaRPr lang="en-US" sz="1100" dirty="0"/>
          </a:p>
        </p:txBody>
      </p:sp>
      <p:sp>
        <p:nvSpPr>
          <p:cNvPr id="12" name="Text 10"/>
          <p:cNvSpPr txBox="1"/>
          <p:nvPr/>
        </p:nvSpPr>
        <p:spPr>
          <a:xfrm>
            <a:off x="7342449" y="3154680"/>
            <a:ext cx="2036003" cy="1234440"/>
          </a:xfrm>
          <a:prstGeom prst="roundRect">
            <a:avLst>
              <a:gd name="adj" fmla="val 5926"/>
            </a:avLst>
          </a:prstGeom>
          <a:solidFill>
            <a:srgbClr val="E1F2E8"/>
          </a:solidFill>
          <a:ln w="9525">
            <a:solidFill>
              <a:srgbClr val="D8DDE6"/>
            </a:solidFill>
          </a:ln>
        </p:spPr>
        <p:txBody>
          <a:bodyPr wrap="square" lIns="114300" tIns="114300" rIns="114300" bIns="114300" rtlCol="0" anchor="t"/>
          <a:lstStyle/>
          <a:p>
            <a:pPr indent="0" marL="0">
              <a:buNone/>
            </a:pPr>
            <a:r>
              <a:rPr lang="en-US" sz="1100" dirty="0">
                <a:solidFill>
                  <a:srgbClr val="5B6678"/>
                </a:solidFill>
                <a:latin typeface="Consolas" pitchFamily="34" charset="0"/>
                <a:ea typeface="Consolas" pitchFamily="34" charset="-122"/>
                <a:cs typeface="Consolas" pitchFamily="34" charset="-120"/>
              </a:rPr>
              <a:t>10/9</a:t>
            </a:r>
            <a:endParaRPr lang="en-US" sz="1100" dirty="0"/>
          </a:p>
          <a:p>
            <a:pPr indent="0" marL="0">
              <a:buNone/>
            </a:pPr>
            <a:r>
              <a:rPr lang="en-US" sz="1400" b="1" dirty="0">
                <a:solidFill>
                  <a:srgbClr val="18212F"/>
                </a:solidFill>
              </a:rPr>
              <a:t>9. 개선 · 문서 현행화</a:t>
            </a:r>
            <a:endParaRPr lang="en-US" sz="1100" dirty="0"/>
          </a:p>
        </p:txBody>
      </p:sp>
      <p:sp>
        <p:nvSpPr>
          <p:cNvPr id="13" name="Text 11"/>
          <p:cNvSpPr txBox="1"/>
          <p:nvPr/>
        </p:nvSpPr>
        <p:spPr>
          <a:xfrm>
            <a:off x="548640" y="4663440"/>
            <a:ext cx="11094415" cy="822960"/>
          </a:xfrm>
          <a:prstGeom prst="rect">
            <a:avLst/>
          </a:prstGeom>
          <a:noFill/>
          <a:ln/>
        </p:spPr>
        <p:txBody>
          <a:bodyPr wrap="square" lIns="0" tIns="0" rIns="0" bIns="0" rtlCol="0" anchor="t"/>
          <a:lstStyle/>
          <a:p>
            <a:pPr indent="0" marL="0">
              <a:buNone/>
            </a:pPr>
            <a:r>
              <a:rPr lang="en-US" sz="1700" dirty="0">
                <a:solidFill>
                  <a:srgbClr val="5B6678"/>
                </a:solidFill>
              </a:rPr>
              <a:t>처음 9일은 코드를 거의 쓰지 않았습니다. 문서를 먼저 만들고, 그 문서를 근거로 이슈를 쪼갠 다음, 이슈 하나를 명령 한 줄로 처리하는 흐름이 핵심이었습니다.</a:t>
            </a:r>
            <a:endParaRPr lang="en-US" sz="1700" dirty="0"/>
          </a:p>
        </p:txBody>
      </p:sp>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320040"/>
          </a:xfrm>
          <a:prstGeom prst="rect">
            <a:avLst/>
          </a:prstGeom>
          <a:noFill/>
          <a:ln/>
        </p:spPr>
        <p:txBody>
          <a:bodyPr wrap="square" lIns="0" tIns="0" rIns="0" bIns="0" rtlCol="0" anchor="ctr"/>
          <a:lstStyle/>
          <a:p>
            <a:pPr indent="0" marL="0">
              <a:buNone/>
            </a:pPr>
            <a:r>
              <a:rPr lang="en-US" sz="1200" dirty="0">
                <a:solidFill>
                  <a:srgbClr val="A4520C"/>
                </a:solidFill>
                <a:latin typeface="Consolas" pitchFamily="34" charset="0"/>
                <a:ea typeface="Consolas" pitchFamily="34" charset="-122"/>
                <a:cs typeface="Consolas" pitchFamily="34" charset="-120"/>
              </a:rPr>
              <a:t>1막 · 9/18–9/22 · 작업 환경 만들기</a:t>
            </a:r>
            <a:endParaRPr lang="en-US" sz="1200" dirty="0"/>
          </a:p>
        </p:txBody>
      </p:sp>
      <p:sp>
        <p:nvSpPr>
          <p:cNvPr id="3" name="Text 0"/>
          <p:cNvSpPr/>
          <p:nvPr>
            <p:ph idx="101" type="title" hasCustomPrompt="1"/>
          </p:nvPr>
        </p:nvSpPr>
        <p:spPr>
          <a:xfrm>
            <a:off x="548640" y="658368"/>
            <a:ext cx="11094415" cy="731520"/>
          </a:xfrm>
          <a:prstGeom prst="rect">
            <a:avLst/>
          </a:prstGeom>
          <a:noFill/>
          <a:ln/>
        </p:spPr>
        <p:txBody>
          <a:bodyPr wrap="square" lIns="0" tIns="0" rIns="0" bIns="0" rtlCol="0" anchor="ctr"/>
          <a:lstStyle/>
          <a:p>
            <a:pPr algn="l" indent="0" marL="0">
              <a:buNone/>
            </a:pPr>
            <a:r>
              <a:rPr lang="en-US" sz="3000" b="1" dirty="0">
                <a:solidFill>
                  <a:srgbClr val="18212F"/>
                </a:solidFill>
              </a:rPr>
              <a:t>먼저 Claude가 일하는 방식부터 정했다</a:t>
            </a:r>
            <a:endParaRPr lang="en-US" sz="3000" dirty="0"/>
          </a:p>
        </p:txBody>
      </p:sp>
      <p:sp>
        <p:nvSpPr>
          <p:cNvPr id="4" name="input"/>
          <p:cNvSpPr txBox="1"/>
          <p:nvPr/>
        </p:nvSpPr>
        <p:spPr>
          <a:xfrm>
            <a:off x="548640" y="1600200"/>
            <a:ext cx="5387188" cy="1188720"/>
          </a:xfrm>
          <a:prstGeom prst="roundRect">
            <a:avLst>
              <a:gd name="adj" fmla="val 6154"/>
            </a:avLst>
          </a:prstGeom>
          <a:solidFill>
            <a:srgbClr val="FBEFE2"/>
          </a:solidFill>
          <a:ln>
            <a:solidFill>
              <a:srgbClr val="FBEFE2"/>
            </a:solidFill>
          </a:ln>
        </p:spPr>
        <p:txBody>
          <a:bodyPr wrap="square" lIns="127000" tIns="127000" rIns="127000" bIns="127000" rtlCol="0" anchor="t"/>
          <a:lstStyle/>
          <a:p>
            <a:pPr indent="0" marL="0">
              <a:buNone/>
            </a:pPr>
            <a:r>
              <a:rPr lang="en-US" sz="1100" b="1" dirty="0">
                <a:solidFill>
                  <a:srgbClr val="A4520C"/>
                </a:solidFill>
                <a:latin typeface="Consolas" pitchFamily="34" charset="0"/>
                <a:ea typeface="Consolas" pitchFamily="34" charset="-122"/>
                <a:cs typeface="Consolas" pitchFamily="34" charset="-120"/>
              </a:rPr>
              <a:t>❯ 내가 입력한 것</a:t>
            </a:r>
            <a:endParaRPr lang="en-US" sz="1100" dirty="0"/>
          </a:p>
          <a:p>
            <a:pPr indent="0" marL="0">
              <a:spcBef>
                <a:spcPts val="400"/>
              </a:spcBef>
              <a:buNone/>
            </a:pPr>
            <a:r>
              <a:rPr lang="en-US" sz="1400" dirty="0">
                <a:solidFill>
                  <a:srgbClr val="18212F"/>
                </a:solidFill>
              </a:rPr>
              <a:t>CLAUDE.md를 한국어로 번역해주고, 이후부터는 모든 대화는 한국어로 하고, 오버엔지니어링 금지를 추가해줘.</a:t>
            </a:r>
            <a:endParaRPr lang="en-US" sz="1100" dirty="0"/>
          </a:p>
        </p:txBody>
      </p:sp>
      <p:sp>
        <p:nvSpPr>
          <p:cNvPr id="5" name="output"/>
          <p:cNvSpPr txBox="1"/>
          <p:nvPr/>
        </p:nvSpPr>
        <p:spPr>
          <a:xfrm>
            <a:off x="548640" y="2926080"/>
            <a:ext cx="5387188" cy="1554480"/>
          </a:xfrm>
          <a:prstGeom prst="roundRect">
            <a:avLst>
              <a:gd name="adj" fmla="val 4706"/>
            </a:avLst>
          </a:prstGeom>
          <a:solidFill>
            <a:srgbClr val="E1F2E8"/>
          </a:solidFill>
          <a:ln>
            <a:solidFill>
              <a:srgbClr val="E1F2E8"/>
            </a:solidFill>
          </a:ln>
        </p:spPr>
        <p:txBody>
          <a:bodyPr wrap="square" lIns="127000" tIns="127000" rIns="127000" bIns="127000" rtlCol="0" anchor="t"/>
          <a:lstStyle/>
          <a:p>
            <a:pPr indent="0" marL="0">
              <a:buNone/>
            </a:pPr>
            <a:r>
              <a:rPr lang="en-US" sz="1100" b="1" dirty="0">
                <a:solidFill>
                  <a:srgbClr val="1D7347"/>
                </a:solidFill>
                <a:latin typeface="Consolas" pitchFamily="34" charset="0"/>
                <a:ea typeface="Consolas" pitchFamily="34" charset="-122"/>
                <a:cs typeface="Consolas" pitchFamily="34" charset="-120"/>
              </a:rPr>
              <a:t>✓ 나온 결과</a:t>
            </a:r>
            <a:endParaRPr lang="en-US" sz="1100" dirty="0"/>
          </a:p>
          <a:p>
            <a:pPr indent="0" marL="0">
              <a:spcBef>
                <a:spcPts val="400"/>
              </a:spcBef>
              <a:buNone/>
            </a:pPr>
            <a:r>
              <a:rPr lang="en-US" sz="1400" dirty="0">
                <a:solidFill>
                  <a:srgbClr val="18212F"/>
                </a:solidFill>
              </a:rPr>
              <a:t>프로젝트 규칙 파일 CLAUDE.md 생성. 이후 모든 작업이 이 규칙을 읽고 시작. "요청한 것만 가장 단순하게"가 끝까지 기준이 됨.</a:t>
            </a:r>
            <a:endParaRPr lang="en-US" sz="1100" dirty="0"/>
          </a:p>
        </p:txBody>
      </p:sp>
      <p:sp>
        <p:nvSpPr>
          <p:cNvPr id="6" name="input"/>
          <p:cNvSpPr txBox="1"/>
          <p:nvPr/>
        </p:nvSpPr>
        <p:spPr>
          <a:xfrm>
            <a:off x="6255868" y="1600200"/>
            <a:ext cx="5387188" cy="1188720"/>
          </a:xfrm>
          <a:prstGeom prst="roundRect">
            <a:avLst>
              <a:gd name="adj" fmla="val 6154"/>
            </a:avLst>
          </a:prstGeom>
          <a:solidFill>
            <a:srgbClr val="FBEFE2"/>
          </a:solidFill>
          <a:ln>
            <a:solidFill>
              <a:srgbClr val="FBEFE2"/>
            </a:solidFill>
          </a:ln>
        </p:spPr>
        <p:txBody>
          <a:bodyPr wrap="square" lIns="127000" tIns="127000" rIns="127000" bIns="127000" rtlCol="0" anchor="t"/>
          <a:lstStyle/>
          <a:p>
            <a:pPr indent="0" marL="0">
              <a:buNone/>
            </a:pPr>
            <a:r>
              <a:rPr lang="en-US" sz="1100" b="1" dirty="0">
                <a:solidFill>
                  <a:srgbClr val="A4520C"/>
                </a:solidFill>
                <a:latin typeface="Consolas" pitchFamily="34" charset="0"/>
                <a:ea typeface="Consolas" pitchFamily="34" charset="-122"/>
                <a:cs typeface="Consolas" pitchFamily="34" charset="-120"/>
              </a:rPr>
              <a:t>❯ 내가 입력한 것</a:t>
            </a:r>
            <a:endParaRPr lang="en-US" sz="1100" dirty="0"/>
          </a:p>
          <a:p>
            <a:pPr indent="0" marL="0">
              <a:spcBef>
                <a:spcPts val="400"/>
              </a:spcBef>
              <a:buNone/>
            </a:pPr>
            <a:r>
              <a:rPr lang="en-US" sz="1400" dirty="0">
                <a:solidFill>
                  <a:srgbClr val="18212F"/>
                </a:solidFill>
              </a:rPr>
              <a:t>알림음을 한국어로 말해줘. "작업이 완료되었습니다" 만 들려줘.</a:t>
            </a:r>
            <a:endParaRPr lang="en-US" sz="1100" dirty="0"/>
          </a:p>
        </p:txBody>
      </p:sp>
      <p:sp>
        <p:nvSpPr>
          <p:cNvPr id="7" name="output"/>
          <p:cNvSpPr txBox="1"/>
          <p:nvPr/>
        </p:nvSpPr>
        <p:spPr>
          <a:xfrm>
            <a:off x="6255868" y="2926080"/>
            <a:ext cx="5387188" cy="1554480"/>
          </a:xfrm>
          <a:prstGeom prst="roundRect">
            <a:avLst>
              <a:gd name="adj" fmla="val 4706"/>
            </a:avLst>
          </a:prstGeom>
          <a:solidFill>
            <a:srgbClr val="E1F2E8"/>
          </a:solidFill>
          <a:ln>
            <a:solidFill>
              <a:srgbClr val="E1F2E8"/>
            </a:solidFill>
          </a:ln>
        </p:spPr>
        <p:txBody>
          <a:bodyPr wrap="square" lIns="127000" tIns="127000" rIns="127000" bIns="127000" rtlCol="0" anchor="t"/>
          <a:lstStyle/>
          <a:p>
            <a:pPr indent="0" marL="0">
              <a:buNone/>
            </a:pPr>
            <a:r>
              <a:rPr lang="en-US" sz="1100" b="1" dirty="0">
                <a:solidFill>
                  <a:srgbClr val="1D7347"/>
                </a:solidFill>
                <a:latin typeface="Consolas" pitchFamily="34" charset="0"/>
                <a:ea typeface="Consolas" pitchFamily="34" charset="-122"/>
                <a:cs typeface="Consolas" pitchFamily="34" charset="-120"/>
              </a:rPr>
              <a:t>✓ 나온 결과</a:t>
            </a:r>
            <a:endParaRPr lang="en-US" sz="1100" dirty="0"/>
          </a:p>
          <a:p>
            <a:pPr indent="0" marL="0">
              <a:spcBef>
                <a:spcPts val="400"/>
              </a:spcBef>
              <a:buNone/>
            </a:pPr>
            <a:r>
              <a:rPr lang="en-US" sz="1400" dirty="0">
                <a:solidFill>
                  <a:srgbClr val="18212F"/>
                </a:solidFill>
              </a:rPr>
              <a:t>Stop 훅 + PowerShell 음성으로 작업이 끝나면 한국어로 알려 줌. 상태줄(ccstatusline), 원격 제어(--remote-control), 서브에이전트 정의 21개도 이때 설치.</a:t>
            </a:r>
            <a:endParaRPr lang="en-US" sz="1100" dirty="0"/>
          </a:p>
        </p:txBody>
      </p:sp>
      <p:sp>
        <p:nvSpPr>
          <p:cNvPr id="8" name="Text 6"/>
          <p:cNvSpPr txBox="1"/>
          <p:nvPr/>
        </p:nvSpPr>
        <p:spPr>
          <a:xfrm>
            <a:off x="548640" y="4754880"/>
            <a:ext cx="11094415" cy="640080"/>
          </a:xfrm>
          <a:prstGeom prst="rect">
            <a:avLst/>
          </a:prstGeom>
          <a:noFill/>
          <a:ln/>
        </p:spPr>
        <p:txBody>
          <a:bodyPr wrap="square" lIns="0" tIns="0" rIns="0" bIns="0" rtlCol="0" anchor="t"/>
          <a:lstStyle/>
          <a:p>
            <a:pPr indent="0" marL="0">
              <a:buNone/>
            </a:pPr>
            <a:r>
              <a:rPr lang="en-US" sz="1200" dirty="0">
                <a:solidFill>
                  <a:srgbClr val="5B6678"/>
                </a:solidFill>
              </a:rPr>
              <a:t>첫날 화면 스냅샷을 요청했다가 작업이 오래 걸려 "무한 루프 아니야? 토큰이 다 소모될까 걱정"이라며 중단한 일이 있었습니다. 이후로는 막히면 바로 멈추고 상황을 묻는 습관이 생겼습니다.</a:t>
            </a:r>
            <a:endParaRPr lang="en-US" sz="1200" dirty="0"/>
          </a:p>
        </p:txBody>
      </p:sp>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320040"/>
          </a:xfrm>
          <a:prstGeom prst="rect">
            <a:avLst/>
          </a:prstGeom>
          <a:noFill/>
          <a:ln/>
        </p:spPr>
        <p:txBody>
          <a:bodyPr wrap="square" lIns="0" tIns="0" rIns="0" bIns="0" rtlCol="0" anchor="ctr"/>
          <a:lstStyle/>
          <a:p>
            <a:pPr indent="0" marL="0">
              <a:buNone/>
            </a:pPr>
            <a:r>
              <a:rPr lang="en-US" sz="1200" dirty="0">
                <a:solidFill>
                  <a:srgbClr val="A4520C"/>
                </a:solidFill>
                <a:latin typeface="Consolas" pitchFamily="34" charset="0"/>
                <a:ea typeface="Consolas" pitchFamily="34" charset="-122"/>
                <a:cs typeface="Consolas" pitchFamily="34" charset="-120"/>
              </a:rPr>
              <a:t>2막 · 9/23–9/29 · 설계 문서 8개</a:t>
            </a:r>
            <a:endParaRPr lang="en-US" sz="1200" dirty="0"/>
          </a:p>
        </p:txBody>
      </p:sp>
      <p:sp>
        <p:nvSpPr>
          <p:cNvPr id="3" name="Text 0"/>
          <p:cNvSpPr/>
          <p:nvPr>
            <p:ph idx="101" type="title" hasCustomPrompt="1"/>
          </p:nvPr>
        </p:nvSpPr>
        <p:spPr>
          <a:xfrm>
            <a:off x="548640" y="658368"/>
            <a:ext cx="11094415" cy="731520"/>
          </a:xfrm>
          <a:prstGeom prst="rect">
            <a:avLst/>
          </a:prstGeom>
          <a:noFill/>
          <a:ln/>
        </p:spPr>
        <p:txBody>
          <a:bodyPr wrap="square" lIns="0" tIns="0" rIns="0" bIns="0" rtlCol="0" anchor="ctr"/>
          <a:lstStyle/>
          <a:p>
            <a:pPr algn="l" indent="0" marL="0">
              <a:buNone/>
            </a:pPr>
            <a:r>
              <a:rPr lang="en-US" sz="3000" b="1" dirty="0">
                <a:solidFill>
                  <a:srgbClr val="18212F"/>
                </a:solidFill>
              </a:rPr>
              <a:t>문서는 "만들고 → 서브에이전트로 평가 → 고치기"를 반복</a:t>
            </a:r>
            <a:endParaRPr lang="en-US" sz="3000" dirty="0"/>
          </a:p>
        </p:txBody>
      </p:sp>
      <p:sp>
        <p:nvSpPr>
          <p:cNvPr id="4" name="input"/>
          <p:cNvSpPr txBox="1"/>
          <p:nvPr/>
        </p:nvSpPr>
        <p:spPr>
          <a:xfrm>
            <a:off x="548640" y="1600200"/>
            <a:ext cx="4846320" cy="1828800"/>
          </a:xfrm>
          <a:prstGeom prst="roundRect">
            <a:avLst>
              <a:gd name="adj" fmla="val 4000"/>
            </a:avLst>
          </a:prstGeom>
          <a:solidFill>
            <a:srgbClr val="FBEFE2"/>
          </a:solidFill>
          <a:ln>
            <a:solidFill>
              <a:srgbClr val="FBEFE2"/>
            </a:solidFill>
          </a:ln>
        </p:spPr>
        <p:txBody>
          <a:bodyPr wrap="square" lIns="127000" tIns="127000" rIns="127000" bIns="127000" rtlCol="0" anchor="t"/>
          <a:lstStyle/>
          <a:p>
            <a:pPr indent="0" marL="0">
              <a:buNone/>
            </a:pPr>
            <a:r>
              <a:rPr lang="en-US" sz="1100" b="1" dirty="0">
                <a:solidFill>
                  <a:srgbClr val="A4520C"/>
                </a:solidFill>
                <a:latin typeface="Consolas" pitchFamily="34" charset="0"/>
                <a:ea typeface="Consolas" pitchFamily="34" charset="-122"/>
                <a:cs typeface="Consolas" pitchFamily="34" charset="-120"/>
              </a:rPr>
              <a:t>❯ 내가 입력한 것</a:t>
            </a:r>
            <a:endParaRPr lang="en-US" sz="1100" dirty="0"/>
          </a:p>
          <a:p>
            <a:pPr indent="0" marL="0">
              <a:spcBef>
                <a:spcPts val="400"/>
              </a:spcBef>
              <a:buNone/>
            </a:pPr>
            <a:r>
              <a:rPr lang="en-US" sz="1400" dirty="0">
                <a:solidFill>
                  <a:srgbClr val="18212F"/>
                </a:solidFill>
              </a:rPr>
              <a:t>전문 서브에이전트를 이용해 다음 5가지 항목을 기준으로 방금 작성한 도메인 정의서를 평가해줘. 1. 완전성 2. 명확성 3. 추적성 4. 검증가능성 5. 유지보수성</a:t>
            </a:r>
            <a:endParaRPr lang="en-US" sz="1100" dirty="0"/>
          </a:p>
        </p:txBody>
      </p:sp>
      <p:sp>
        <p:nvSpPr>
          <p:cNvPr id="5" name="output"/>
          <p:cNvSpPr txBox="1"/>
          <p:nvPr/>
        </p:nvSpPr>
        <p:spPr>
          <a:xfrm>
            <a:off x="548640" y="3566160"/>
            <a:ext cx="4846320" cy="1737360"/>
          </a:xfrm>
          <a:prstGeom prst="roundRect">
            <a:avLst>
              <a:gd name="adj" fmla="val 4211"/>
            </a:avLst>
          </a:prstGeom>
          <a:solidFill>
            <a:srgbClr val="E1F2E8"/>
          </a:solidFill>
          <a:ln>
            <a:solidFill>
              <a:srgbClr val="E1F2E8"/>
            </a:solidFill>
          </a:ln>
        </p:spPr>
        <p:txBody>
          <a:bodyPr wrap="square" lIns="127000" tIns="127000" rIns="127000" bIns="127000" rtlCol="0" anchor="t"/>
          <a:lstStyle/>
          <a:p>
            <a:pPr indent="0" marL="0">
              <a:buNone/>
            </a:pPr>
            <a:r>
              <a:rPr lang="en-US" sz="1100" b="1" dirty="0">
                <a:solidFill>
                  <a:srgbClr val="1D7347"/>
                </a:solidFill>
                <a:latin typeface="Consolas" pitchFamily="34" charset="0"/>
                <a:ea typeface="Consolas" pitchFamily="34" charset="-122"/>
                <a:cs typeface="Consolas" pitchFamily="34" charset="-120"/>
              </a:rPr>
              <a:t>✓ 나온 결과</a:t>
            </a:r>
            <a:endParaRPr lang="en-US" sz="1100" dirty="0"/>
          </a:p>
          <a:p>
            <a:pPr indent="0" marL="0">
              <a:spcBef>
                <a:spcPts val="400"/>
              </a:spcBef>
              <a:buNone/>
            </a:pPr>
            <a:r>
              <a:rPr lang="en-US" sz="1400" dirty="0">
                <a:solidFill>
                  <a:srgbClr val="18212F"/>
                </a:solidFill>
              </a:rPr>
              <a:t>항목별 점수와 빠진 정의 목록. 업무 사실(임가공과 Assembly는 별개, MDM 암호화는 범위 밖 등)을 답하고 다시 평가하기를 여러 번 반복.</a:t>
            </a:r>
            <a:endParaRPr lang="en-US" sz="1100" dirty="0"/>
          </a:p>
        </p:txBody>
      </p:sp>
      <p:sp>
        <p:nvSpPr>
          <p:cNvPr id="6" name="Text 4"/>
          <p:cNvSpPr txBox="1"/>
          <p:nvPr/>
        </p:nvSpPr>
        <p:spPr>
          <a:xfrm>
            <a:off x="5715000" y="1600200"/>
            <a:ext cx="914400" cy="859536"/>
          </a:xfrm>
          <a:prstGeom prst="rect">
            <a:avLst/>
          </a:prstGeom>
          <a:noFill/>
          <a:ln/>
        </p:spPr>
        <p:txBody>
          <a:bodyPr wrap="square" lIns="0" tIns="0" rIns="0" bIns="0" rtlCol="0" anchor="t"/>
          <a:lstStyle/>
          <a:p>
            <a:pPr indent="0" marL="0">
              <a:buNone/>
            </a:pPr>
            <a:r>
              <a:rPr lang="en-US" sz="1200" dirty="0">
                <a:solidFill>
                  <a:srgbClr val="5B6678"/>
                </a:solidFill>
                <a:latin typeface="Consolas" pitchFamily="34" charset="0"/>
                <a:ea typeface="Consolas" pitchFamily="34" charset="-122"/>
                <a:cs typeface="Consolas" pitchFamily="34" charset="-120"/>
              </a:rPr>
              <a:t>9/23</a:t>
            </a:r>
            <a:endParaRPr lang="en-US" sz="1200" dirty="0"/>
          </a:p>
        </p:txBody>
      </p:sp>
      <p:sp>
        <p:nvSpPr>
          <p:cNvPr id="7" name="Text 5"/>
          <p:cNvSpPr txBox="1"/>
          <p:nvPr/>
        </p:nvSpPr>
        <p:spPr>
          <a:xfrm>
            <a:off x="6675120" y="1600200"/>
            <a:ext cx="3824935" cy="859536"/>
          </a:xfrm>
          <a:prstGeom prst="rect">
            <a:avLst/>
          </a:prstGeom>
          <a:noFill/>
          <a:ln/>
        </p:spPr>
        <p:txBody>
          <a:bodyPr wrap="square" lIns="0" tIns="0" rIns="0" bIns="0" rtlCol="0" anchor="t"/>
          <a:lstStyle/>
          <a:p>
            <a:pPr indent="0" marL="0">
              <a:buNone/>
            </a:pPr>
            <a:r>
              <a:rPr lang="en-US" sz="1500" b="1" dirty="0">
                <a:solidFill>
                  <a:srgbClr val="18212F"/>
                </a:solidFill>
              </a:rPr>
              <a:t>도메인정의서</a:t>
            </a:r>
            <a:endParaRPr lang="en-US" sz="1500" dirty="0"/>
          </a:p>
          <a:p>
            <a:pPr indent="0" marL="0">
              <a:buNone/>
            </a:pPr>
            <a:r>
              <a:rPr lang="en-US" sz="1300" dirty="0">
                <a:solidFill>
                  <a:srgbClr val="5B6678"/>
                </a:solidFill>
              </a:rPr>
              <a:t>역할 부여: "너는 최고의 반도체 설계자이면서 웹 인프라 전문가야"</a:t>
            </a:r>
            <a:endParaRPr lang="en-US" sz="1500" dirty="0"/>
          </a:p>
        </p:txBody>
      </p:sp>
      <p:sp>
        <p:nvSpPr>
          <p:cNvPr id="8" name="Text 6"/>
          <p:cNvSpPr txBox="1"/>
          <p:nvPr/>
        </p:nvSpPr>
        <p:spPr>
          <a:xfrm>
            <a:off x="10545775" y="1600200"/>
            <a:ext cx="1097280" cy="274320"/>
          </a:xfrm>
          <a:prstGeom prst="rect">
            <a:avLst/>
          </a:prstGeom>
          <a:noFill/>
          <a:ln/>
        </p:spPr>
        <p:txBody>
          <a:bodyPr wrap="square" lIns="0" tIns="0" rIns="0" bIns="0" rtlCol="0" anchor="ctr"/>
          <a:lstStyle/>
          <a:p>
            <a:pPr algn="r" indent="0" marL="0">
              <a:buNone/>
            </a:pPr>
            <a:r>
              <a:rPr lang="en-US" sz="1100" dirty="0">
                <a:solidFill>
                  <a:srgbClr val="2B55C9"/>
                </a:solidFill>
                <a:latin typeface="Consolas" pitchFamily="34" charset="0"/>
                <a:ea typeface="Consolas" pitchFamily="34" charset="-122"/>
                <a:cs typeface="Consolas" pitchFamily="34" charset="-120"/>
              </a:rPr>
              <a:t>docs/1</a:t>
            </a:r>
            <a:endParaRPr lang="en-US" sz="1100" dirty="0"/>
          </a:p>
        </p:txBody>
      </p:sp>
      <p:sp>
        <p:nvSpPr>
          <p:cNvPr id="9" name="Shape 7"/>
          <p:cNvSpPr/>
          <p:nvPr/>
        </p:nvSpPr>
        <p:spPr>
          <a:xfrm>
            <a:off x="5715000" y="2487168"/>
            <a:ext cx="5928055" cy="0"/>
          </a:xfrm>
          <a:prstGeom prst="line">
            <a:avLst/>
          </a:prstGeom>
          <a:noFill/>
          <a:ln w="9525">
            <a:solidFill>
              <a:srgbClr val="D8DDE6"/>
            </a:solidFill>
            <a:prstDash val="dash"/>
          </a:ln>
        </p:spPr>
      </p:sp>
      <p:sp>
        <p:nvSpPr>
          <p:cNvPr id="10" name="Text 8"/>
          <p:cNvSpPr txBox="1"/>
          <p:nvPr/>
        </p:nvSpPr>
        <p:spPr>
          <a:xfrm>
            <a:off x="5715000" y="2532888"/>
            <a:ext cx="914400" cy="859536"/>
          </a:xfrm>
          <a:prstGeom prst="rect">
            <a:avLst/>
          </a:prstGeom>
          <a:noFill/>
          <a:ln/>
        </p:spPr>
        <p:txBody>
          <a:bodyPr wrap="square" lIns="0" tIns="0" rIns="0" bIns="0" rtlCol="0" anchor="t"/>
          <a:lstStyle/>
          <a:p>
            <a:pPr indent="0" marL="0">
              <a:buNone/>
            </a:pPr>
            <a:r>
              <a:rPr lang="en-US" sz="1200" dirty="0">
                <a:solidFill>
                  <a:srgbClr val="5B6678"/>
                </a:solidFill>
                <a:latin typeface="Consolas" pitchFamily="34" charset="0"/>
                <a:ea typeface="Consolas" pitchFamily="34" charset="-122"/>
                <a:cs typeface="Consolas" pitchFamily="34" charset="-120"/>
              </a:rPr>
              <a:t>9/28</a:t>
            </a:r>
            <a:endParaRPr lang="en-US" sz="1200" dirty="0"/>
          </a:p>
        </p:txBody>
      </p:sp>
      <p:sp>
        <p:nvSpPr>
          <p:cNvPr id="11" name="Text 9"/>
          <p:cNvSpPr txBox="1"/>
          <p:nvPr/>
        </p:nvSpPr>
        <p:spPr>
          <a:xfrm>
            <a:off x="6675120" y="2532888"/>
            <a:ext cx="3824935" cy="859536"/>
          </a:xfrm>
          <a:prstGeom prst="rect">
            <a:avLst/>
          </a:prstGeom>
          <a:noFill/>
          <a:ln/>
        </p:spPr>
        <p:txBody>
          <a:bodyPr wrap="square" lIns="0" tIns="0" rIns="0" bIns="0" rtlCol="0" anchor="t"/>
          <a:lstStyle/>
          <a:p>
            <a:pPr indent="0" marL="0">
              <a:buNone/>
            </a:pPr>
            <a:r>
              <a:rPr lang="en-US" sz="1500" b="1" dirty="0">
                <a:solidFill>
                  <a:srgbClr val="18212F"/>
                </a:solidFill>
              </a:rPr>
              <a:t>PRD · 사용자 시나리오</a:t>
            </a:r>
            <a:endParaRPr lang="en-US" sz="1500" dirty="0"/>
          </a:p>
          <a:p>
            <a:pPr indent="0" marL="0">
              <a:buNone/>
            </a:pPr>
            <a:r>
              <a:rPr lang="en-US" sz="1300" dirty="0">
                <a:solidFill>
                  <a:srgbClr val="5B6678"/>
                </a:solidFill>
              </a:rPr>
              <a:t>목표 사용자 100명+, 동시 편집, Svelte/Node/PostgreSQL 제약을 입력</a:t>
            </a:r>
            <a:endParaRPr lang="en-US" sz="1500" dirty="0"/>
          </a:p>
        </p:txBody>
      </p:sp>
      <p:sp>
        <p:nvSpPr>
          <p:cNvPr id="12" name="Text 10"/>
          <p:cNvSpPr txBox="1"/>
          <p:nvPr/>
        </p:nvSpPr>
        <p:spPr>
          <a:xfrm>
            <a:off x="10545775" y="2532888"/>
            <a:ext cx="1097280" cy="274320"/>
          </a:xfrm>
          <a:prstGeom prst="rect">
            <a:avLst/>
          </a:prstGeom>
          <a:noFill/>
          <a:ln/>
        </p:spPr>
        <p:txBody>
          <a:bodyPr wrap="square" lIns="0" tIns="0" rIns="0" bIns="0" rtlCol="0" anchor="ctr"/>
          <a:lstStyle/>
          <a:p>
            <a:pPr algn="r" indent="0" marL="0">
              <a:buNone/>
            </a:pPr>
            <a:r>
              <a:rPr lang="en-US" sz="1100" dirty="0">
                <a:solidFill>
                  <a:srgbClr val="2B55C9"/>
                </a:solidFill>
                <a:latin typeface="Consolas" pitchFamily="34" charset="0"/>
                <a:ea typeface="Consolas" pitchFamily="34" charset="-122"/>
                <a:cs typeface="Consolas" pitchFamily="34" charset="-120"/>
              </a:rPr>
              <a:t>docs/2·3</a:t>
            </a:r>
            <a:endParaRPr lang="en-US" sz="1100" dirty="0"/>
          </a:p>
        </p:txBody>
      </p:sp>
      <p:sp>
        <p:nvSpPr>
          <p:cNvPr id="13" name="Shape 11"/>
          <p:cNvSpPr/>
          <p:nvPr/>
        </p:nvSpPr>
        <p:spPr>
          <a:xfrm>
            <a:off x="5715000" y="3419856"/>
            <a:ext cx="5928055" cy="0"/>
          </a:xfrm>
          <a:prstGeom prst="line">
            <a:avLst/>
          </a:prstGeom>
          <a:noFill/>
          <a:ln w="9525">
            <a:solidFill>
              <a:srgbClr val="D8DDE6"/>
            </a:solidFill>
            <a:prstDash val="dash"/>
          </a:ln>
        </p:spPr>
      </p:sp>
      <p:sp>
        <p:nvSpPr>
          <p:cNvPr id="14" name="Text 12"/>
          <p:cNvSpPr txBox="1"/>
          <p:nvPr/>
        </p:nvSpPr>
        <p:spPr>
          <a:xfrm>
            <a:off x="5715000" y="3465576"/>
            <a:ext cx="914400" cy="859536"/>
          </a:xfrm>
          <a:prstGeom prst="rect">
            <a:avLst/>
          </a:prstGeom>
          <a:noFill/>
          <a:ln/>
        </p:spPr>
        <p:txBody>
          <a:bodyPr wrap="square" lIns="0" tIns="0" rIns="0" bIns="0" rtlCol="0" anchor="t"/>
          <a:lstStyle/>
          <a:p>
            <a:pPr indent="0" marL="0">
              <a:buNone/>
            </a:pPr>
            <a:r>
              <a:rPr lang="en-US" sz="1200" dirty="0">
                <a:solidFill>
                  <a:srgbClr val="5B6678"/>
                </a:solidFill>
                <a:latin typeface="Consolas" pitchFamily="34" charset="0"/>
                <a:ea typeface="Consolas" pitchFamily="34" charset="-122"/>
                <a:cs typeface="Consolas" pitchFamily="34" charset="-120"/>
              </a:rPr>
              <a:t>9/29</a:t>
            </a:r>
            <a:endParaRPr lang="en-US" sz="1200" dirty="0"/>
          </a:p>
        </p:txBody>
      </p:sp>
      <p:sp>
        <p:nvSpPr>
          <p:cNvPr id="15" name="Text 13"/>
          <p:cNvSpPr txBox="1"/>
          <p:nvPr/>
        </p:nvSpPr>
        <p:spPr>
          <a:xfrm>
            <a:off x="6675120" y="3465576"/>
            <a:ext cx="3824935" cy="859536"/>
          </a:xfrm>
          <a:prstGeom prst="rect">
            <a:avLst/>
          </a:prstGeom>
          <a:noFill/>
          <a:ln/>
        </p:spPr>
        <p:txBody>
          <a:bodyPr wrap="square" lIns="0" tIns="0" rIns="0" bIns="0" rtlCol="0" anchor="t"/>
          <a:lstStyle/>
          <a:p>
            <a:pPr indent="0" marL="0">
              <a:buNone/>
            </a:pPr>
            <a:r>
              <a:rPr lang="en-US" sz="1500" b="1" dirty="0">
                <a:solidFill>
                  <a:srgbClr val="18212F"/>
                </a:solidFill>
              </a:rPr>
              <a:t>구조 원칙 · 아키텍처 · ERD</a:t>
            </a:r>
            <a:endParaRPr lang="en-US" sz="1500" dirty="0"/>
          </a:p>
          <a:p>
            <a:pPr indent="0" marL="0">
              <a:buNone/>
            </a:pPr>
            <a:r>
              <a:rPr lang="en-US" sz="1300" dirty="0">
                <a:solidFill>
                  <a:srgbClr val="5B6678"/>
                </a:solidFill>
              </a:rPr>
              <a:t>"인증은 자체 구현, 나중에 1차 인증으로 바꿔치기 가능한 구조"로 결정</a:t>
            </a:r>
            <a:endParaRPr lang="en-US" sz="1500" dirty="0"/>
          </a:p>
        </p:txBody>
      </p:sp>
      <p:sp>
        <p:nvSpPr>
          <p:cNvPr id="16" name="Text 14"/>
          <p:cNvSpPr txBox="1"/>
          <p:nvPr/>
        </p:nvSpPr>
        <p:spPr>
          <a:xfrm>
            <a:off x="10545775" y="3465576"/>
            <a:ext cx="1097280" cy="274320"/>
          </a:xfrm>
          <a:prstGeom prst="rect">
            <a:avLst/>
          </a:prstGeom>
          <a:noFill/>
          <a:ln/>
        </p:spPr>
        <p:txBody>
          <a:bodyPr wrap="square" lIns="0" tIns="0" rIns="0" bIns="0" rtlCol="0" anchor="ctr"/>
          <a:lstStyle/>
          <a:p>
            <a:pPr algn="r" indent="0" marL="0">
              <a:buNone/>
            </a:pPr>
            <a:r>
              <a:rPr lang="en-US" sz="1100" dirty="0">
                <a:solidFill>
                  <a:srgbClr val="2B55C9"/>
                </a:solidFill>
                <a:latin typeface="Consolas" pitchFamily="34" charset="0"/>
                <a:ea typeface="Consolas" pitchFamily="34" charset="-122"/>
                <a:cs typeface="Consolas" pitchFamily="34" charset="-120"/>
              </a:rPr>
              <a:t>docs/4·5·6</a:t>
            </a:r>
            <a:endParaRPr lang="en-US" sz="1100" dirty="0"/>
          </a:p>
        </p:txBody>
      </p:sp>
      <p:sp>
        <p:nvSpPr>
          <p:cNvPr id="17" name="Shape 15"/>
          <p:cNvSpPr/>
          <p:nvPr/>
        </p:nvSpPr>
        <p:spPr>
          <a:xfrm>
            <a:off x="5715000" y="4352544"/>
            <a:ext cx="5928055" cy="0"/>
          </a:xfrm>
          <a:prstGeom prst="line">
            <a:avLst/>
          </a:prstGeom>
          <a:noFill/>
          <a:ln w="9525">
            <a:solidFill>
              <a:srgbClr val="D8DDE6"/>
            </a:solidFill>
            <a:prstDash val="dash"/>
          </a:ln>
        </p:spPr>
      </p:sp>
      <p:sp>
        <p:nvSpPr>
          <p:cNvPr id="18" name="Text 16"/>
          <p:cNvSpPr txBox="1"/>
          <p:nvPr/>
        </p:nvSpPr>
        <p:spPr>
          <a:xfrm>
            <a:off x="5715000" y="4398264"/>
            <a:ext cx="914400" cy="859536"/>
          </a:xfrm>
          <a:prstGeom prst="rect">
            <a:avLst/>
          </a:prstGeom>
          <a:noFill/>
          <a:ln/>
        </p:spPr>
        <p:txBody>
          <a:bodyPr wrap="square" lIns="0" tIns="0" rIns="0" bIns="0" rtlCol="0" anchor="t"/>
          <a:lstStyle/>
          <a:p>
            <a:pPr indent="0" marL="0">
              <a:buNone/>
            </a:pPr>
            <a:r>
              <a:rPr lang="en-US" sz="1200" dirty="0">
                <a:solidFill>
                  <a:srgbClr val="5B6678"/>
                </a:solidFill>
                <a:latin typeface="Consolas" pitchFamily="34" charset="0"/>
                <a:ea typeface="Consolas" pitchFamily="34" charset="-122"/>
                <a:cs typeface="Consolas" pitchFamily="34" charset="-120"/>
              </a:rPr>
              <a:t>9/29</a:t>
            </a:r>
            <a:endParaRPr lang="en-US" sz="1200" dirty="0"/>
          </a:p>
        </p:txBody>
      </p:sp>
      <p:sp>
        <p:nvSpPr>
          <p:cNvPr id="19" name="Text 17"/>
          <p:cNvSpPr txBox="1"/>
          <p:nvPr/>
        </p:nvSpPr>
        <p:spPr>
          <a:xfrm>
            <a:off x="6675120" y="4398264"/>
            <a:ext cx="3824935" cy="859536"/>
          </a:xfrm>
          <a:prstGeom prst="rect">
            <a:avLst/>
          </a:prstGeom>
          <a:noFill/>
          <a:ln/>
        </p:spPr>
        <p:txBody>
          <a:bodyPr wrap="square" lIns="0" tIns="0" rIns="0" bIns="0" rtlCol="0" anchor="t"/>
          <a:lstStyle/>
          <a:p>
            <a:pPr indent="0" marL="0">
              <a:buNone/>
            </a:pPr>
            <a:r>
              <a:rPr lang="en-US" sz="1500" b="1" dirty="0">
                <a:solidFill>
                  <a:srgbClr val="18212F"/>
                </a:solidFill>
              </a:rPr>
              <a:t>DDL · 실행계획 · 와이어프레임</a:t>
            </a:r>
            <a:endParaRPr lang="en-US" sz="1500" dirty="0"/>
          </a:p>
          <a:p>
            <a:pPr indent="0" marL="0">
              <a:buNone/>
            </a:pPr>
            <a:r>
              <a:rPr lang="en-US" sz="1300" dirty="0">
                <a:solidFill>
                  <a:srgbClr val="5B6678"/>
                </a:solidFill>
              </a:rPr>
              <a:t>Task마다 완료 조건과 의존성을 체크박스로</a:t>
            </a:r>
            <a:endParaRPr lang="en-US" sz="1500" dirty="0"/>
          </a:p>
        </p:txBody>
      </p:sp>
      <p:sp>
        <p:nvSpPr>
          <p:cNvPr id="20" name="Text 18"/>
          <p:cNvSpPr txBox="1"/>
          <p:nvPr/>
        </p:nvSpPr>
        <p:spPr>
          <a:xfrm>
            <a:off x="10545775" y="4398264"/>
            <a:ext cx="1097280" cy="274320"/>
          </a:xfrm>
          <a:prstGeom prst="rect">
            <a:avLst/>
          </a:prstGeom>
          <a:noFill/>
          <a:ln/>
        </p:spPr>
        <p:txBody>
          <a:bodyPr wrap="square" lIns="0" tIns="0" rIns="0" bIns="0" rtlCol="0" anchor="ctr"/>
          <a:lstStyle/>
          <a:p>
            <a:pPr algn="r" indent="0" marL="0">
              <a:buNone/>
            </a:pPr>
            <a:r>
              <a:rPr lang="en-US" sz="1100" dirty="0">
                <a:solidFill>
                  <a:srgbClr val="2B55C9"/>
                </a:solidFill>
                <a:latin typeface="Consolas" pitchFamily="34" charset="0"/>
                <a:ea typeface="Consolas" pitchFamily="34" charset="-122"/>
                <a:cs typeface="Consolas" pitchFamily="34" charset="-120"/>
              </a:rPr>
              <a:t>docs/7·8</a:t>
            </a:r>
            <a:endParaRPr lang="en-US" sz="1100" dirty="0"/>
          </a:p>
        </p:txBody>
      </p:sp>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320040"/>
          </a:xfrm>
          <a:prstGeom prst="rect">
            <a:avLst/>
          </a:prstGeom>
          <a:noFill/>
          <a:ln/>
        </p:spPr>
        <p:txBody>
          <a:bodyPr wrap="square" lIns="0" tIns="0" rIns="0" bIns="0" rtlCol="0" anchor="ctr"/>
          <a:lstStyle/>
          <a:p>
            <a:pPr indent="0" marL="0">
              <a:buNone/>
            </a:pPr>
            <a:r>
              <a:rPr lang="en-US" sz="1200" dirty="0">
                <a:solidFill>
                  <a:srgbClr val="A4520C"/>
                </a:solidFill>
                <a:latin typeface="Consolas" pitchFamily="34" charset="0"/>
                <a:ea typeface="Consolas" pitchFamily="34" charset="-122"/>
                <a:cs typeface="Consolas" pitchFamily="34" charset="-120"/>
              </a:rPr>
              <a:t>2막 · 판단을 맡기는 법</a:t>
            </a:r>
            <a:endParaRPr lang="en-US" sz="1200" dirty="0"/>
          </a:p>
        </p:txBody>
      </p:sp>
      <p:sp>
        <p:nvSpPr>
          <p:cNvPr id="3" name="Text 0"/>
          <p:cNvSpPr/>
          <p:nvPr>
            <p:ph idx="101" type="title" hasCustomPrompt="1"/>
          </p:nvPr>
        </p:nvSpPr>
        <p:spPr>
          <a:xfrm>
            <a:off x="548640" y="658368"/>
            <a:ext cx="11094415" cy="731520"/>
          </a:xfrm>
          <a:prstGeom prst="rect">
            <a:avLst/>
          </a:prstGeom>
          <a:noFill/>
          <a:ln/>
        </p:spPr>
        <p:txBody>
          <a:bodyPr wrap="square" lIns="0" tIns="0" rIns="0" bIns="0" rtlCol="0" anchor="ctr"/>
          <a:lstStyle/>
          <a:p>
            <a:pPr algn="l" indent="0" marL="0">
              <a:buNone/>
            </a:pPr>
            <a:r>
              <a:rPr lang="en-US" sz="3000" b="1" dirty="0">
                <a:solidFill>
                  <a:srgbClr val="18212F"/>
                </a:solidFill>
              </a:rPr>
              <a:t>모르는 것은 "필요한지 판단해 달라"고 물었다</a:t>
            </a:r>
            <a:endParaRPr lang="en-US" sz="3000" dirty="0"/>
          </a:p>
        </p:txBody>
      </p:sp>
      <p:sp>
        <p:nvSpPr>
          <p:cNvPr id="4" name="input"/>
          <p:cNvSpPr txBox="1"/>
          <p:nvPr/>
        </p:nvSpPr>
        <p:spPr>
          <a:xfrm>
            <a:off x="548640" y="1600200"/>
            <a:ext cx="11094415" cy="1325880"/>
          </a:xfrm>
          <a:prstGeom prst="roundRect">
            <a:avLst>
              <a:gd name="adj" fmla="val 5517"/>
            </a:avLst>
          </a:prstGeom>
          <a:solidFill>
            <a:srgbClr val="FBEFE2"/>
          </a:solidFill>
          <a:ln>
            <a:solidFill>
              <a:srgbClr val="FBEFE2"/>
            </a:solidFill>
          </a:ln>
        </p:spPr>
        <p:txBody>
          <a:bodyPr wrap="square" lIns="127000" tIns="127000" rIns="127000" bIns="127000" rtlCol="0" anchor="t"/>
          <a:lstStyle/>
          <a:p>
            <a:pPr indent="0" marL="0">
              <a:buNone/>
            </a:pPr>
            <a:r>
              <a:rPr lang="en-US" sz="1100" b="1" dirty="0">
                <a:solidFill>
                  <a:srgbClr val="A4520C"/>
                </a:solidFill>
                <a:latin typeface="Consolas" pitchFamily="34" charset="0"/>
                <a:ea typeface="Consolas" pitchFamily="34" charset="-122"/>
                <a:cs typeface="Consolas" pitchFamily="34" charset="-120"/>
              </a:rPr>
              <a:t>❯ 내가 입력한 것</a:t>
            </a:r>
            <a:endParaRPr lang="en-US" sz="1100" dirty="0"/>
          </a:p>
          <a:p>
            <a:pPr indent="0" marL="0">
              <a:spcBef>
                <a:spcPts val="400"/>
              </a:spcBef>
              <a:buNone/>
            </a:pPr>
            <a:r>
              <a:rPr lang="en-US" sz="1500" dirty="0">
                <a:solidFill>
                  <a:srgbClr val="18212F"/>
                </a:solidFill>
              </a:rPr>
              <a:t>동영상에서는 아래 예시 프롬프트를 진행하라고 하네. 혹시 지금 내 과제에도 이 예시처럼 DDL 생성 과정이 필요한지 판단해주고 적절하다면 아래 예시대로 작업을 해줘. 만약 내 과제는 예시를 따를 필요가 없다면 알려줘. backend에 대해 잘 몰라서 내가 판단을 할 수가 없네.</a:t>
            </a:r>
            <a:endParaRPr lang="en-US" sz="1100" dirty="0"/>
          </a:p>
        </p:txBody>
      </p:sp>
      <p:sp>
        <p:nvSpPr>
          <p:cNvPr id="5" name="output"/>
          <p:cNvSpPr txBox="1"/>
          <p:nvPr/>
        </p:nvSpPr>
        <p:spPr>
          <a:xfrm>
            <a:off x="548640" y="3063240"/>
            <a:ext cx="11094415" cy="1051560"/>
          </a:xfrm>
          <a:prstGeom prst="roundRect">
            <a:avLst>
              <a:gd name="adj" fmla="val 6957"/>
            </a:avLst>
          </a:prstGeom>
          <a:solidFill>
            <a:srgbClr val="E1F2E8"/>
          </a:solidFill>
          <a:ln>
            <a:solidFill>
              <a:srgbClr val="E1F2E8"/>
            </a:solidFill>
          </a:ln>
        </p:spPr>
        <p:txBody>
          <a:bodyPr wrap="square" lIns="127000" tIns="127000" rIns="127000" bIns="127000" rtlCol="0" anchor="t"/>
          <a:lstStyle/>
          <a:p>
            <a:pPr indent="0" marL="0">
              <a:buNone/>
            </a:pPr>
            <a:r>
              <a:rPr lang="en-US" sz="1100" b="1" dirty="0">
                <a:solidFill>
                  <a:srgbClr val="1D7347"/>
                </a:solidFill>
                <a:latin typeface="Consolas" pitchFamily="34" charset="0"/>
                <a:ea typeface="Consolas" pitchFamily="34" charset="-122"/>
                <a:cs typeface="Consolas" pitchFamily="34" charset="-120"/>
              </a:rPr>
              <a:t>✓ 나온 결과</a:t>
            </a:r>
            <a:endParaRPr lang="en-US" sz="1100" dirty="0"/>
          </a:p>
          <a:p>
            <a:pPr indent="0" marL="0">
              <a:spcBef>
                <a:spcPts val="400"/>
              </a:spcBef>
              <a:buNone/>
            </a:pPr>
            <a:r>
              <a:rPr lang="en-US" sz="1500" dirty="0">
                <a:solidFill>
                  <a:srgbClr val="18212F"/>
                </a:solidFill>
              </a:rPr>
              <a:t>필요하다는 판단과 이유 → database/schema.sql 생성. 이후 이 DDL은 Knex 마이그레이션으로 옮겨졌고, "실제 스키마는 마이그레이션이 기준"이라는 규칙이 문서에 남음.</a:t>
            </a:r>
            <a:endParaRPr lang="en-US" sz="1100" dirty="0"/>
          </a:p>
        </p:txBody>
      </p:sp>
      <p:sp>
        <p:nvSpPr>
          <p:cNvPr id="6" name="Text 4"/>
          <p:cNvSpPr txBox="1"/>
          <p:nvPr/>
        </p:nvSpPr>
        <p:spPr>
          <a:xfrm>
            <a:off x="548640" y="4343400"/>
            <a:ext cx="11094415" cy="1188720"/>
          </a:xfrm>
          <a:prstGeom prst="rect">
            <a:avLst/>
          </a:prstGeom>
          <a:noFill/>
          <a:ln/>
        </p:spPr>
        <p:txBody>
          <a:bodyPr wrap="square" lIns="0" tIns="0" rIns="0" bIns="0" rtlCol="0" anchor="t"/>
          <a:lstStyle/>
          <a:p>
            <a:pPr indent="0" marL="0">
              <a:buNone/>
            </a:pPr>
            <a:r>
              <a:rPr lang="en-US" sz="1700" dirty="0">
                <a:solidFill>
                  <a:srgbClr val="5B6678"/>
                </a:solidFill>
              </a:rPr>
              <a:t>강좌 예시를 그대로 붙여 넣지 않고 "내 과제에도 맞는지"를 먼저 묻는 습관이 잘못된 산출물을 줄였습니다. 같은 방식으로 camelCase 필드명, 테스트 계정을 GitHub에 올릴지, MCP 설정을 저장소에 둘지도 Claude의 추천을 듣고 정했습니다.</a:t>
            </a:r>
            <a:endParaRPr lang="en-US" sz="1700" dirty="0"/>
          </a:p>
        </p:txBody>
      </p:sp>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320040"/>
          </a:xfrm>
          <a:prstGeom prst="rect">
            <a:avLst/>
          </a:prstGeom>
          <a:noFill/>
          <a:ln/>
        </p:spPr>
        <p:txBody>
          <a:bodyPr wrap="square" lIns="0" tIns="0" rIns="0" bIns="0" rtlCol="0" anchor="ctr"/>
          <a:lstStyle/>
          <a:p>
            <a:pPr indent="0" marL="0">
              <a:buNone/>
            </a:pPr>
            <a:r>
              <a:rPr lang="en-US" sz="1200" dirty="0">
                <a:solidFill>
                  <a:srgbClr val="A4520C"/>
                </a:solidFill>
                <a:latin typeface="Consolas" pitchFamily="34" charset="0"/>
                <a:ea typeface="Consolas" pitchFamily="34" charset="-122"/>
                <a:cs typeface="Consolas" pitchFamily="34" charset="-120"/>
              </a:rPr>
              <a:t>3막 · 10/1–10/4 · 계약과 도구</a:t>
            </a:r>
            <a:endParaRPr lang="en-US" sz="1200" dirty="0"/>
          </a:p>
        </p:txBody>
      </p:sp>
      <p:sp>
        <p:nvSpPr>
          <p:cNvPr id="3" name="Text 0"/>
          <p:cNvSpPr/>
          <p:nvPr>
            <p:ph idx="101" type="title" hasCustomPrompt="1"/>
          </p:nvPr>
        </p:nvSpPr>
        <p:spPr>
          <a:xfrm>
            <a:off x="548640" y="658368"/>
            <a:ext cx="11094415" cy="731520"/>
          </a:xfrm>
          <a:prstGeom prst="rect">
            <a:avLst/>
          </a:prstGeom>
          <a:noFill/>
          <a:ln/>
        </p:spPr>
        <p:txBody>
          <a:bodyPr wrap="square" lIns="0" tIns="0" rIns="0" bIns="0" rtlCol="0" anchor="ctr"/>
          <a:lstStyle/>
          <a:p>
            <a:pPr algn="l" indent="0" marL="0">
              <a:buNone/>
            </a:pPr>
            <a:r>
              <a:rPr lang="en-US" sz="3000" b="1" dirty="0">
                <a:solidFill>
                  <a:srgbClr val="18212F"/>
                </a:solidFill>
              </a:rPr>
              <a:t>코드 전에 API 계약(Swagger)과 개발 도구를 갖췄다</a:t>
            </a:r>
            <a:endParaRPr lang="en-US" sz="3000" dirty="0"/>
          </a:p>
        </p:txBody>
      </p:sp>
      <p:sp>
        <p:nvSpPr>
          <p:cNvPr id="4" name="Text 2"/>
          <p:cNvSpPr txBox="1"/>
          <p:nvPr/>
        </p:nvSpPr>
        <p:spPr>
          <a:xfrm>
            <a:off x="548640" y="1600200"/>
            <a:ext cx="914400" cy="886968"/>
          </a:xfrm>
          <a:prstGeom prst="rect">
            <a:avLst/>
          </a:prstGeom>
          <a:noFill/>
          <a:ln/>
        </p:spPr>
        <p:txBody>
          <a:bodyPr wrap="square" lIns="0" tIns="0" rIns="0" bIns="0" rtlCol="0" anchor="t"/>
          <a:lstStyle/>
          <a:p>
            <a:pPr indent="0" marL="0">
              <a:buNone/>
            </a:pPr>
            <a:r>
              <a:rPr lang="en-US" sz="1200" dirty="0">
                <a:solidFill>
                  <a:srgbClr val="5B6678"/>
                </a:solidFill>
                <a:latin typeface="Consolas" pitchFamily="34" charset="0"/>
                <a:ea typeface="Consolas" pitchFamily="34" charset="-122"/>
                <a:cs typeface="Consolas" pitchFamily="34" charset="-120"/>
              </a:rPr>
              <a:t>10/1</a:t>
            </a:r>
            <a:endParaRPr lang="en-US" sz="1200" dirty="0"/>
          </a:p>
        </p:txBody>
      </p:sp>
      <p:sp>
        <p:nvSpPr>
          <p:cNvPr id="5" name="Text 3"/>
          <p:cNvSpPr txBox="1"/>
          <p:nvPr/>
        </p:nvSpPr>
        <p:spPr>
          <a:xfrm>
            <a:off x="1508760" y="1600200"/>
            <a:ext cx="3931920" cy="886968"/>
          </a:xfrm>
          <a:prstGeom prst="rect">
            <a:avLst/>
          </a:prstGeom>
          <a:noFill/>
          <a:ln/>
        </p:spPr>
        <p:txBody>
          <a:bodyPr wrap="square" lIns="0" tIns="0" rIns="0" bIns="0" rtlCol="0" anchor="t"/>
          <a:lstStyle/>
          <a:p>
            <a:pPr indent="0" marL="0">
              <a:buNone/>
            </a:pPr>
            <a:r>
              <a:rPr lang="en-US" sz="1500" b="1" dirty="0">
                <a:solidFill>
                  <a:srgbClr val="18212F"/>
                </a:solidFill>
              </a:rPr>
              <a:t>Swagger 스펙 작성 → 문서와 일관성 검토</a:t>
            </a:r>
            <a:endParaRPr lang="en-US" sz="1500" dirty="0"/>
          </a:p>
          <a:p>
            <a:pPr indent="0" marL="0">
              <a:buNone/>
            </a:pPr>
            <a:r>
              <a:rPr lang="en-US" sz="1300" dirty="0">
                <a:solidFill>
                  <a:srgbClr val="5B6678"/>
                </a:solidFill>
              </a:rPr>
              <a:t>문서 5개를 근거로 OpenAPI 3.0.3 작성, 다른 서브에이전트가 교차 검토</a:t>
            </a:r>
            <a:endParaRPr lang="en-US" sz="1500" dirty="0"/>
          </a:p>
        </p:txBody>
      </p:sp>
      <p:sp>
        <p:nvSpPr>
          <p:cNvPr id="6" name="Text 4"/>
          <p:cNvSpPr txBox="1"/>
          <p:nvPr/>
        </p:nvSpPr>
        <p:spPr>
          <a:xfrm>
            <a:off x="5486400" y="1600200"/>
            <a:ext cx="1097280" cy="274320"/>
          </a:xfrm>
          <a:prstGeom prst="rect">
            <a:avLst/>
          </a:prstGeom>
          <a:noFill/>
          <a:ln/>
        </p:spPr>
        <p:txBody>
          <a:bodyPr wrap="square" lIns="0" tIns="0" rIns="0" bIns="0" rtlCol="0" anchor="ctr"/>
          <a:lstStyle/>
          <a:p>
            <a:pPr algn="r" indent="0" marL="0">
              <a:buNone/>
            </a:pPr>
            <a:r>
              <a:rPr lang="en-US" sz="1100" dirty="0">
                <a:solidFill>
                  <a:srgbClr val="2B55C9"/>
                </a:solidFill>
                <a:latin typeface="Consolas" pitchFamily="34" charset="0"/>
                <a:ea typeface="Consolas" pitchFamily="34" charset="-122"/>
                <a:cs typeface="Consolas" pitchFamily="34" charset="-120"/>
              </a:rPr>
              <a:t>swagger.json</a:t>
            </a:r>
            <a:endParaRPr lang="en-US" sz="1100" dirty="0"/>
          </a:p>
        </p:txBody>
      </p:sp>
      <p:sp>
        <p:nvSpPr>
          <p:cNvPr id="7" name="Shape 5"/>
          <p:cNvSpPr/>
          <p:nvPr/>
        </p:nvSpPr>
        <p:spPr>
          <a:xfrm>
            <a:off x="548640" y="2514600"/>
            <a:ext cx="6035040" cy="0"/>
          </a:xfrm>
          <a:prstGeom prst="line">
            <a:avLst/>
          </a:prstGeom>
          <a:noFill/>
          <a:ln w="9525">
            <a:solidFill>
              <a:srgbClr val="D8DDE6"/>
            </a:solidFill>
            <a:prstDash val="dash"/>
          </a:ln>
        </p:spPr>
      </p:sp>
      <p:sp>
        <p:nvSpPr>
          <p:cNvPr id="8" name="Text 6"/>
          <p:cNvSpPr txBox="1"/>
          <p:nvPr/>
        </p:nvSpPr>
        <p:spPr>
          <a:xfrm>
            <a:off x="548640" y="2560320"/>
            <a:ext cx="914400" cy="886968"/>
          </a:xfrm>
          <a:prstGeom prst="rect">
            <a:avLst/>
          </a:prstGeom>
          <a:noFill/>
          <a:ln/>
        </p:spPr>
        <p:txBody>
          <a:bodyPr wrap="square" lIns="0" tIns="0" rIns="0" bIns="0" rtlCol="0" anchor="t"/>
          <a:lstStyle/>
          <a:p>
            <a:pPr indent="0" marL="0">
              <a:buNone/>
            </a:pPr>
            <a:r>
              <a:rPr lang="en-US" sz="1200" dirty="0">
                <a:solidFill>
                  <a:srgbClr val="5B6678"/>
                </a:solidFill>
                <a:latin typeface="Consolas" pitchFamily="34" charset="0"/>
                <a:ea typeface="Consolas" pitchFamily="34" charset="-122"/>
                <a:cs typeface="Consolas" pitchFamily="34" charset="-120"/>
              </a:rPr>
              <a:t>10/2</a:t>
            </a:r>
            <a:endParaRPr lang="en-US" sz="1200" dirty="0"/>
          </a:p>
        </p:txBody>
      </p:sp>
      <p:sp>
        <p:nvSpPr>
          <p:cNvPr id="9" name="Text 7"/>
          <p:cNvSpPr txBox="1"/>
          <p:nvPr/>
        </p:nvSpPr>
        <p:spPr>
          <a:xfrm>
            <a:off x="1508760" y="2560320"/>
            <a:ext cx="3931920" cy="886968"/>
          </a:xfrm>
          <a:prstGeom prst="rect">
            <a:avLst/>
          </a:prstGeom>
          <a:noFill/>
          <a:ln/>
        </p:spPr>
        <p:txBody>
          <a:bodyPr wrap="square" lIns="0" tIns="0" rIns="0" bIns="0" rtlCol="0" anchor="t"/>
          <a:lstStyle/>
          <a:p>
            <a:pPr indent="0" marL="0">
              <a:buNone/>
            </a:pPr>
            <a:r>
              <a:rPr lang="en-US" sz="1500" b="1" dirty="0">
                <a:solidFill>
                  <a:srgbClr val="18212F"/>
                </a:solidFill>
              </a:rPr>
              <a:t>목(mock) API 서버</a:t>
            </a:r>
            <a:endParaRPr lang="en-US" sz="1500" dirty="0"/>
          </a:p>
          <a:p>
            <a:pPr indent="0" marL="0">
              <a:buNone/>
            </a:pPr>
            <a:r>
              <a:rPr lang="en-US" sz="1300" dirty="0">
                <a:solidFill>
                  <a:srgbClr val="5B6678"/>
                </a:solidFill>
              </a:rPr>
              <a:t>강좌의 npm 명령을 pnpm 환경에 맞게 바꿔 달라고 요청</a:t>
            </a:r>
            <a:endParaRPr lang="en-US" sz="1500" dirty="0"/>
          </a:p>
        </p:txBody>
      </p:sp>
      <p:sp>
        <p:nvSpPr>
          <p:cNvPr id="10" name="Text 8"/>
          <p:cNvSpPr txBox="1"/>
          <p:nvPr/>
        </p:nvSpPr>
        <p:spPr>
          <a:xfrm>
            <a:off x="5486400" y="2560320"/>
            <a:ext cx="1097280" cy="274320"/>
          </a:xfrm>
          <a:prstGeom prst="rect">
            <a:avLst/>
          </a:prstGeom>
          <a:noFill/>
          <a:ln/>
        </p:spPr>
        <p:txBody>
          <a:bodyPr wrap="square" lIns="0" tIns="0" rIns="0" bIns="0" rtlCol="0" anchor="ctr"/>
          <a:lstStyle/>
          <a:p>
            <a:pPr algn="r" indent="0" marL="0">
              <a:buNone/>
            </a:pPr>
            <a:r>
              <a:rPr lang="en-US" sz="1100" dirty="0">
                <a:solidFill>
                  <a:srgbClr val="2B55C9"/>
                </a:solidFill>
                <a:latin typeface="Consolas" pitchFamily="34" charset="0"/>
                <a:ea typeface="Consolas" pitchFamily="34" charset="-122"/>
                <a:cs typeface="Consolas" pitchFamily="34" charset="-120"/>
              </a:rPr>
              <a:t>mockup/</a:t>
            </a:r>
            <a:endParaRPr lang="en-US" sz="1100" dirty="0"/>
          </a:p>
        </p:txBody>
      </p:sp>
      <p:sp>
        <p:nvSpPr>
          <p:cNvPr id="11" name="Shape 9"/>
          <p:cNvSpPr/>
          <p:nvPr/>
        </p:nvSpPr>
        <p:spPr>
          <a:xfrm>
            <a:off x="548640" y="3474720"/>
            <a:ext cx="6035040" cy="0"/>
          </a:xfrm>
          <a:prstGeom prst="line">
            <a:avLst/>
          </a:prstGeom>
          <a:noFill/>
          <a:ln w="9525">
            <a:solidFill>
              <a:srgbClr val="D8DDE6"/>
            </a:solidFill>
            <a:prstDash val="dash"/>
          </a:ln>
        </p:spPr>
      </p:sp>
      <p:sp>
        <p:nvSpPr>
          <p:cNvPr id="12" name="Text 10"/>
          <p:cNvSpPr txBox="1"/>
          <p:nvPr/>
        </p:nvSpPr>
        <p:spPr>
          <a:xfrm>
            <a:off x="548640" y="3520440"/>
            <a:ext cx="914400" cy="886968"/>
          </a:xfrm>
          <a:prstGeom prst="rect">
            <a:avLst/>
          </a:prstGeom>
          <a:noFill/>
          <a:ln/>
        </p:spPr>
        <p:txBody>
          <a:bodyPr wrap="square" lIns="0" tIns="0" rIns="0" bIns="0" rtlCol="0" anchor="t"/>
          <a:lstStyle/>
          <a:p>
            <a:pPr indent="0" marL="0">
              <a:buNone/>
            </a:pPr>
            <a:r>
              <a:rPr lang="en-US" sz="1200" dirty="0">
                <a:solidFill>
                  <a:srgbClr val="5B6678"/>
                </a:solidFill>
                <a:latin typeface="Consolas" pitchFamily="34" charset="0"/>
                <a:ea typeface="Consolas" pitchFamily="34" charset="-122"/>
                <a:cs typeface="Consolas" pitchFamily="34" charset="-120"/>
              </a:rPr>
              <a:t>10/4</a:t>
            </a:r>
            <a:endParaRPr lang="en-US" sz="1200" dirty="0"/>
          </a:p>
        </p:txBody>
      </p:sp>
      <p:sp>
        <p:nvSpPr>
          <p:cNvPr id="13" name="Text 11"/>
          <p:cNvSpPr txBox="1"/>
          <p:nvPr/>
        </p:nvSpPr>
        <p:spPr>
          <a:xfrm>
            <a:off x="1508760" y="3520440"/>
            <a:ext cx="3931920" cy="886968"/>
          </a:xfrm>
          <a:prstGeom prst="rect">
            <a:avLst/>
          </a:prstGeom>
          <a:noFill/>
          <a:ln/>
        </p:spPr>
        <p:txBody>
          <a:bodyPr wrap="square" lIns="0" tIns="0" rIns="0" bIns="0" rtlCol="0" anchor="t"/>
          <a:lstStyle/>
          <a:p>
            <a:pPr indent="0" marL="0">
              <a:buNone/>
            </a:pPr>
            <a:r>
              <a:rPr lang="en-US" sz="1500" b="1" dirty="0">
                <a:solidFill>
                  <a:srgbClr val="18212F"/>
                </a:solidFill>
              </a:rPr>
              <a:t>PostgreSQL 원격 설치</a:t>
            </a:r>
            <a:endParaRPr lang="en-US" sz="1500" dirty="0"/>
          </a:p>
          <a:p>
            <a:pPr indent="0" marL="0">
              <a:buNone/>
            </a:pPr>
            <a:r>
              <a:rPr lang="en-US" sz="1300" dirty="0">
                <a:solidFill>
                  <a:srgbClr val="5B6678"/>
                </a:solidFill>
              </a:rPr>
              <a:t>"원격으로도 설치 가능할까?" → Windows 11에 설치 완료</a:t>
            </a:r>
            <a:endParaRPr lang="en-US" sz="1500" dirty="0"/>
          </a:p>
        </p:txBody>
      </p:sp>
      <p:sp>
        <p:nvSpPr>
          <p:cNvPr id="14" name="Text 12"/>
          <p:cNvSpPr txBox="1"/>
          <p:nvPr/>
        </p:nvSpPr>
        <p:spPr>
          <a:xfrm>
            <a:off x="5486400" y="3520440"/>
            <a:ext cx="1097280" cy="274320"/>
          </a:xfrm>
          <a:prstGeom prst="rect">
            <a:avLst/>
          </a:prstGeom>
          <a:noFill/>
          <a:ln/>
        </p:spPr>
        <p:txBody>
          <a:bodyPr wrap="square" lIns="0" tIns="0" rIns="0" bIns="0" rtlCol="0" anchor="ctr"/>
          <a:lstStyle/>
          <a:p>
            <a:pPr algn="r" indent="0" marL="0">
              <a:buNone/>
            </a:pPr>
            <a:r>
              <a:rPr lang="en-US" sz="1100" dirty="0">
                <a:solidFill>
                  <a:srgbClr val="2B55C9"/>
                </a:solidFill>
                <a:latin typeface="Consolas" pitchFamily="34" charset="0"/>
                <a:ea typeface="Consolas" pitchFamily="34" charset="-122"/>
                <a:cs typeface="Consolas" pitchFamily="34" charset="-120"/>
              </a:rPr>
              <a:t>DB</a:t>
            </a:r>
            <a:endParaRPr lang="en-US" sz="1100" dirty="0"/>
          </a:p>
        </p:txBody>
      </p:sp>
      <p:sp>
        <p:nvSpPr>
          <p:cNvPr id="15" name="Shape 13"/>
          <p:cNvSpPr/>
          <p:nvPr/>
        </p:nvSpPr>
        <p:spPr>
          <a:xfrm>
            <a:off x="548640" y="4434840"/>
            <a:ext cx="6035040" cy="0"/>
          </a:xfrm>
          <a:prstGeom prst="line">
            <a:avLst/>
          </a:prstGeom>
          <a:noFill/>
          <a:ln w="9525">
            <a:solidFill>
              <a:srgbClr val="D8DDE6"/>
            </a:solidFill>
            <a:prstDash val="dash"/>
          </a:ln>
        </p:spPr>
      </p:sp>
      <p:sp>
        <p:nvSpPr>
          <p:cNvPr id="16" name="Text 14"/>
          <p:cNvSpPr txBox="1"/>
          <p:nvPr/>
        </p:nvSpPr>
        <p:spPr>
          <a:xfrm>
            <a:off x="548640" y="4480560"/>
            <a:ext cx="914400" cy="886968"/>
          </a:xfrm>
          <a:prstGeom prst="rect">
            <a:avLst/>
          </a:prstGeom>
          <a:noFill/>
          <a:ln/>
        </p:spPr>
        <p:txBody>
          <a:bodyPr wrap="square" lIns="0" tIns="0" rIns="0" bIns="0" rtlCol="0" anchor="t"/>
          <a:lstStyle/>
          <a:p>
            <a:pPr indent="0" marL="0">
              <a:buNone/>
            </a:pPr>
            <a:r>
              <a:rPr lang="en-US" sz="1200" dirty="0">
                <a:solidFill>
                  <a:srgbClr val="5B6678"/>
                </a:solidFill>
                <a:latin typeface="Consolas" pitchFamily="34" charset="0"/>
                <a:ea typeface="Consolas" pitchFamily="34" charset="-122"/>
                <a:cs typeface="Consolas" pitchFamily="34" charset="-120"/>
              </a:rPr>
              <a:t>10/4</a:t>
            </a:r>
            <a:endParaRPr lang="en-US" sz="1200" dirty="0"/>
          </a:p>
        </p:txBody>
      </p:sp>
      <p:sp>
        <p:nvSpPr>
          <p:cNvPr id="17" name="Text 15"/>
          <p:cNvSpPr txBox="1"/>
          <p:nvPr/>
        </p:nvSpPr>
        <p:spPr>
          <a:xfrm>
            <a:off x="1508760" y="4480560"/>
            <a:ext cx="3931920" cy="886968"/>
          </a:xfrm>
          <a:prstGeom prst="rect">
            <a:avLst/>
          </a:prstGeom>
          <a:noFill/>
          <a:ln/>
        </p:spPr>
        <p:txBody>
          <a:bodyPr wrap="square" lIns="0" tIns="0" rIns="0" bIns="0" rtlCol="0" anchor="t"/>
          <a:lstStyle/>
          <a:p>
            <a:pPr indent="0" marL="0">
              <a:buNone/>
            </a:pPr>
            <a:r>
              <a:rPr lang="en-US" sz="1500" b="1" dirty="0">
                <a:solidFill>
                  <a:srgbClr val="18212F"/>
                </a:solidFill>
              </a:rPr>
              <a:t>MCP 서버 연결</a:t>
            </a:r>
            <a:endParaRPr lang="en-US" sz="1500" dirty="0"/>
          </a:p>
          <a:p>
            <a:pPr indent="0" marL="0">
              <a:buNone/>
            </a:pPr>
            <a:r>
              <a:rPr lang="en-US" sz="1300" dirty="0">
                <a:solidFill>
                  <a:srgbClr val="5B6678"/>
                </a:solidFill>
              </a:rPr>
              <a:t>sequential-thinking, context7, postgres-mcp</a:t>
            </a:r>
            <a:endParaRPr lang="en-US" sz="1500" dirty="0"/>
          </a:p>
        </p:txBody>
      </p:sp>
      <p:sp>
        <p:nvSpPr>
          <p:cNvPr id="18" name="Text 16"/>
          <p:cNvSpPr txBox="1"/>
          <p:nvPr/>
        </p:nvSpPr>
        <p:spPr>
          <a:xfrm>
            <a:off x="5486400" y="4480560"/>
            <a:ext cx="1097280" cy="274320"/>
          </a:xfrm>
          <a:prstGeom prst="rect">
            <a:avLst/>
          </a:prstGeom>
          <a:noFill/>
          <a:ln/>
        </p:spPr>
        <p:txBody>
          <a:bodyPr wrap="square" lIns="0" tIns="0" rIns="0" bIns="0" rtlCol="0" anchor="ctr"/>
          <a:lstStyle/>
          <a:p>
            <a:pPr algn="r" indent="0" marL="0">
              <a:buNone/>
            </a:pPr>
            <a:r>
              <a:rPr lang="en-US" sz="1100" dirty="0">
                <a:solidFill>
                  <a:srgbClr val="2B55C9"/>
                </a:solidFill>
                <a:latin typeface="Consolas" pitchFamily="34" charset="0"/>
                <a:ea typeface="Consolas" pitchFamily="34" charset="-122"/>
                <a:cs typeface="Consolas" pitchFamily="34" charset="-120"/>
              </a:rPr>
              <a:t>.mcp.json</a:t>
            </a:r>
            <a:endParaRPr lang="en-US" sz="1100" dirty="0"/>
          </a:p>
        </p:txBody>
      </p:sp>
      <p:sp>
        <p:nvSpPr>
          <p:cNvPr id="19" name="input"/>
          <p:cNvSpPr txBox="1"/>
          <p:nvPr/>
        </p:nvSpPr>
        <p:spPr>
          <a:xfrm>
            <a:off x="6903720" y="1600200"/>
            <a:ext cx="4739335" cy="1874520"/>
          </a:xfrm>
          <a:prstGeom prst="roundRect">
            <a:avLst>
              <a:gd name="adj" fmla="val 3902"/>
            </a:avLst>
          </a:prstGeom>
          <a:solidFill>
            <a:srgbClr val="FBEFE2"/>
          </a:solidFill>
          <a:ln>
            <a:solidFill>
              <a:srgbClr val="FBEFE2"/>
            </a:solidFill>
          </a:ln>
        </p:spPr>
        <p:txBody>
          <a:bodyPr wrap="square" lIns="127000" tIns="127000" rIns="127000" bIns="127000" rtlCol="0" anchor="t"/>
          <a:lstStyle/>
          <a:p>
            <a:pPr indent="0" marL="0">
              <a:buNone/>
            </a:pPr>
            <a:r>
              <a:rPr lang="en-US" sz="1100" b="1" dirty="0">
                <a:solidFill>
                  <a:srgbClr val="A4520C"/>
                </a:solidFill>
                <a:latin typeface="Consolas" pitchFamily="34" charset="0"/>
                <a:ea typeface="Consolas" pitchFamily="34" charset="-122"/>
                <a:cs typeface="Consolas" pitchFamily="34" charset="-120"/>
              </a:rPr>
              <a:t>❯ 내가 입력한 것</a:t>
            </a:r>
            <a:endParaRPr lang="en-US" sz="1100" dirty="0"/>
          </a:p>
          <a:p>
            <a:pPr indent="0" marL="0">
              <a:spcBef>
                <a:spcPts val="400"/>
              </a:spcBef>
              <a:buNone/>
            </a:pPr>
            <a:r>
              <a:rPr lang="en-US" sz="1400" dirty="0">
                <a:solidFill>
                  <a:srgbClr val="18212F"/>
                </a:solidFill>
              </a:rPr>
              <a:t>동영상 강좌는 /init을 통해 claude.md를 만들라고 하는데, /init은 처음에 한번만 하는 거 아니야? 혹시 지금껏 작업했던 것이 모두 reset 되어 버리는 것 아닌가 싶어서 먼저 확인하고 싶어.</a:t>
            </a:r>
            <a:endParaRPr lang="en-US" sz="1100" dirty="0"/>
          </a:p>
        </p:txBody>
      </p:sp>
      <p:sp>
        <p:nvSpPr>
          <p:cNvPr id="20" name="output"/>
          <p:cNvSpPr txBox="1"/>
          <p:nvPr/>
        </p:nvSpPr>
        <p:spPr>
          <a:xfrm>
            <a:off x="6903720" y="3611880"/>
            <a:ext cx="4739335" cy="1463040"/>
          </a:xfrm>
          <a:prstGeom prst="roundRect">
            <a:avLst>
              <a:gd name="adj" fmla="val 5000"/>
            </a:avLst>
          </a:prstGeom>
          <a:solidFill>
            <a:srgbClr val="E1F2E8"/>
          </a:solidFill>
          <a:ln>
            <a:solidFill>
              <a:srgbClr val="E1F2E8"/>
            </a:solidFill>
          </a:ln>
        </p:spPr>
        <p:txBody>
          <a:bodyPr wrap="square" lIns="127000" tIns="127000" rIns="127000" bIns="127000" rtlCol="0" anchor="t"/>
          <a:lstStyle/>
          <a:p>
            <a:pPr indent="0" marL="0">
              <a:buNone/>
            </a:pPr>
            <a:r>
              <a:rPr lang="en-US" sz="1100" b="1" dirty="0">
                <a:solidFill>
                  <a:srgbClr val="1D7347"/>
                </a:solidFill>
                <a:latin typeface="Consolas" pitchFamily="34" charset="0"/>
                <a:ea typeface="Consolas" pitchFamily="34" charset="-122"/>
                <a:cs typeface="Consolas" pitchFamily="34" charset="-120"/>
              </a:rPr>
              <a:t>✓ 나온 결과</a:t>
            </a:r>
            <a:endParaRPr lang="en-US" sz="1100" dirty="0"/>
          </a:p>
          <a:p>
            <a:pPr indent="0" marL="0">
              <a:spcBef>
                <a:spcPts val="400"/>
              </a:spcBef>
              <a:buNone/>
            </a:pPr>
            <a:r>
              <a:rPr lang="en-US" sz="1400" dirty="0">
                <a:solidFill>
                  <a:srgbClr val="18212F"/>
                </a:solidFill>
              </a:rPr>
              <a:t>/init은 CLAUDE.md만 다시 분석해 갱신하고 코드·문서는 그대로라는 설명 → 실행 후 git diff로 바뀐 부분을 보여 주고 커밋.</a:t>
            </a:r>
            <a:endParaRPr lang="en-US" sz="1100" dirty="0"/>
          </a:p>
        </p:txBody>
      </p:sp>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320040"/>
          </a:xfrm>
          <a:prstGeom prst="rect">
            <a:avLst/>
          </a:prstGeom>
          <a:noFill/>
          <a:ln/>
        </p:spPr>
        <p:txBody>
          <a:bodyPr wrap="square" lIns="0" tIns="0" rIns="0" bIns="0" rtlCol="0" anchor="ctr"/>
          <a:lstStyle/>
          <a:p>
            <a:pPr indent="0" marL="0">
              <a:buNone/>
            </a:pPr>
            <a:r>
              <a:rPr lang="en-US" sz="1200" dirty="0">
                <a:solidFill>
                  <a:srgbClr val="A4520C"/>
                </a:solidFill>
                <a:latin typeface="Consolas" pitchFamily="34" charset="0"/>
                <a:ea typeface="Consolas" pitchFamily="34" charset="-122"/>
                <a:cs typeface="Consolas" pitchFamily="34" charset="-120"/>
              </a:rPr>
              <a:t>4막 · 10/6 · 이슈화와 자동화</a:t>
            </a:r>
            <a:endParaRPr lang="en-US" sz="1200" dirty="0"/>
          </a:p>
        </p:txBody>
      </p:sp>
      <p:sp>
        <p:nvSpPr>
          <p:cNvPr id="3" name="Text 0"/>
          <p:cNvSpPr/>
          <p:nvPr>
            <p:ph idx="101" type="title" hasCustomPrompt="1"/>
          </p:nvPr>
        </p:nvSpPr>
        <p:spPr>
          <a:xfrm>
            <a:off x="548640" y="658368"/>
            <a:ext cx="11094415" cy="731520"/>
          </a:xfrm>
          <a:prstGeom prst="rect">
            <a:avLst/>
          </a:prstGeom>
          <a:noFill/>
          <a:ln/>
        </p:spPr>
        <p:txBody>
          <a:bodyPr wrap="square" lIns="0" tIns="0" rIns="0" bIns="0" rtlCol="0" anchor="ctr"/>
          <a:lstStyle/>
          <a:p>
            <a:pPr algn="l" indent="0" marL="0">
              <a:buNone/>
            </a:pPr>
            <a:r>
              <a:rPr lang="en-US" sz="3000" b="1" dirty="0">
                <a:solidFill>
                  <a:srgbClr val="18212F"/>
                </a:solidFill>
              </a:rPr>
              <a:t>실행계획을 GitHub 이슈 19개로, 처리 절차는 명령 하나로</a:t>
            </a:r>
            <a:endParaRPr lang="en-US" sz="3000" dirty="0"/>
          </a:p>
        </p:txBody>
      </p:sp>
      <p:sp>
        <p:nvSpPr>
          <p:cNvPr id="4" name="input"/>
          <p:cNvSpPr txBox="1"/>
          <p:nvPr/>
        </p:nvSpPr>
        <p:spPr>
          <a:xfrm>
            <a:off x="548640" y="1600200"/>
            <a:ext cx="5387188" cy="1920240"/>
          </a:xfrm>
          <a:prstGeom prst="roundRect">
            <a:avLst>
              <a:gd name="adj" fmla="val 3810"/>
            </a:avLst>
          </a:prstGeom>
          <a:solidFill>
            <a:srgbClr val="FBEFE2"/>
          </a:solidFill>
          <a:ln>
            <a:solidFill>
              <a:srgbClr val="FBEFE2"/>
            </a:solidFill>
          </a:ln>
        </p:spPr>
        <p:txBody>
          <a:bodyPr wrap="square" lIns="127000" tIns="127000" rIns="127000" bIns="127000" rtlCol="0" anchor="t"/>
          <a:lstStyle/>
          <a:p>
            <a:pPr indent="0" marL="0">
              <a:buNone/>
            </a:pPr>
            <a:r>
              <a:rPr lang="en-US" sz="1100" b="1" dirty="0">
                <a:solidFill>
                  <a:srgbClr val="A4520C"/>
                </a:solidFill>
                <a:latin typeface="Consolas" pitchFamily="34" charset="0"/>
                <a:ea typeface="Consolas" pitchFamily="34" charset="-122"/>
                <a:cs typeface="Consolas" pitchFamily="34" charset="-120"/>
              </a:rPr>
              <a:t>❯ 내가 입력한 것</a:t>
            </a:r>
            <a:endParaRPr lang="en-US" sz="1100" dirty="0"/>
          </a:p>
          <a:p>
            <a:pPr indent="0" marL="0">
              <a:spcBef>
                <a:spcPts val="400"/>
              </a:spcBef>
              <a:buNone/>
            </a:pPr>
            <a:r>
              <a:rPr lang="en-US" sz="1400" dirty="0">
                <a:solidFill>
                  <a:srgbClr val="18212F"/>
                </a:solidFill>
              </a:rPr>
              <a:t>전문화된 서브에이전트를 이용해 실행계획의 처리단계를 유지하면서 깃헙 이슈를 생성해줘. 반드시 지켜야 할 것: Title에 Stage 명시 · Label(종류, 영역, 복잡도) · Todo · 완료 조건 · 기술적 고려사항 · 의존성 · 선행/후행 작업</a:t>
            </a:r>
            <a:endParaRPr lang="en-US" sz="1100" dirty="0"/>
          </a:p>
        </p:txBody>
      </p:sp>
      <p:sp>
        <p:nvSpPr>
          <p:cNvPr id="5" name="output"/>
          <p:cNvSpPr txBox="1"/>
          <p:nvPr/>
        </p:nvSpPr>
        <p:spPr>
          <a:xfrm>
            <a:off x="548640" y="3657600"/>
            <a:ext cx="5387188" cy="1417320"/>
          </a:xfrm>
          <a:prstGeom prst="roundRect">
            <a:avLst>
              <a:gd name="adj" fmla="val 5161"/>
            </a:avLst>
          </a:prstGeom>
          <a:solidFill>
            <a:srgbClr val="E1F2E8"/>
          </a:solidFill>
          <a:ln>
            <a:solidFill>
              <a:srgbClr val="E1F2E8"/>
            </a:solidFill>
          </a:ln>
        </p:spPr>
        <p:txBody>
          <a:bodyPr wrap="square" lIns="127000" tIns="127000" rIns="127000" bIns="127000" rtlCol="0" anchor="t"/>
          <a:lstStyle/>
          <a:p>
            <a:pPr indent="0" marL="0">
              <a:buNone/>
            </a:pPr>
            <a:r>
              <a:rPr lang="en-US" sz="1100" b="1" dirty="0">
                <a:solidFill>
                  <a:srgbClr val="1D7347"/>
                </a:solidFill>
                <a:latin typeface="Consolas" pitchFamily="34" charset="0"/>
                <a:ea typeface="Consolas" pitchFamily="34" charset="-122"/>
                <a:cs typeface="Consolas" pitchFamily="34" charset="-120"/>
              </a:rPr>
              <a:t>✓ 나온 결과</a:t>
            </a:r>
            <a:endParaRPr lang="en-US" sz="1100" dirty="0"/>
          </a:p>
          <a:p>
            <a:pPr indent="0" marL="0">
              <a:spcBef>
                <a:spcPts val="400"/>
              </a:spcBef>
              <a:buNone/>
            </a:pPr>
            <a:r>
              <a:rPr lang="en-US" sz="1400" dirty="0">
                <a:solidFill>
                  <a:srgbClr val="18212F"/>
                </a:solidFill>
              </a:rPr>
              <a:t>Stage 1~6, 이슈 #1~#19 생성. 각 이슈에 근거 문서와 "⚠️ 문서 간 불일치"까지 적혀 있어 구현할 때 질문 목록이 됨.</a:t>
            </a:r>
            <a:endParaRPr lang="en-US" sz="1100" dirty="0"/>
          </a:p>
        </p:txBody>
      </p:sp>
      <p:sp>
        <p:nvSpPr>
          <p:cNvPr id="6" name="input"/>
          <p:cNvSpPr txBox="1"/>
          <p:nvPr/>
        </p:nvSpPr>
        <p:spPr>
          <a:xfrm>
            <a:off x="6255868" y="1600200"/>
            <a:ext cx="5387188" cy="1920240"/>
          </a:xfrm>
          <a:prstGeom prst="roundRect">
            <a:avLst>
              <a:gd name="adj" fmla="val 3810"/>
            </a:avLst>
          </a:prstGeom>
          <a:solidFill>
            <a:srgbClr val="FBEFE2"/>
          </a:solidFill>
          <a:ln>
            <a:solidFill>
              <a:srgbClr val="FBEFE2"/>
            </a:solidFill>
          </a:ln>
        </p:spPr>
        <p:txBody>
          <a:bodyPr wrap="square" lIns="127000" tIns="127000" rIns="127000" bIns="127000" rtlCol="0" anchor="t"/>
          <a:lstStyle/>
          <a:p>
            <a:pPr indent="0" marL="0">
              <a:buNone/>
            </a:pPr>
            <a:r>
              <a:rPr lang="en-US" sz="1100" b="1" dirty="0">
                <a:solidFill>
                  <a:srgbClr val="A4520C"/>
                </a:solidFill>
                <a:latin typeface="Consolas" pitchFamily="34" charset="0"/>
                <a:ea typeface="Consolas" pitchFamily="34" charset="-122"/>
                <a:cs typeface="Consolas" pitchFamily="34" charset="-120"/>
              </a:rPr>
              <a:t>❯ 내가 입력한 것</a:t>
            </a:r>
            <a:endParaRPr lang="en-US" sz="1100" dirty="0"/>
          </a:p>
          <a:p>
            <a:pPr indent="0" marL="0">
              <a:spcBef>
                <a:spcPts val="400"/>
              </a:spcBef>
              <a:buNone/>
            </a:pPr>
            <a:r>
              <a:rPr lang="en-US" sz="1400" dirty="0">
                <a:solidFill>
                  <a:srgbClr val="18212F"/>
                </a:solidFill>
              </a:rPr>
              <a:t>이슈를 처리할 때 사용할 Custom command 생성해줘. 경로는 .claude/commands/issue-resolver-backend.md</a:t>
            </a:r>
            <a:endParaRPr lang="en-US" sz="1100" dirty="0"/>
          </a:p>
        </p:txBody>
      </p:sp>
      <p:sp>
        <p:nvSpPr>
          <p:cNvPr id="7" name="output"/>
          <p:cNvSpPr txBox="1"/>
          <p:nvPr/>
        </p:nvSpPr>
        <p:spPr>
          <a:xfrm>
            <a:off x="6255868" y="3657600"/>
            <a:ext cx="5387188" cy="1417320"/>
          </a:xfrm>
          <a:prstGeom prst="roundRect">
            <a:avLst>
              <a:gd name="adj" fmla="val 5161"/>
            </a:avLst>
          </a:prstGeom>
          <a:solidFill>
            <a:srgbClr val="E1F2E8"/>
          </a:solidFill>
          <a:ln>
            <a:solidFill>
              <a:srgbClr val="E1F2E8"/>
            </a:solidFill>
          </a:ln>
        </p:spPr>
        <p:txBody>
          <a:bodyPr wrap="square" lIns="127000" tIns="127000" rIns="127000" bIns="127000" rtlCol="0" anchor="t"/>
          <a:lstStyle/>
          <a:p>
            <a:pPr indent="0" marL="0">
              <a:buNone/>
            </a:pPr>
            <a:r>
              <a:rPr lang="en-US" sz="1100" b="1" dirty="0">
                <a:solidFill>
                  <a:srgbClr val="1D7347"/>
                </a:solidFill>
                <a:latin typeface="Consolas" pitchFamily="34" charset="0"/>
                <a:ea typeface="Consolas" pitchFamily="34" charset="-122"/>
                <a:cs typeface="Consolas" pitchFamily="34" charset="-120"/>
              </a:rPr>
              <a:t>✓ 나온 결과</a:t>
            </a:r>
            <a:endParaRPr lang="en-US" sz="1100" dirty="0"/>
          </a:p>
          <a:p>
            <a:pPr indent="0" marL="0">
              <a:spcBef>
                <a:spcPts val="400"/>
              </a:spcBef>
              <a:buNone/>
            </a:pPr>
            <a:r>
              <a:rPr lang="en-US" sz="1400" dirty="0">
                <a:solidFill>
                  <a:srgbClr val="18212F"/>
                </a:solidFill>
              </a:rPr>
              <a:t>이슈 읽기 → 브랜치 → 코드 분석 → 계획 → 테스트·구현 병렬 → 테스트 실행까지 정해 둔 명령. 이후 /issue-resolver-backend 9처럼 번호만 넣으면 됨. 프론트용도 추가.</a:t>
            </a:r>
            <a:endParaRPr lang="en-US" sz="1100" dirty="0"/>
          </a:p>
        </p:txBody>
      </p:sp>
      <p:sp>
        <p:nvSpPr>
          <p:cNvPr id="8" name="Text 6"/>
          <p:cNvSpPr txBox="1"/>
          <p:nvPr/>
        </p:nvSpPr>
        <p:spPr>
          <a:xfrm>
            <a:off x="548640" y="5303520"/>
            <a:ext cx="11094415" cy="457200"/>
          </a:xfrm>
          <a:prstGeom prst="rect">
            <a:avLst/>
          </a:prstGeom>
          <a:noFill/>
          <a:ln/>
        </p:spPr>
        <p:txBody>
          <a:bodyPr wrap="square" lIns="0" tIns="0" rIns="0" bIns="0" rtlCol="0" anchor="t"/>
          <a:lstStyle/>
          <a:p>
            <a:pPr indent="0" marL="0">
              <a:buNone/>
            </a:pPr>
            <a:r>
              <a:rPr lang="en-US" sz="1200" dirty="0">
                <a:solidFill>
                  <a:srgbClr val="5B6678"/>
                </a:solidFill>
              </a:rPr>
              <a:t>gh 로그인이 원격에서 막혀 "원격 상태에서 이 명령을 어떻게 입력하지?"라고 물었고, 웹 인증 방식으로 해결했습니다.</a:t>
            </a:r>
            <a:endParaRPr lang="en-US" sz="1200" dirty="0"/>
          </a:p>
        </p:txBody>
      </p:sp>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320040"/>
          </a:xfrm>
          <a:prstGeom prst="rect">
            <a:avLst/>
          </a:prstGeom>
          <a:noFill/>
          <a:ln/>
        </p:spPr>
        <p:txBody>
          <a:bodyPr wrap="square" lIns="0" tIns="0" rIns="0" bIns="0" rtlCol="0" anchor="ctr"/>
          <a:lstStyle/>
          <a:p>
            <a:pPr indent="0" marL="0">
              <a:buNone/>
            </a:pPr>
            <a:r>
              <a:rPr lang="en-US" sz="1200" dirty="0">
                <a:solidFill>
                  <a:srgbClr val="A4520C"/>
                </a:solidFill>
                <a:latin typeface="Consolas" pitchFamily="34" charset="0"/>
                <a:ea typeface="Consolas" pitchFamily="34" charset="-122"/>
                <a:cs typeface="Consolas" pitchFamily="34" charset="-120"/>
              </a:rPr>
              <a:t>5막 · 10/6–10/8 · 구현</a:t>
            </a:r>
            <a:endParaRPr lang="en-US" sz="1200" dirty="0"/>
          </a:p>
        </p:txBody>
      </p:sp>
      <p:sp>
        <p:nvSpPr>
          <p:cNvPr id="3" name="Text 0"/>
          <p:cNvSpPr/>
          <p:nvPr>
            <p:ph idx="101" type="title" hasCustomPrompt="1"/>
          </p:nvPr>
        </p:nvSpPr>
        <p:spPr>
          <a:xfrm>
            <a:off x="548640" y="658368"/>
            <a:ext cx="11094415" cy="731520"/>
          </a:xfrm>
          <a:prstGeom prst="rect">
            <a:avLst/>
          </a:prstGeom>
          <a:noFill/>
          <a:ln/>
        </p:spPr>
        <p:txBody>
          <a:bodyPr wrap="square" lIns="0" tIns="0" rIns="0" bIns="0" rtlCol="0" anchor="ctr"/>
          <a:lstStyle/>
          <a:p>
            <a:pPr algn="l" indent="0" marL="0">
              <a:buNone/>
            </a:pPr>
            <a:r>
              <a:rPr lang="en-US" sz="3000" b="1" dirty="0">
                <a:solidFill>
                  <a:srgbClr val="18212F"/>
                </a:solidFill>
              </a:rPr>
              <a:t>명령 한 줄 → PR → 머지, 이 루프를 열네 번</a:t>
            </a:r>
            <a:endParaRPr lang="en-US" sz="3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3291840"/>
                <a:gridCol w="6675120"/>
                <a:gridCol w="1124712"/>
              </a:tblGrid>
              <a:tr h="0">
                <a:tc>
                  <a:txBody>
                    <a:bodyPr/>
                    <a:lstStyle/>
                    <a:p>
                      <a:pPr indent="0" marL="0">
                        <a:buNone/>
                      </a:pPr>
                      <a:r>
                        <a:rPr lang="en-US" sz="1200" b="1" dirty="0">
                          <a:solidFill>
                            <a:srgbClr val="5B6678"/>
                          </a:solidFill>
                          <a:latin typeface="Malgun Gothic" pitchFamily="34" charset="0"/>
                          <a:ea typeface="Malgun Gothic" pitchFamily="34" charset="-122"/>
                          <a:cs typeface="Malgun Gothic" pitchFamily="34" charset="-120"/>
                        </a:rPr>
                        <a:t>입력</a:t>
                      </a:r>
                      <a:endParaRPr lang="en-US" sz="12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solidFill>
                      <a:srgbClr val="F3F5F8"/>
                    </a:solidFill>
                  </a:tcPr>
                </a:tc>
                <a:tc>
                  <a:txBody>
                    <a:bodyPr/>
                    <a:lstStyle/>
                    <a:p>
                      <a:pPr indent="0" marL="0">
                        <a:buNone/>
                      </a:pPr>
                      <a:r>
                        <a:rPr lang="en-US" sz="1200" b="1" dirty="0">
                          <a:solidFill>
                            <a:srgbClr val="5B6678"/>
                          </a:solidFill>
                          <a:latin typeface="Malgun Gothic" pitchFamily="34" charset="0"/>
                          <a:ea typeface="Malgun Gothic" pitchFamily="34" charset="-122"/>
                          <a:cs typeface="Malgun Gothic" pitchFamily="34" charset="-120"/>
                        </a:rPr>
                        <a:t>나온 것</a:t>
                      </a:r>
                      <a:endParaRPr lang="en-US" sz="12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solidFill>
                      <a:srgbClr val="F3F5F8"/>
                    </a:solidFill>
                  </a:tcPr>
                </a:tc>
                <a:tc>
                  <a:txBody>
                    <a:bodyPr/>
                    <a:lstStyle/>
                    <a:p>
                      <a:pPr indent="0" marL="0">
                        <a:buNone/>
                      </a:pPr>
                      <a:r>
                        <a:rPr lang="en-US" sz="1200" b="1" dirty="0">
                          <a:solidFill>
                            <a:srgbClr val="5B6678"/>
                          </a:solidFill>
                          <a:latin typeface="Malgun Gothic" pitchFamily="34" charset="0"/>
                          <a:ea typeface="Malgun Gothic" pitchFamily="34" charset="-122"/>
                          <a:cs typeface="Malgun Gothic" pitchFamily="34" charset="-120"/>
                        </a:rPr>
                        <a:t>PR</a:t>
                      </a:r>
                      <a:endParaRPr lang="en-US" sz="12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solidFill>
                      <a:srgbClr val="F3F5F8"/>
                    </a:solidFill>
                  </a:tcPr>
                </a:tc>
              </a:tr>
              <a:tr h="0">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/issue-resolver-backend + DB-1~4</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Knex 연결, 마이그레이션 4개 테이블, 시드 20행, 관리자 계정</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커밋</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BE-1 · BE-2 · BE-3</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Express 골격, 세션 로그인(Passport), Master 항목 API</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#20–22</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BE-4 · BE-5 · BE-6</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엑셀 업로드/다운로드, 낙관적 잠금(version), 일괄 의뢰확정 + SSE 실시간</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#23–25</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FE-1 · FE-2</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API 클라이언트 계층 + Vitest, 로그인 화면 (브라우저로 직접 확인)</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#26–27</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FE-6A · FE-3 · FE-4</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임가공·Master 서버 연동, Deliverables 신규 화면</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#28–31</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FE-6B · FE-5</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실시간 공유·충돌 안내·의뢰 확정, MapGen "Excel 파일 선택"</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#32–33</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bl>
          </a:graphicData>
        </a:graphic>
      </p:graphicFrame>
      <p:sp>
        <p:nvSpPr>
          <p:cNvPr id="5" name="input"/>
          <p:cNvSpPr txBox="1"/>
          <p:nvPr/>
        </p:nvSpPr>
        <p:spPr>
          <a:xfrm>
            <a:off x="548640" y="4206240"/>
            <a:ext cx="5120640" cy="1234440"/>
          </a:xfrm>
          <a:prstGeom prst="roundRect">
            <a:avLst>
              <a:gd name="adj" fmla="val 5926"/>
            </a:avLst>
          </a:prstGeom>
          <a:solidFill>
            <a:srgbClr val="FBEFE2"/>
          </a:solidFill>
          <a:ln>
            <a:solidFill>
              <a:srgbClr val="FBEFE2"/>
            </a:solidFill>
          </a:ln>
        </p:spPr>
        <p:txBody>
          <a:bodyPr wrap="square" lIns="127000" tIns="127000" rIns="127000" bIns="127000" rtlCol="0" anchor="t"/>
          <a:lstStyle/>
          <a:p>
            <a:pPr indent="0" marL="0">
              <a:buNone/>
            </a:pPr>
            <a:r>
              <a:rPr lang="en-US" sz="1100" b="1" dirty="0">
                <a:solidFill>
                  <a:srgbClr val="A4520C"/>
                </a:solidFill>
                <a:latin typeface="Consolas" pitchFamily="34" charset="0"/>
                <a:ea typeface="Consolas" pitchFamily="34" charset="-122"/>
                <a:cs typeface="Consolas" pitchFamily="34" charset="-120"/>
              </a:rPr>
              <a:t>❯ 내가 입력한 것</a:t>
            </a:r>
            <a:endParaRPr lang="en-US" sz="1100" dirty="0"/>
          </a:p>
          <a:p>
            <a:pPr indent="0" marL="0">
              <a:spcBef>
                <a:spcPts val="400"/>
              </a:spcBef>
              <a:buNone/>
            </a:pPr>
            <a:r>
              <a:rPr lang="en-US" sz="1400" dirty="0">
                <a:solidFill>
                  <a:srgbClr val="18212F"/>
                </a:solidFill>
              </a:rPr>
              <a:t>/issue-resolver-frontend 13  브라우저 확인은 API·코드 검증으로 대체해줘</a:t>
            </a:r>
            <a:endParaRPr lang="en-US" sz="1100" dirty="0"/>
          </a:p>
        </p:txBody>
      </p:sp>
      <p:sp>
        <p:nvSpPr>
          <p:cNvPr id="6" name="output"/>
          <p:cNvSpPr txBox="1"/>
          <p:nvPr/>
        </p:nvSpPr>
        <p:spPr>
          <a:xfrm>
            <a:off x="5989320" y="4206240"/>
            <a:ext cx="5653735" cy="1234440"/>
          </a:xfrm>
          <a:prstGeom prst="roundRect">
            <a:avLst>
              <a:gd name="adj" fmla="val 5926"/>
            </a:avLst>
          </a:prstGeom>
          <a:solidFill>
            <a:srgbClr val="E1F2E8"/>
          </a:solidFill>
          <a:ln>
            <a:solidFill>
              <a:srgbClr val="E1F2E8"/>
            </a:solidFill>
          </a:ln>
        </p:spPr>
        <p:txBody>
          <a:bodyPr wrap="square" lIns="127000" tIns="127000" rIns="127000" bIns="127000" rtlCol="0" anchor="t"/>
          <a:lstStyle/>
          <a:p>
            <a:pPr indent="0" marL="0">
              <a:buNone/>
            </a:pPr>
            <a:r>
              <a:rPr lang="en-US" sz="1100" b="1" dirty="0">
                <a:solidFill>
                  <a:srgbClr val="1D7347"/>
                </a:solidFill>
                <a:latin typeface="Consolas" pitchFamily="34" charset="0"/>
                <a:ea typeface="Consolas" pitchFamily="34" charset="-122"/>
                <a:cs typeface="Consolas" pitchFamily="34" charset="-120"/>
              </a:rPr>
              <a:t>✓ 나온 결과</a:t>
            </a:r>
            <a:endParaRPr lang="en-US" sz="1100" dirty="0"/>
          </a:p>
          <a:p>
            <a:pPr indent="0" marL="0">
              <a:spcBef>
                <a:spcPts val="400"/>
              </a:spcBef>
              <a:buNone/>
            </a:pPr>
            <a:r>
              <a:rPr lang="en-US" sz="1300" dirty="0">
                <a:solidFill>
                  <a:srgbClr val="18212F"/>
                </a:solidFill>
              </a:rPr>
              <a:t>회사에서는 화면을 볼 수 없어서 붙인 한 줄. 실제 서버에 API 요청을 보내 검증(FE-4 18항목, FE-6B 12항목)하고 화면 확인은 마지막 점검으로 미룸.</a:t>
            </a:r>
            <a:endParaRPr lang="en-US" sz="1100" dirty="0"/>
          </a:p>
        </p:txBody>
      </p:sp>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320040"/>
          </a:xfrm>
          <a:prstGeom prst="rect">
            <a:avLst/>
          </a:prstGeom>
          <a:noFill/>
          <a:ln/>
        </p:spPr>
        <p:txBody>
          <a:bodyPr wrap="square" lIns="0" tIns="0" rIns="0" bIns="0" rtlCol="0" anchor="ctr"/>
          <a:lstStyle/>
          <a:p>
            <a:pPr indent="0" marL="0">
              <a:buNone/>
            </a:pPr>
            <a:r>
              <a:rPr lang="en-US" sz="1200" dirty="0">
                <a:solidFill>
                  <a:srgbClr val="A4520C"/>
                </a:solidFill>
                <a:latin typeface="Consolas" pitchFamily="34" charset="0"/>
                <a:ea typeface="Consolas" pitchFamily="34" charset="-122"/>
                <a:cs typeface="Consolas" pitchFamily="34" charset="-120"/>
              </a:rPr>
              <a:t>6막 · 10/8–10/9 · 통합 점검</a:t>
            </a:r>
            <a:endParaRPr lang="en-US" sz="1200" dirty="0"/>
          </a:p>
        </p:txBody>
      </p:sp>
      <p:sp>
        <p:nvSpPr>
          <p:cNvPr id="3" name="Text 0"/>
          <p:cNvSpPr/>
          <p:nvPr>
            <p:ph idx="101" type="title" hasCustomPrompt="1"/>
          </p:nvPr>
        </p:nvSpPr>
        <p:spPr>
          <a:xfrm>
            <a:off x="548640" y="658368"/>
            <a:ext cx="11094415" cy="731520"/>
          </a:xfrm>
          <a:prstGeom prst="rect">
            <a:avLst/>
          </a:prstGeom>
          <a:noFill/>
          <a:ln/>
        </p:spPr>
        <p:txBody>
          <a:bodyPr wrap="square" lIns="0" tIns="0" rIns="0" bIns="0" rtlCol="0" anchor="ctr"/>
          <a:lstStyle/>
          <a:p>
            <a:pPr algn="l" indent="0" marL="0">
              <a:buNone/>
            </a:pPr>
            <a:r>
              <a:rPr lang="en-US" sz="3000" b="1" dirty="0">
                <a:solidFill>
                  <a:srgbClr val="18212F"/>
                </a:solidFill>
              </a:rPr>
              <a:t>백엔드는 72항목 API 점검, 프론트는 실제 Chrome으로</a:t>
            </a:r>
            <a:endParaRPr lang="en-US" sz="3000" dirty="0"/>
          </a:p>
        </p:txBody>
      </p:sp>
      <p:sp>
        <p:nvSpPr>
          <p:cNvPr id="4" name="input"/>
          <p:cNvSpPr txBox="1"/>
          <p:nvPr/>
        </p:nvSpPr>
        <p:spPr>
          <a:xfrm>
            <a:off x="548640" y="1600200"/>
            <a:ext cx="5387188" cy="1188720"/>
          </a:xfrm>
          <a:prstGeom prst="roundRect">
            <a:avLst>
              <a:gd name="adj" fmla="val 6154"/>
            </a:avLst>
          </a:prstGeom>
          <a:solidFill>
            <a:srgbClr val="FBEFE2"/>
          </a:solidFill>
          <a:ln>
            <a:solidFill>
              <a:srgbClr val="FBEFE2"/>
            </a:solidFill>
          </a:ln>
        </p:spPr>
        <p:txBody>
          <a:bodyPr wrap="square" lIns="127000" tIns="127000" rIns="127000" bIns="127000" rtlCol="0" anchor="t"/>
          <a:lstStyle/>
          <a:p>
            <a:pPr indent="0" marL="0">
              <a:buNone/>
            </a:pPr>
            <a:r>
              <a:rPr lang="en-US" sz="1100" b="1" dirty="0">
                <a:solidFill>
                  <a:srgbClr val="A4520C"/>
                </a:solidFill>
                <a:latin typeface="Consolas" pitchFamily="34" charset="0"/>
                <a:ea typeface="Consolas" pitchFamily="34" charset="-122"/>
                <a:cs typeface="Consolas" pitchFamily="34" charset="-120"/>
              </a:rPr>
              <a:t>❯ 내가 입력한 것</a:t>
            </a:r>
            <a:endParaRPr lang="en-US" sz="1100" dirty="0"/>
          </a:p>
          <a:p>
            <a:pPr indent="0" marL="0">
              <a:spcBef>
                <a:spcPts val="400"/>
              </a:spcBef>
              <a:buNone/>
            </a:pPr>
            <a:r>
              <a:rPr lang="en-US" sz="1400" dirty="0">
                <a:solidFill>
                  <a:srgbClr val="18212F"/>
                </a:solidFill>
              </a:rPr>
              <a:t>pc에 chrome 브라우저를 띄워놨는데 혹시 브라우저 동작까지 체크되는지 확인 부탁해</a:t>
            </a:r>
            <a:endParaRPr lang="en-US" sz="1100" dirty="0"/>
          </a:p>
        </p:txBody>
      </p:sp>
      <p:sp>
        <p:nvSpPr>
          <p:cNvPr id="5" name="output"/>
          <p:cNvSpPr txBox="1"/>
          <p:nvPr/>
        </p:nvSpPr>
        <p:spPr>
          <a:xfrm>
            <a:off x="548640" y="2926080"/>
            <a:ext cx="5387188" cy="1600200"/>
          </a:xfrm>
          <a:prstGeom prst="roundRect">
            <a:avLst>
              <a:gd name="adj" fmla="val 4571"/>
            </a:avLst>
          </a:prstGeom>
          <a:solidFill>
            <a:srgbClr val="E1F2E8"/>
          </a:solidFill>
          <a:ln>
            <a:solidFill>
              <a:srgbClr val="E1F2E8"/>
            </a:solidFill>
          </a:ln>
        </p:spPr>
        <p:txBody>
          <a:bodyPr wrap="square" lIns="127000" tIns="127000" rIns="127000" bIns="127000" rtlCol="0" anchor="t"/>
          <a:lstStyle/>
          <a:p>
            <a:pPr indent="0" marL="0">
              <a:buNone/>
            </a:pPr>
            <a:r>
              <a:rPr lang="en-US" sz="1100" b="1" dirty="0">
                <a:solidFill>
                  <a:srgbClr val="1D7347"/>
                </a:solidFill>
                <a:latin typeface="Consolas" pitchFamily="34" charset="0"/>
                <a:ea typeface="Consolas" pitchFamily="34" charset="-122"/>
                <a:cs typeface="Consolas" pitchFamily="34" charset="-120"/>
              </a:rPr>
              <a:t>✓ 나온 결과</a:t>
            </a:r>
            <a:endParaRPr lang="en-US" sz="1100" dirty="0"/>
          </a:p>
          <a:p>
            <a:pPr indent="0" marL="0">
              <a:spcBef>
                <a:spcPts val="400"/>
              </a:spcBef>
              <a:buNone/>
            </a:pPr>
            <a:r>
              <a:rPr lang="en-US" sz="1400" dirty="0">
                <a:solidFill>
                  <a:srgbClr val="18212F"/>
                </a:solidFill>
              </a:rPr>
              <a:t>Claude in Chrome 확장으로 실제 브라우저를 조작. 탭 2개로 실시간 반영, 동시 저장 충돌, 일반 사용자 권한, 서버를 껐다 켜며 재연결까지 확인.</a:t>
            </a:r>
            <a:endParaRPr lang="en-US" sz="1100" dirty="0"/>
          </a:p>
        </p:txBody>
      </p:sp>
      <p:sp>
        <p:nvSpPr>
          <p:cNvPr id="6" name="input"/>
          <p:cNvSpPr txBox="1"/>
          <p:nvPr/>
        </p:nvSpPr>
        <p:spPr>
          <a:xfrm>
            <a:off x="6255868" y="1600200"/>
            <a:ext cx="5387188" cy="1188720"/>
          </a:xfrm>
          <a:prstGeom prst="roundRect">
            <a:avLst>
              <a:gd name="adj" fmla="val 6154"/>
            </a:avLst>
          </a:prstGeom>
          <a:solidFill>
            <a:srgbClr val="FBEFE2"/>
          </a:solidFill>
          <a:ln>
            <a:solidFill>
              <a:srgbClr val="FBEFE2"/>
            </a:solidFill>
          </a:ln>
        </p:spPr>
        <p:txBody>
          <a:bodyPr wrap="square" lIns="127000" tIns="127000" rIns="127000" bIns="127000" rtlCol="0" anchor="t"/>
          <a:lstStyle/>
          <a:p>
            <a:pPr indent="0" marL="0">
              <a:buNone/>
            </a:pPr>
            <a:r>
              <a:rPr lang="en-US" sz="1100" b="1" dirty="0">
                <a:solidFill>
                  <a:srgbClr val="A4520C"/>
                </a:solidFill>
                <a:latin typeface="Consolas" pitchFamily="34" charset="0"/>
                <a:ea typeface="Consolas" pitchFamily="34" charset="-122"/>
                <a:cs typeface="Consolas" pitchFamily="34" charset="-120"/>
              </a:rPr>
              <a:t>❯ 내가 입력한 것</a:t>
            </a:r>
            <a:endParaRPr lang="en-US" sz="1100" dirty="0"/>
          </a:p>
          <a:p>
            <a:pPr indent="0" marL="0">
              <a:spcBef>
                <a:spcPts val="400"/>
              </a:spcBef>
              <a:buNone/>
            </a:pPr>
            <a:r>
              <a:rPr lang="en-US" sz="1300" dirty="0">
                <a:solidFill>
                  <a:srgbClr val="18212F"/>
                </a:solidFill>
              </a:rPr>
              <a:t>[첨부: MapGen_test_data.xlsx] 유사한 형식의 파일들을 Deliverables에 등록해줘. … 첫번째 sheet에 있는 image가 참조 이미지 영역에 보여져야 해.</a:t>
            </a:r>
            <a:endParaRPr lang="en-US" sz="1100" dirty="0"/>
          </a:p>
        </p:txBody>
      </p:sp>
      <p:sp>
        <p:nvSpPr>
          <p:cNvPr id="7" name="output"/>
          <p:cNvSpPr txBox="1"/>
          <p:nvPr/>
        </p:nvSpPr>
        <p:spPr>
          <a:xfrm>
            <a:off x="6255868" y="2926080"/>
            <a:ext cx="5387188" cy="1600200"/>
          </a:xfrm>
          <a:prstGeom prst="roundRect">
            <a:avLst>
              <a:gd name="adj" fmla="val 4571"/>
            </a:avLst>
          </a:prstGeom>
          <a:solidFill>
            <a:srgbClr val="E1F2E8"/>
          </a:solidFill>
          <a:ln>
            <a:solidFill>
              <a:srgbClr val="E1F2E8"/>
            </a:solidFill>
          </a:ln>
        </p:spPr>
        <p:txBody>
          <a:bodyPr wrap="square" lIns="127000" tIns="127000" rIns="127000" bIns="127000" rtlCol="0" anchor="t"/>
          <a:lstStyle/>
          <a:p>
            <a:pPr indent="0" marL="0">
              <a:buNone/>
            </a:pPr>
            <a:r>
              <a:rPr lang="en-US" sz="1100" b="1" dirty="0">
                <a:solidFill>
                  <a:srgbClr val="1D7347"/>
                </a:solidFill>
                <a:latin typeface="Consolas" pitchFamily="34" charset="0"/>
                <a:ea typeface="Consolas" pitchFamily="34" charset="-122"/>
                <a:cs typeface="Consolas" pitchFamily="34" charset="-120"/>
              </a:rPr>
              <a:t>✓ 나온 결과</a:t>
            </a:r>
            <a:endParaRPr lang="en-US" sz="1100" dirty="0"/>
          </a:p>
          <a:p>
            <a:pPr indent="0" marL="0">
              <a:spcBef>
                <a:spcPts val="400"/>
              </a:spcBef>
              <a:buNone/>
            </a:pPr>
            <a:r>
              <a:rPr lang="en-US" sz="1400" dirty="0">
                <a:solidFill>
                  <a:srgbClr val="18212F"/>
                </a:solidFill>
              </a:rPr>
              <a:t>샘플 기반 엑셀 5건 등록, 첫 시트 이미지 추출 기능 추가(PR #35). 그 과정에서 서버 렌더링 500 오류를 발견해 바로 고침.</a:t>
            </a:r>
            <a:endParaRPr lang="en-US" sz="1100" dirty="0"/>
          </a:p>
        </p:txBody>
      </p:sp>
      <p:sp>
        <p:nvSpPr>
          <p:cNvPr id="8" name="Text 6"/>
          <p:cNvSpPr txBox="1"/>
          <p:nvPr/>
        </p:nvSpPr>
        <p:spPr>
          <a:xfrm>
            <a:off x="548640" y="4800600"/>
            <a:ext cx="11094415" cy="822960"/>
          </a:xfrm>
          <a:prstGeom prst="rect">
            <a:avLst/>
          </a:prstGeom>
          <a:noFill/>
          <a:ln/>
        </p:spPr>
        <p:txBody>
          <a:bodyPr wrap="square" lIns="0" tIns="0" rIns="0" bIns="0" rtlCol="0" anchor="t"/>
          <a:lstStyle/>
          <a:p>
            <a:pPr indent="0" marL="0">
              <a:buNone/>
            </a:pPr>
            <a:r>
              <a:rPr lang="en-US" sz="1700" dirty="0">
                <a:solidFill>
                  <a:srgbClr val="5B6678"/>
                </a:solidFill>
              </a:rPr>
              <a:t>점검에서 나온 3건(빈 줄, Master 버튼, 탭 제목)은 이슈 #36~38로 만들었고, Master는 "아예 관리자만 보이게"로 요구를 바꿔 해결했습니다.</a:t>
            </a:r>
            <a:endParaRPr lang="en-US" sz="1700" dirty="0"/>
          </a:p>
        </p:txBody>
      </p:sp>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320040"/>
          </a:xfrm>
          <a:prstGeom prst="rect">
            <a:avLst/>
          </a:prstGeom>
          <a:noFill/>
          <a:ln/>
        </p:spPr>
        <p:txBody>
          <a:bodyPr wrap="square" lIns="0" tIns="0" rIns="0" bIns="0" rtlCol="0" anchor="ctr"/>
          <a:lstStyle/>
          <a:p>
            <a:pPr indent="0" marL="0">
              <a:buNone/>
            </a:pPr>
            <a:r>
              <a:rPr lang="en-US" sz="1200" dirty="0">
                <a:solidFill>
                  <a:srgbClr val="A4520C"/>
                </a:solidFill>
                <a:latin typeface="Consolas" pitchFamily="34" charset="0"/>
                <a:ea typeface="Consolas" pitchFamily="34" charset="-122"/>
                <a:cs typeface="Consolas" pitchFamily="34" charset="-120"/>
              </a:rPr>
              <a:t>잘 통한 입력 패턴</a:t>
            </a:r>
            <a:endParaRPr lang="en-US" sz="1200" dirty="0"/>
          </a:p>
        </p:txBody>
      </p:sp>
      <p:sp>
        <p:nvSpPr>
          <p:cNvPr id="3" name="Text 0"/>
          <p:cNvSpPr/>
          <p:nvPr>
            <p:ph idx="101" type="title" hasCustomPrompt="1"/>
          </p:nvPr>
        </p:nvSpPr>
        <p:spPr>
          <a:xfrm>
            <a:off x="548640" y="658368"/>
            <a:ext cx="11094415" cy="731520"/>
          </a:xfrm>
          <a:prstGeom prst="rect">
            <a:avLst/>
          </a:prstGeom>
          <a:noFill/>
          <a:ln/>
        </p:spPr>
        <p:txBody>
          <a:bodyPr wrap="square" lIns="0" tIns="0" rIns="0" bIns="0" rtlCol="0" anchor="ctr"/>
          <a:lstStyle/>
          <a:p>
            <a:pPr algn="l" indent="0" marL="0">
              <a:buNone/>
            </a:pPr>
            <a:r>
              <a:rPr lang="en-US" sz="3000" b="1" dirty="0">
                <a:solidFill>
                  <a:srgbClr val="18212F"/>
                </a:solidFill>
              </a:rPr>
              <a:t>자주 쓴 프롬프트 레시피</a:t>
            </a:r>
            <a:endParaRPr lang="en-US" sz="3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2514600"/>
                <a:gridCol w="5074920"/>
                <a:gridCol w="3502152"/>
              </a:tblGrid>
              <a:tr h="0">
                <a:tc>
                  <a:txBody>
                    <a:bodyPr/>
                    <a:lstStyle/>
                    <a:p>
                      <a:pPr indent="0" marL="0">
                        <a:buNone/>
                      </a:pPr>
                      <a:r>
                        <a:rPr lang="en-US" sz="1200" b="1" dirty="0">
                          <a:solidFill>
                            <a:srgbClr val="5B6678"/>
                          </a:solidFill>
                          <a:latin typeface="Malgun Gothic" pitchFamily="34" charset="0"/>
                          <a:ea typeface="Malgun Gothic" pitchFamily="34" charset="-122"/>
                          <a:cs typeface="Malgun Gothic" pitchFamily="34" charset="-120"/>
                        </a:rPr>
                        <a:t>패턴</a:t>
                      </a:r>
                      <a:endParaRPr lang="en-US" sz="12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solidFill>
                      <a:srgbClr val="F3F5F8"/>
                    </a:solidFill>
                  </a:tcPr>
                </a:tc>
                <a:tc>
                  <a:txBody>
                    <a:bodyPr/>
                    <a:lstStyle/>
                    <a:p>
                      <a:pPr indent="0" marL="0">
                        <a:buNone/>
                      </a:pPr>
                      <a:r>
                        <a:rPr lang="en-US" sz="1200" b="1" dirty="0">
                          <a:solidFill>
                            <a:srgbClr val="5B6678"/>
                          </a:solidFill>
                          <a:latin typeface="Malgun Gothic" pitchFamily="34" charset="0"/>
                          <a:ea typeface="Malgun Gothic" pitchFamily="34" charset="-122"/>
                          <a:cs typeface="Malgun Gothic" pitchFamily="34" charset="-120"/>
                        </a:rPr>
                        <a:t>실제로 쓴 문장</a:t>
                      </a:r>
                      <a:endParaRPr lang="en-US" sz="12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solidFill>
                      <a:srgbClr val="F3F5F8"/>
                    </a:solidFill>
                  </a:tcPr>
                </a:tc>
                <a:tc>
                  <a:txBody>
                    <a:bodyPr/>
                    <a:lstStyle/>
                    <a:p>
                      <a:pPr indent="0" marL="0">
                        <a:buNone/>
                      </a:pPr>
                      <a:r>
                        <a:rPr lang="en-US" sz="1200" b="1" dirty="0">
                          <a:solidFill>
                            <a:srgbClr val="5B6678"/>
                          </a:solidFill>
                          <a:latin typeface="Malgun Gothic" pitchFamily="34" charset="0"/>
                          <a:ea typeface="Malgun Gothic" pitchFamily="34" charset="-122"/>
                          <a:cs typeface="Malgun Gothic" pitchFamily="34" charset="-120"/>
                        </a:rPr>
                        <a:t>효과</a:t>
                      </a:r>
                      <a:endParaRPr lang="en-US" sz="12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solidFill>
                      <a:srgbClr val="F3F5F8"/>
                    </a:solidFill>
                  </a:tcPr>
                </a:tc>
              </a:tr>
              <a:tr h="0">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전문가 역할 + 서브에이전트</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"적절한 서브에이전트를 사용해서 @docs/ 문서를 바탕으로 ~를 만들어줘"</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문서·이슈처럼 큰 산출물을 병렬로 만들고 교차 검토</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평가 기준 명시</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"5가지 항목(완전성·명확성·추적성·검증가능성·유지보수성)으로 평가해줘"</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무엇이 부족한지 목록으로 나와 고칠 곳이 분명</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질문을 허락하기</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"관련된 부분을 모두 찾아서 업데이트하고 모호한 부분은 나에게 물어봐줘"</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Claude가 임의로 정하지 않고 결정을 나에게 넘김</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판단부터 맡기기</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"내 과제에도 필요한지 판단해주고 적절하다면 해줘"</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강좌 예시를 그대로 따르다 생길 낭비를 막음</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반복 작업을 명령으로</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/issue-resolver-frontend 17 브라우저 확인은 API·코드 검증으로 대체</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이슈 처리 품질이 매번 같음 (테스트 80% 이상 포함)</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보여 달라고 하기</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"전체 내용을 보여줘", "git diff로 변경된 부분도 함께 보여줄래"</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원격이라 파일을 못 열어도 검토 가능</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끝맺음 고정</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"커밋하고 PR 만들어서 main에 머지해줘"</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작업 단위가 GitHub에 깔끔히 남음</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320040"/>
          </a:xfrm>
          <a:prstGeom prst="rect">
            <a:avLst/>
          </a:prstGeom>
          <a:noFill/>
          <a:ln/>
        </p:spPr>
        <p:txBody>
          <a:bodyPr wrap="square" lIns="0" tIns="0" rIns="0" bIns="0" rtlCol="0" anchor="ctr"/>
          <a:lstStyle/>
          <a:p>
            <a:pPr indent="0" marL="0">
              <a:buNone/>
            </a:pPr>
            <a:r>
              <a:rPr lang="en-US" sz="1200" dirty="0">
                <a:solidFill>
                  <a:srgbClr val="A4520C"/>
                </a:solidFill>
                <a:latin typeface="Consolas" pitchFamily="34" charset="0"/>
                <a:ea typeface="Consolas" pitchFamily="34" charset="-122"/>
                <a:cs typeface="Consolas" pitchFamily="34" charset="-120"/>
              </a:rPr>
              <a:t>시행착오</a:t>
            </a:r>
            <a:endParaRPr lang="en-US" sz="1200" dirty="0"/>
          </a:p>
        </p:txBody>
      </p:sp>
      <p:sp>
        <p:nvSpPr>
          <p:cNvPr id="3" name="Text 0"/>
          <p:cNvSpPr/>
          <p:nvPr>
            <p:ph idx="101" type="title" hasCustomPrompt="1"/>
          </p:nvPr>
        </p:nvSpPr>
        <p:spPr>
          <a:xfrm>
            <a:off x="548640" y="658368"/>
            <a:ext cx="11094415" cy="731520"/>
          </a:xfrm>
          <a:prstGeom prst="rect">
            <a:avLst/>
          </a:prstGeom>
          <a:noFill/>
          <a:ln/>
        </p:spPr>
        <p:txBody>
          <a:bodyPr wrap="square" lIns="0" tIns="0" rIns="0" bIns="0" rtlCol="0" anchor="ctr"/>
          <a:lstStyle/>
          <a:p>
            <a:pPr algn="l" indent="0" marL="0">
              <a:buNone/>
            </a:pPr>
            <a:r>
              <a:rPr lang="en-US" sz="3000" b="1" dirty="0">
                <a:solidFill>
                  <a:srgbClr val="18212F"/>
                </a:solidFill>
              </a:rPr>
              <a:t>막혔던 순간과 풀린 방법</a:t>
            </a:r>
            <a:endParaRPr lang="en-US" sz="3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2926080"/>
                <a:gridCol w="4069080"/>
                <a:gridCol w="4096512"/>
              </a:tblGrid>
              <a:tr h="0">
                <a:tc>
                  <a:txBody>
                    <a:bodyPr/>
                    <a:lstStyle/>
                    <a:p>
                      <a:pPr indent="0" marL="0">
                        <a:buNone/>
                      </a:pPr>
                      <a:r>
                        <a:rPr lang="en-US" sz="1200" b="1" dirty="0">
                          <a:solidFill>
                            <a:srgbClr val="5B6678"/>
                          </a:solidFill>
                          <a:latin typeface="Malgun Gothic" pitchFamily="34" charset="0"/>
                          <a:ea typeface="Malgun Gothic" pitchFamily="34" charset="-122"/>
                          <a:cs typeface="Malgun Gothic" pitchFamily="34" charset="-120"/>
                        </a:rPr>
                        <a:t>상황</a:t>
                      </a:r>
                      <a:endParaRPr lang="en-US" sz="12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solidFill>
                      <a:srgbClr val="F3F5F8"/>
                    </a:solidFill>
                  </a:tcPr>
                </a:tc>
                <a:tc>
                  <a:txBody>
                    <a:bodyPr/>
                    <a:lstStyle/>
                    <a:p>
                      <a:pPr indent="0" marL="0">
                        <a:buNone/>
                      </a:pPr>
                      <a:r>
                        <a:rPr lang="en-US" sz="1200" b="1" dirty="0">
                          <a:solidFill>
                            <a:srgbClr val="5B6678"/>
                          </a:solidFill>
                          <a:latin typeface="Malgun Gothic" pitchFamily="34" charset="0"/>
                          <a:ea typeface="Malgun Gothic" pitchFamily="34" charset="-122"/>
                          <a:cs typeface="Malgun Gothic" pitchFamily="34" charset="-120"/>
                        </a:rPr>
                        <a:t>무엇이 문제였나</a:t>
                      </a:r>
                      <a:endParaRPr lang="en-US" sz="12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solidFill>
                      <a:srgbClr val="F3F5F8"/>
                    </a:solidFill>
                  </a:tcPr>
                </a:tc>
                <a:tc>
                  <a:txBody>
                    <a:bodyPr/>
                    <a:lstStyle/>
                    <a:p>
                      <a:pPr indent="0" marL="0">
                        <a:buNone/>
                      </a:pPr>
                      <a:r>
                        <a:rPr lang="en-US" sz="1200" b="1" dirty="0">
                          <a:solidFill>
                            <a:srgbClr val="5B6678"/>
                          </a:solidFill>
                          <a:latin typeface="Malgun Gothic" pitchFamily="34" charset="0"/>
                          <a:ea typeface="Malgun Gothic" pitchFamily="34" charset="-122"/>
                          <a:cs typeface="Malgun Gothic" pitchFamily="34" charset="-120"/>
                        </a:rPr>
                        <a:t>어떻게 풀었나</a:t>
                      </a:r>
                      <a:endParaRPr lang="en-US" sz="12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solidFill>
                      <a:srgbClr val="F3F5F8"/>
                    </a:solidFill>
                  </a:tcPr>
                </a:tc>
              </a:tr>
              <a:tr h="0">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첫날 스냅샷 작업이 끝나지 않음</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원격에서 화면을 띄우려다 오래 걸림, 토큰 걱정</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중단 요청 → 집에서 직접 확인. 이후 "막히면 멈추고 알려줘"</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갑자기 영어로 답함</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/clear 직후, 긴 브라우저 작업 중 언어가 바뀜</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"항상 한글로"를 다시 요청, 메모리에도 기록</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/clear를 하면 규칙도 지워지나?</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대화를 지우는 명령이라 불안</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CLAUDE.md는 파일이라 그대로 유지된다는 확인</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Chrome 확장이 연결되지 않음</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확장이 다른 Chrome 프로필에만 설치됨</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Claude가 해당 프로필로 창을 열어 줌</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Offline으로 재연결 시험이 안 됨</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이미 열린 실시간 연결(SSE)은 개발자도구 Offline에도 안 끊김</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백엔드를 껐다 켜는 방식으로 재연결 검증</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로그인 버튼이 반응 없음</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며칠 전 켠 옛 개발 서버가 포트를 잡고 있었음</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옛 프로세스 정리 → 새로 실행 (Ctrl+C의 의미부터 질문)</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엑셀 라이브러리 취약점</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npm의 xlsx 0.18.5는 업데이트가 멈춘 버전</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SheetJS CDN의 0.20.3으로 교체, 결과 동일함을 확인</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320040"/>
          </a:xfrm>
          <a:prstGeom prst="rect">
            <a:avLst/>
          </a:prstGeom>
          <a:noFill/>
          <a:ln/>
        </p:spPr>
        <p:txBody>
          <a:bodyPr wrap="square" lIns="0" tIns="0" rIns="0" bIns="0" rtlCol="0" anchor="ctr"/>
          <a:lstStyle/>
          <a:p>
            <a:pPr indent="0" marL="0">
              <a:buNone/>
            </a:pPr>
            <a:r>
              <a:rPr lang="en-US" sz="1200" dirty="0">
                <a:solidFill>
                  <a:srgbClr val="A4520C"/>
                </a:solidFill>
                <a:latin typeface="Consolas" pitchFamily="34" charset="0"/>
                <a:ea typeface="Consolas" pitchFamily="34" charset="-122"/>
                <a:cs typeface="Consolas" pitchFamily="34" charset="-120"/>
              </a:rPr>
              <a:t>결과와 다음 단계</a:t>
            </a:r>
            <a:endParaRPr lang="en-US" sz="1200" dirty="0"/>
          </a:p>
        </p:txBody>
      </p:sp>
      <p:sp>
        <p:nvSpPr>
          <p:cNvPr id="3" name="Text 0"/>
          <p:cNvSpPr/>
          <p:nvPr>
            <p:ph idx="101" type="title" hasCustomPrompt="1"/>
          </p:nvPr>
        </p:nvSpPr>
        <p:spPr>
          <a:xfrm>
            <a:off x="548640" y="658368"/>
            <a:ext cx="11094415" cy="731520"/>
          </a:xfrm>
          <a:prstGeom prst="rect">
            <a:avLst/>
          </a:prstGeom>
          <a:noFill/>
          <a:ln/>
        </p:spPr>
        <p:txBody>
          <a:bodyPr wrap="square" lIns="0" tIns="0" rIns="0" bIns="0" rtlCol="0" anchor="ctr"/>
          <a:lstStyle/>
          <a:p>
            <a:pPr algn="l" indent="0" marL="0">
              <a:buNone/>
            </a:pPr>
            <a:r>
              <a:rPr lang="en-US" sz="3000" b="1" dirty="0">
                <a:solidFill>
                  <a:srgbClr val="18212F"/>
                </a:solidFill>
              </a:rPr>
              <a:t>지금 상태와 남은 일</a:t>
            </a:r>
            <a:endParaRPr lang="en-US" sz="30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6400800" cy="914400"/>
        </p:xfrm>
        <a:graphic>
          <a:graphicData uri="http://schemas.openxmlformats.org/drawingml/2006/table">
            <a:tbl>
              <a:tblPr/>
              <a:tblGrid>
                <a:gridCol w="1737360"/>
                <a:gridCol w="4663440"/>
              </a:tblGrid>
              <a:tr h="0">
                <a:tc>
                  <a:txBody>
                    <a:bodyPr/>
                    <a:lstStyle/>
                    <a:p>
                      <a:pPr indent="0" marL="0">
                        <a:buNone/>
                      </a:pPr>
                      <a:r>
                        <a:rPr lang="en-US" sz="1200" b="1" dirty="0">
                          <a:solidFill>
                            <a:srgbClr val="5B6678"/>
                          </a:solidFill>
                          <a:latin typeface="Malgun Gothic" pitchFamily="34" charset="0"/>
                          <a:ea typeface="Malgun Gothic" pitchFamily="34" charset="-122"/>
                          <a:cs typeface="Malgun Gothic" pitchFamily="34" charset="-120"/>
                        </a:rPr>
                        <a:t>화면</a:t>
                      </a:r>
                      <a:endParaRPr lang="en-US" sz="12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solidFill>
                      <a:srgbClr val="F3F5F8"/>
                    </a:solidFill>
                  </a:tcPr>
                </a:tc>
                <a:tc>
                  <a:txBody>
                    <a:bodyPr/>
                    <a:lstStyle/>
                    <a:p>
                      <a:pPr indent="0" marL="0">
                        <a:buNone/>
                      </a:pPr>
                      <a:r>
                        <a:rPr lang="en-US" sz="1200" b="1" dirty="0">
                          <a:solidFill>
                            <a:srgbClr val="5B6678"/>
                          </a:solidFill>
                          <a:latin typeface="Malgun Gothic" pitchFamily="34" charset="0"/>
                          <a:ea typeface="Malgun Gothic" pitchFamily="34" charset="-122"/>
                          <a:cs typeface="Malgun Gothic" pitchFamily="34" charset="-120"/>
                        </a:rPr>
                        <a:t>할 수 있는 것</a:t>
                      </a:r>
                      <a:endParaRPr lang="en-US" sz="12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solidFill>
                      <a:srgbClr val="F3F5F8"/>
                    </a:solidFill>
                  </a:tcPr>
                </a:tc>
              </a:tr>
              <a:tr h="0">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로그인</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세션 로그인, 30분 유휴 만료, 원래 페이지로 복귀</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Deliverables</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차수·공정명·엑셀 등록, 검색, 다운로드, 권한별 삭제</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MapGen Web</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붙여넣기 또는 엑셀 선택 → 첫 시트 이미지 위에 도면</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임가공 Plan</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여러 명 동시 편집, 실시간 반영, 충돌 안내, 의뢰 확정</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Master Page</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dropdown 항목 관리 (관리자 전용)</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bl>
          </a:graphicData>
        </a:graphic>
      </p:graphicFrame>
      <p:sp>
        <p:nvSpPr>
          <p:cNvPr id="5" name="output"/>
          <p:cNvSpPr txBox="1"/>
          <p:nvPr/>
        </p:nvSpPr>
        <p:spPr>
          <a:xfrm>
            <a:off x="7269480" y="1600200"/>
            <a:ext cx="4373575" cy="2240280"/>
          </a:xfrm>
          <a:prstGeom prst="roundRect">
            <a:avLst>
              <a:gd name="adj" fmla="val 3265"/>
            </a:avLst>
          </a:prstGeom>
          <a:solidFill>
            <a:srgbClr val="E1F2E8"/>
          </a:solidFill>
          <a:ln>
            <a:solidFill>
              <a:srgbClr val="E1F2E8"/>
            </a:solidFill>
          </a:ln>
        </p:spPr>
        <p:txBody>
          <a:bodyPr wrap="square" lIns="127000" tIns="127000" rIns="127000" bIns="127000" rtlCol="0" anchor="t"/>
          <a:lstStyle/>
          <a:p>
            <a:pPr indent="0" marL="0">
              <a:buNone/>
            </a:pPr>
            <a:r>
              <a:rPr lang="en-US" sz="1100" b="1" dirty="0">
                <a:solidFill>
                  <a:srgbClr val="1D7347"/>
                </a:solidFill>
                <a:latin typeface="Consolas" pitchFamily="34" charset="0"/>
                <a:ea typeface="Consolas" pitchFamily="34" charset="-122"/>
                <a:cs typeface="Consolas" pitchFamily="34" charset="-120"/>
              </a:rPr>
              <a:t>✓ 나온 결과</a:t>
            </a:r>
            <a:endParaRPr lang="en-US" sz="1100" dirty="0"/>
          </a:p>
          <a:p>
            <a:pPr marL="177800" indent="-177800">
              <a:spcBef>
                <a:spcPts val="400"/>
              </a:spcBef>
              <a:buSzPct val="100000"/>
              <a:buChar char="•"/>
            </a:pPr>
            <a:r>
              <a:rPr lang="en-US" sz="1300" dirty="0">
                <a:solidFill>
                  <a:srgbClr val="18212F"/>
                </a:solidFill>
              </a:rPr>
              <a:t>계획한 Task 19개(DB 4 · BE 7 · FE 8) 완료, 열린 이슈 0</a:t>
            </a:r>
            <a:endParaRPr lang="en-US" sz="1100" dirty="0"/>
          </a:p>
          <a:p>
            <a:pPr marL="177800" indent="-177800">
              <a:spcBef>
                <a:spcPts val="200"/>
              </a:spcBef>
              <a:buSzPct val="100000"/>
              <a:buChar char="•"/>
            </a:pPr>
            <a:r>
              <a:rPr lang="en-US" sz="1300" dirty="0">
                <a:solidFill>
                  <a:srgbClr val="18212F"/>
                </a:solidFill>
              </a:rPr>
              <a:t>설계 문서와 README를 현재 상태로 정리</a:t>
            </a:r>
            <a:endParaRPr lang="en-US" sz="1100" dirty="0"/>
          </a:p>
          <a:p>
            <a:pPr marL="177800" indent="-177800">
              <a:spcBef>
                <a:spcPts val="200"/>
              </a:spcBef>
              <a:buSzPct val="100000"/>
              <a:buChar char="•"/>
            </a:pPr>
            <a:r>
              <a:rPr lang="en-US" sz="1300" dirty="0">
                <a:solidFill>
                  <a:srgbClr val="18212F"/>
                </a:solidFill>
              </a:rPr>
              <a:t>남은 일: 운영 준비와 사내 배포 (다음 두 장의 계획 OP-1~OP-7)</a:t>
            </a:r>
            <a:endParaRPr lang="en-US" sz="1100" dirty="0"/>
          </a:p>
        </p:txBody>
      </p:sp>
      <p:sp>
        <p:nvSpPr>
          <p:cNvPr id="6" name="input"/>
          <p:cNvSpPr txBox="1"/>
          <p:nvPr/>
        </p:nvSpPr>
        <p:spPr>
          <a:xfrm>
            <a:off x="7269480" y="3977640"/>
            <a:ext cx="4373575" cy="1097280"/>
          </a:xfrm>
          <a:prstGeom prst="roundRect">
            <a:avLst>
              <a:gd name="adj" fmla="val 6667"/>
            </a:avLst>
          </a:prstGeom>
          <a:solidFill>
            <a:srgbClr val="FBEFE2"/>
          </a:solidFill>
          <a:ln>
            <a:solidFill>
              <a:srgbClr val="FBEFE2"/>
            </a:solidFill>
          </a:ln>
        </p:spPr>
        <p:txBody>
          <a:bodyPr wrap="square" lIns="127000" tIns="127000" rIns="127000" bIns="127000" rtlCol="0" anchor="t"/>
          <a:lstStyle/>
          <a:p>
            <a:pPr indent="0" marL="0">
              <a:buNone/>
            </a:pPr>
            <a:r>
              <a:rPr lang="en-US" sz="1100" b="1" dirty="0">
                <a:solidFill>
                  <a:srgbClr val="A4520C"/>
                </a:solidFill>
                <a:latin typeface="Consolas" pitchFamily="34" charset="0"/>
                <a:ea typeface="Consolas" pitchFamily="34" charset="-122"/>
                <a:cs typeface="Consolas" pitchFamily="34" charset="-120"/>
              </a:rPr>
              <a:t>❯ 내가 입력한 것</a:t>
            </a:r>
            <a:endParaRPr lang="en-US" sz="1100" dirty="0"/>
          </a:p>
          <a:p>
            <a:pPr indent="0" marL="0">
              <a:spcBef>
                <a:spcPts val="400"/>
              </a:spcBef>
              <a:buNone/>
            </a:pPr>
            <a:r>
              <a:rPr lang="en-US" sz="1300" dirty="0">
                <a:solidFill>
                  <a:srgbClr val="18212F"/>
                </a:solidFill>
              </a:rPr>
              <a:t>운영 이관 건은 사내 인프라 확인이 필요한 것 같네. 일단 운영 이관은 나중으로 생각하고…</a:t>
            </a:r>
            <a:endParaRPr lang="en-US" sz="1100" dirty="0"/>
          </a:p>
        </p:txBody>
      </p:sp>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320040"/>
          </a:xfrm>
          <a:prstGeom prst="rect">
            <a:avLst/>
          </a:prstGeom>
          <a:noFill/>
          <a:ln/>
        </p:spPr>
        <p:txBody>
          <a:bodyPr wrap="square" lIns="0" tIns="0" rIns="0" bIns="0" rtlCol="0" anchor="ctr"/>
          <a:lstStyle/>
          <a:p>
            <a:pPr indent="0" marL="0">
              <a:buNone/>
            </a:pPr>
            <a:r>
              <a:rPr lang="en-US" sz="1200" dirty="0">
                <a:solidFill>
                  <a:srgbClr val="A4520C"/>
                </a:solidFill>
                <a:latin typeface="Consolas" pitchFamily="34" charset="0"/>
                <a:ea typeface="Consolas" pitchFamily="34" charset="-122"/>
                <a:cs typeface="Consolas" pitchFamily="34" charset="-120"/>
              </a:rPr>
              <a:t>다음 단계 · 운영 계획 로드맵 · 2026-10-11 기준 예측</a:t>
            </a:r>
            <a:endParaRPr lang="en-US" sz="1200" dirty="0"/>
          </a:p>
        </p:txBody>
      </p:sp>
      <p:sp>
        <p:nvSpPr>
          <p:cNvPr id="3" name="Text 0"/>
          <p:cNvSpPr/>
          <p:nvPr>
            <p:ph idx="101" type="title" hasCustomPrompt="1"/>
          </p:nvPr>
        </p:nvSpPr>
        <p:spPr>
          <a:xfrm>
            <a:off x="548640" y="658368"/>
            <a:ext cx="11094415" cy="731520"/>
          </a:xfrm>
          <a:prstGeom prst="rect">
            <a:avLst/>
          </a:prstGeom>
          <a:noFill/>
          <a:ln/>
        </p:spPr>
        <p:txBody>
          <a:bodyPr wrap="square" lIns="0" tIns="0" rIns="0" bIns="0" rtlCol="0" anchor="ctr"/>
          <a:lstStyle/>
          <a:p>
            <a:pPr algn="l" indent="0" marL="0">
              <a:buNone/>
            </a:pPr>
            <a:r>
              <a:rPr lang="en-US" sz="3000" b="1" dirty="0">
                <a:solidFill>
                  <a:srgbClr val="18212F"/>
                </a:solidFill>
              </a:rPr>
              <a:t>개발을 마친 지금 예상하는 운영까지의 순서</a:t>
            </a:r>
            <a:endParaRPr lang="en-US" sz="30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777240"/>
                <a:gridCol w="1828800"/>
                <a:gridCol w="4846320"/>
                <a:gridCol w="2194560"/>
                <a:gridCol w="1444752"/>
              </a:tblGrid>
              <a:tr h="0">
                <a:tc>
                  <a:txBody>
                    <a:bodyPr/>
                    <a:lstStyle/>
                    <a:p>
                      <a:pPr indent="0" marL="0">
                        <a:buNone/>
                      </a:pPr>
                      <a:r>
                        <a:rPr lang="en-US" sz="1100" b="1" dirty="0">
                          <a:solidFill>
                            <a:srgbClr val="5B6678"/>
                          </a:solidFill>
                          <a:latin typeface="Malgun Gothic" pitchFamily="34" charset="0"/>
                          <a:ea typeface="Malgun Gothic" pitchFamily="34" charset="-122"/>
                          <a:cs typeface="Malgun Gothic" pitchFamily="34" charset="-120"/>
                        </a:rPr>
                        <a:t>번호</a:t>
                      </a:r>
                      <a:endParaRPr lang="en-US" sz="11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solidFill>
                      <a:srgbClr val="F3F5F8"/>
                    </a:solidFill>
                  </a:tcPr>
                </a:tc>
                <a:tc>
                  <a:txBody>
                    <a:bodyPr/>
                    <a:lstStyle/>
                    <a:p>
                      <a:pPr indent="0" marL="0">
                        <a:buNone/>
                      </a:pPr>
                      <a:r>
                        <a:rPr lang="en-US" sz="1100" b="1" dirty="0">
                          <a:solidFill>
                            <a:srgbClr val="5B6678"/>
                          </a:solidFill>
                          <a:latin typeface="Malgun Gothic" pitchFamily="34" charset="0"/>
                          <a:ea typeface="Malgun Gothic" pitchFamily="34" charset="-122"/>
                          <a:cs typeface="Malgun Gothic" pitchFamily="34" charset="-120"/>
                        </a:rPr>
                        <a:t>단계</a:t>
                      </a:r>
                      <a:endParaRPr lang="en-US" sz="11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solidFill>
                      <a:srgbClr val="F3F5F8"/>
                    </a:solidFill>
                  </a:tcPr>
                </a:tc>
                <a:tc>
                  <a:txBody>
                    <a:bodyPr/>
                    <a:lstStyle/>
                    <a:p>
                      <a:pPr indent="0" marL="0">
                        <a:buNone/>
                      </a:pPr>
                      <a:r>
                        <a:rPr lang="en-US" sz="1100" b="1" dirty="0">
                          <a:solidFill>
                            <a:srgbClr val="5B6678"/>
                          </a:solidFill>
                          <a:latin typeface="Malgun Gothic" pitchFamily="34" charset="0"/>
                          <a:ea typeface="Malgun Gothic" pitchFamily="34" charset="-122"/>
                          <a:cs typeface="Malgun Gothic" pitchFamily="34" charset="-120"/>
                        </a:rPr>
                        <a:t>예상하는 일</a:t>
                      </a:r>
                      <a:endParaRPr lang="en-US" sz="11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solidFill>
                      <a:srgbClr val="F3F5F8"/>
                    </a:solidFill>
                  </a:tcPr>
                </a:tc>
                <a:tc>
                  <a:txBody>
                    <a:bodyPr/>
                    <a:lstStyle/>
                    <a:p>
                      <a:pPr indent="0" marL="0">
                        <a:buNone/>
                      </a:pPr>
                      <a:r>
                        <a:rPr lang="en-US" sz="1100" b="1" dirty="0">
                          <a:solidFill>
                            <a:srgbClr val="5B6678"/>
                          </a:solidFill>
                          <a:latin typeface="Malgun Gothic" pitchFamily="34" charset="0"/>
                          <a:ea typeface="Malgun Gothic" pitchFamily="34" charset="-122"/>
                          <a:cs typeface="Malgun Gothic" pitchFamily="34" charset="-120"/>
                        </a:rPr>
                        <a:t>어디서 · 누구와</a:t>
                      </a:r>
                      <a:endParaRPr lang="en-US" sz="11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solidFill>
                      <a:srgbClr val="F3F5F8"/>
                    </a:solidFill>
                  </a:tcPr>
                </a:tc>
                <a:tc>
                  <a:txBody>
                    <a:bodyPr/>
                    <a:lstStyle/>
                    <a:p>
                      <a:pPr indent="0" marL="0">
                        <a:buNone/>
                      </a:pPr>
                      <a:r>
                        <a:rPr lang="en-US" sz="1100" b="1" dirty="0">
                          <a:solidFill>
                            <a:srgbClr val="5B6678"/>
                          </a:solidFill>
                          <a:latin typeface="Malgun Gothic" pitchFamily="34" charset="0"/>
                          <a:ea typeface="Malgun Gothic" pitchFamily="34" charset="-122"/>
                          <a:cs typeface="Malgun Gothic" pitchFamily="34" charset="-120"/>
                        </a:rPr>
                        <a:t>운영 후 실제</a:t>
                      </a:r>
                      <a:endParaRPr lang="en-US" sz="11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solidFill>
                      <a:srgbClr val="F3F5F8"/>
                    </a:solidFill>
                  </a:tcPr>
                </a:tc>
              </a:tr>
              <a:tr h="0">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OP-1</a:t>
                      </a:r>
                      <a:endParaRPr lang="en-US" sz="12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배포 형태 결정</a:t>
                      </a:r>
                      <a:endParaRPr lang="en-US" sz="12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독립 시스템으로 운영할지, 1차 시스템에 병합할지. 로그인은 자체 계정인지 1차 연동인지</a:t>
                      </a:r>
                      <a:endParaRPr lang="en-US" sz="12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나 · 1차 개발자 · 관리자</a:t>
                      </a:r>
                      <a:endParaRPr lang="en-US" sz="12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endParaRPr lang="en-US" sz="12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OP-2</a:t>
                      </a:r>
                      <a:endParaRPr lang="en-US" sz="12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운영 준비 개발</a:t>
                      </a:r>
                      <a:endParaRPr lang="en-US" sz="12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설정 분리, 서버 하나로 화면과 API 제공, 세션 DB 저장, 사용자 계정 관리, 자동 시작, 백업 스크립트, 설치 안내서</a:t>
                      </a:r>
                      <a:endParaRPr lang="en-US" sz="12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집 PC · Claude Code</a:t>
                      </a:r>
                      <a:endParaRPr lang="en-US" sz="12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endParaRPr lang="en-US" sz="12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OP-3</a:t>
                      </a:r>
                      <a:endParaRPr lang="en-US" sz="12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회사 PC 설치 확인</a:t>
                      </a:r>
                      <a:endParaRPr lang="en-US" sz="12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안내서대로 설치, 사내 실제 엑셀로 MapGen 확인, 다른 PC 접속·동시 편집</a:t>
                      </a:r>
                      <a:endParaRPr lang="en-US" sz="12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회사 개인 PC · 혼자</a:t>
                      </a:r>
                      <a:endParaRPr lang="en-US" sz="12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endParaRPr lang="en-US" sz="12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OP-4</a:t>
                      </a:r>
                      <a:endParaRPr lang="en-US" sz="12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운영 환경 준비</a:t>
                      </a:r>
                      <a:endParaRPr lang="en-US" sz="12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서버 OS·사양, PostgreSQL, 접속 주소, HTTPS 인증서, 방화벽</a:t>
                      </a:r>
                      <a:endParaRPr lang="en-US" sz="12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사내 서버 · 인프라 부서</a:t>
                      </a:r>
                      <a:endParaRPr lang="en-US" sz="12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endParaRPr lang="en-US" sz="12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OP-5</a:t>
                      </a:r>
                      <a:endParaRPr lang="en-US" sz="12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설치 · 초기 데이터</a:t>
                      </a:r>
                      <a:endParaRPr lang="en-US" sz="12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설치, 실제 Master 항목 값, 관리자·사용자 계정, 백업 자동화</a:t>
                      </a:r>
                      <a:endParaRPr lang="en-US" sz="12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사내 서버</a:t>
                      </a:r>
                      <a:endParaRPr lang="en-US" sz="12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endParaRPr lang="en-US" sz="12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OP-6</a:t>
                      </a:r>
                      <a:endParaRPr lang="en-US" sz="12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시범 운영</a:t>
                      </a:r>
                      <a:endParaRPr lang="en-US" sz="12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소수 사용자가 실제 업무로 사용, 문제 수정</a:t>
                      </a:r>
                      <a:endParaRPr lang="en-US" sz="12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파일럿 사용자</a:t>
                      </a:r>
                      <a:endParaRPr lang="en-US" sz="12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endParaRPr lang="en-US" sz="12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OP-7</a:t>
                      </a:r>
                      <a:endParaRPr lang="en-US" sz="12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정식 오픈 · 운영</a:t>
                      </a:r>
                      <a:endParaRPr lang="en-US" sz="12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매뉴얼과 공지, 정기 백업 확인, 업데이트 절차, 장애 대응</a:t>
                      </a:r>
                      <a:endParaRPr lang="en-US" sz="12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전체 사용자</a:t>
                      </a:r>
                      <a:endParaRPr lang="en-US" sz="12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endParaRPr lang="en-US" sz="12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bl>
          </a:graphicData>
        </a:graphic>
      </p:graphicFrame>
      <p:sp>
        <p:nvSpPr>
          <p:cNvPr id="5" name="Text 2"/>
          <p:cNvSpPr txBox="1"/>
          <p:nvPr/>
        </p:nvSpPr>
        <p:spPr>
          <a:xfrm>
            <a:off x="548640" y="4892040"/>
            <a:ext cx="11094415" cy="365760"/>
          </a:xfrm>
          <a:prstGeom prst="rect">
            <a:avLst/>
          </a:prstGeom>
          <a:noFill/>
          <a:ln/>
        </p:spPr>
        <p:txBody>
          <a:bodyPr wrap="square" lIns="0" tIns="0" rIns="0" bIns="0" rtlCol="0" anchor="t"/>
          <a:lstStyle/>
          <a:p>
            <a:pPr indent="0" marL="0">
              <a:buNone/>
            </a:pPr>
            <a:r>
              <a:rPr lang="en-US" sz="1200" dirty="0">
                <a:solidFill>
                  <a:srgbClr val="5B6678"/>
                </a:solidFill>
              </a:rPr>
              <a:t>개발 단계에서 세운 예측입니다. 운영이 끝나면 운영 편에서 항목마다 "예상대로 / 바뀜 / 새로 생김"을 마지막 칸에 기록해 비교합니다.</a:t>
            </a:r>
            <a:endParaRPr lang="en-US" sz="1200" dirty="0"/>
          </a:p>
        </p:txBody>
      </p:sp>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320040"/>
          </a:xfrm>
          <a:prstGeom prst="rect">
            <a:avLst/>
          </a:prstGeom>
          <a:noFill/>
          <a:ln/>
        </p:spPr>
        <p:txBody>
          <a:bodyPr wrap="square" lIns="0" tIns="0" rIns="0" bIns="0" rtlCol="0" anchor="ctr"/>
          <a:lstStyle/>
          <a:p>
            <a:pPr indent="0" marL="0">
              <a:buNone/>
            </a:pPr>
            <a:r>
              <a:rPr lang="en-US" sz="1200" dirty="0">
                <a:solidFill>
                  <a:srgbClr val="A4520C"/>
                </a:solidFill>
                <a:latin typeface="Consolas" pitchFamily="34" charset="0"/>
                <a:ea typeface="Consolas" pitchFamily="34" charset="-122"/>
                <a:cs typeface="Consolas" pitchFamily="34" charset="-120"/>
              </a:rPr>
              <a:t>다음 단계 · 운영 전에 확인할 것과 위험 · 2026-10-11 기준 예측</a:t>
            </a:r>
            <a:endParaRPr lang="en-US" sz="1200" dirty="0"/>
          </a:p>
        </p:txBody>
      </p:sp>
      <p:sp>
        <p:nvSpPr>
          <p:cNvPr id="3" name="Text 0"/>
          <p:cNvSpPr/>
          <p:nvPr>
            <p:ph idx="101" type="title" hasCustomPrompt="1"/>
          </p:nvPr>
        </p:nvSpPr>
        <p:spPr>
          <a:xfrm>
            <a:off x="548640" y="658368"/>
            <a:ext cx="11094415" cy="731520"/>
          </a:xfrm>
          <a:prstGeom prst="rect">
            <a:avLst/>
          </a:prstGeom>
          <a:noFill/>
          <a:ln/>
        </p:spPr>
        <p:txBody>
          <a:bodyPr wrap="square" lIns="0" tIns="0" rIns="0" bIns="0" rtlCol="0" anchor="ctr"/>
          <a:lstStyle/>
          <a:p>
            <a:pPr algn="l" indent="0" marL="0">
              <a:buNone/>
            </a:pPr>
            <a:r>
              <a:rPr lang="en-US" sz="3000" b="1" dirty="0">
                <a:solidFill>
                  <a:srgbClr val="18212F"/>
                </a:solidFill>
              </a:rPr>
              <a:t>사내 적용 전에 먼저 확인할 여섯 가지</a:t>
            </a:r>
            <a:endParaRPr lang="en-US" sz="30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777240"/>
                <a:gridCol w="3840480"/>
                <a:gridCol w="5029200"/>
                <a:gridCol w="1444752"/>
              </a:tblGrid>
              <a:tr h="0">
                <a:tc>
                  <a:txBody>
                    <a:bodyPr/>
                    <a:lstStyle/>
                    <a:p>
                      <a:pPr indent="0" marL="0">
                        <a:buNone/>
                      </a:pPr>
                      <a:r>
                        <a:rPr lang="en-US" sz="1200" b="1" dirty="0">
                          <a:solidFill>
                            <a:srgbClr val="5B6678"/>
                          </a:solidFill>
                          <a:latin typeface="Malgun Gothic" pitchFamily="34" charset="0"/>
                          <a:ea typeface="Malgun Gothic" pitchFamily="34" charset="-122"/>
                          <a:cs typeface="Malgun Gothic" pitchFamily="34" charset="-120"/>
                        </a:rPr>
                        <a:t>번호</a:t>
                      </a:r>
                      <a:endParaRPr lang="en-US" sz="12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solidFill>
                      <a:srgbClr val="F3F5F8"/>
                    </a:solidFill>
                  </a:tcPr>
                </a:tc>
                <a:tc>
                  <a:txBody>
                    <a:bodyPr/>
                    <a:lstStyle/>
                    <a:p>
                      <a:pPr indent="0" marL="0">
                        <a:buNone/>
                      </a:pPr>
                      <a:r>
                        <a:rPr lang="en-US" sz="1200" b="1" dirty="0">
                          <a:solidFill>
                            <a:srgbClr val="5B6678"/>
                          </a:solidFill>
                          <a:latin typeface="Malgun Gothic" pitchFamily="34" charset="0"/>
                          <a:ea typeface="Malgun Gothic" pitchFamily="34" charset="-122"/>
                          <a:cs typeface="Malgun Gothic" pitchFamily="34" charset="-120"/>
                        </a:rPr>
                        <a:t>확인할 것</a:t>
                      </a:r>
                      <a:endParaRPr lang="en-US" sz="12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solidFill>
                      <a:srgbClr val="F3F5F8"/>
                    </a:solidFill>
                  </a:tcPr>
                </a:tc>
                <a:tc>
                  <a:txBody>
                    <a:bodyPr/>
                    <a:lstStyle/>
                    <a:p>
                      <a:pPr indent="0" marL="0">
                        <a:buNone/>
                      </a:pPr>
                      <a:r>
                        <a:rPr lang="en-US" sz="1200" b="1" dirty="0">
                          <a:solidFill>
                            <a:srgbClr val="5B6678"/>
                          </a:solidFill>
                          <a:latin typeface="Malgun Gothic" pitchFamily="34" charset="0"/>
                          <a:ea typeface="Malgun Gothic" pitchFamily="34" charset="-122"/>
                          <a:cs typeface="Malgun Gothic" pitchFamily="34" charset="-120"/>
                        </a:rPr>
                        <a:t>왜 중요한가</a:t>
                      </a:r>
                      <a:endParaRPr lang="en-US" sz="12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solidFill>
                      <a:srgbClr val="F3F5F8"/>
                    </a:solidFill>
                  </a:tcPr>
                </a:tc>
                <a:tc>
                  <a:txBody>
                    <a:bodyPr/>
                    <a:lstStyle/>
                    <a:p>
                      <a:pPr indent="0" marL="0">
                        <a:buNone/>
                      </a:pPr>
                      <a:r>
                        <a:rPr lang="en-US" sz="1200" b="1" dirty="0">
                          <a:solidFill>
                            <a:srgbClr val="5B6678"/>
                          </a:solidFill>
                          <a:latin typeface="Malgun Gothic" pitchFamily="34" charset="0"/>
                          <a:ea typeface="Malgun Gothic" pitchFamily="34" charset="-122"/>
                          <a:cs typeface="Malgun Gothic" pitchFamily="34" charset="-120"/>
                        </a:rPr>
                        <a:t>영향 단계</a:t>
                      </a:r>
                      <a:endParaRPr lang="en-US" sz="12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solidFill>
                      <a:srgbClr val="F3F5F8"/>
                    </a:solidFill>
                  </a:tcPr>
                </a:tc>
              </a:tr>
              <a:tr h="0">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R-1</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회사 PC에 Node.js · PostgreSQL · Git 설치 권한</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설치가 막히면 회사 PC 확인 자체가 불가</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OP-3</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R-2</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GitHub · npm 저장소 · SheetJS 배포처 접속 가능 여부</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막혀 있으면 사내 프록시나 압축 파일 반입으로 설치 방식이 바뀜</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OP-2 · OP-3</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R-3</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개인 저장소 코드 반입 · 오픈소스 사용 승인</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보안 심의가 필요하면 일정이 늘어남</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OP-3 · OP-4</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R-4</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사내 엑셀 파일의 MDM 암호화 여부</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암호화된 파일은 지금 MapGen이 읽지 못함. 사내 적용의 가장 큰 변수</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OP-2 · OP-3</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R-5</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사용자 100명 계정을 만드는 방법</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지금은 회원가입·사용자 관리 화면이 없음 (시드로 만든 계정뿐)</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OP-1 · OP-2</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R-6</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1차 시스템 병합 · 로그인 연동 방식</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처음 계획은 "1차 개발자에게 코드 전달 후 병합"이라 독립 설치와 방향이 다름</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300" dirty="0">
                          <a:solidFill>
                            <a:srgbClr val="18212F"/>
                          </a:solidFill>
                          <a:latin typeface="Malgun Gothic" pitchFamily="34" charset="0"/>
                          <a:ea typeface="Malgun Gothic" pitchFamily="34" charset="-122"/>
                          <a:cs typeface="Malgun Gothic" pitchFamily="34" charset="-120"/>
                        </a:rPr>
                        <a:t>OP-1</a:t>
                      </a:r>
                      <a:endParaRPr lang="en-US" sz="1300" dirty="0">
                        <a:latin typeface="Malgun Gothic" charset="0"/>
                        <a:ea typeface="Malgun Gothic" charset="0"/>
                        <a:cs typeface="Malgun Gothic" charset="0"/>
                      </a:endParaRPr>
                    </a:p>
                  </a:txBody>
                  <a:tcPr marL="101600" marR="101600" marT="63500" marB="635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bl>
          </a:graphicData>
        </a:graphic>
      </p:graphicFrame>
      <p:sp>
        <p:nvSpPr>
          <p:cNvPr id="5" name="Text 2"/>
          <p:cNvSpPr txBox="1"/>
          <p:nvPr/>
        </p:nvSpPr>
        <p:spPr>
          <a:xfrm>
            <a:off x="548640" y="4754880"/>
            <a:ext cx="11094415" cy="365760"/>
          </a:xfrm>
          <a:prstGeom prst="rect">
            <a:avLst/>
          </a:prstGeom>
          <a:noFill/>
          <a:ln/>
        </p:spPr>
        <p:txBody>
          <a:bodyPr wrap="square" lIns="0" tIns="0" rIns="0" bIns="0" rtlCol="0" anchor="t"/>
          <a:lstStyle/>
          <a:p>
            <a:pPr indent="0" marL="0">
              <a:buNone/>
            </a:pPr>
            <a:r>
              <a:rPr lang="en-US" sz="1200" dirty="0">
                <a:solidFill>
                  <a:srgbClr val="5B6678"/>
                </a:solidFill>
              </a:rPr>
              <a:t>R-1~R-4는 회사에서 직접 확인할 항목입니다. 확인 결과에 따라 OP-2에서 만들 내용이 달라집니다.</a:t>
            </a:r>
            <a:endParaRPr lang="en-US" sz="1200" dirty="0"/>
          </a:p>
        </p:txBody>
      </p:sp>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320040"/>
          </a:xfrm>
          <a:prstGeom prst="rect">
            <a:avLst/>
          </a:prstGeom>
          <a:noFill/>
          <a:ln/>
        </p:spPr>
        <p:txBody>
          <a:bodyPr wrap="square" lIns="0" tIns="0" rIns="0" bIns="0" rtlCol="0" anchor="ctr"/>
          <a:lstStyle/>
          <a:p>
            <a:pPr indent="0" marL="0">
              <a:buNone/>
            </a:pPr>
            <a:r>
              <a:rPr lang="en-US" sz="1200" dirty="0">
                <a:solidFill>
                  <a:srgbClr val="A4520C"/>
                </a:solidFill>
                <a:latin typeface="Consolas" pitchFamily="34" charset="0"/>
                <a:ea typeface="Consolas" pitchFamily="34" charset="-122"/>
                <a:cs typeface="Consolas" pitchFamily="34" charset="-120"/>
              </a:rPr>
              <a:t>파트원에게</a:t>
            </a:r>
            <a:endParaRPr lang="en-US" sz="1200" dirty="0"/>
          </a:p>
        </p:txBody>
      </p:sp>
      <p:sp>
        <p:nvSpPr>
          <p:cNvPr id="3" name="Text 0"/>
          <p:cNvSpPr/>
          <p:nvPr>
            <p:ph idx="101" type="title" hasCustomPrompt="1"/>
          </p:nvPr>
        </p:nvSpPr>
        <p:spPr>
          <a:xfrm>
            <a:off x="548640" y="658368"/>
            <a:ext cx="11094415" cy="731520"/>
          </a:xfrm>
          <a:prstGeom prst="rect">
            <a:avLst/>
          </a:prstGeom>
          <a:noFill/>
          <a:ln/>
        </p:spPr>
        <p:txBody>
          <a:bodyPr wrap="square" lIns="0" tIns="0" rIns="0" bIns="0" rtlCol="0" anchor="ctr"/>
          <a:lstStyle/>
          <a:p>
            <a:pPr algn="l" indent="0" marL="0">
              <a:buNone/>
            </a:pPr>
            <a:r>
              <a:rPr lang="en-US" sz="3000" b="1" dirty="0">
                <a:solidFill>
                  <a:srgbClr val="18212F"/>
                </a:solidFill>
              </a:rPr>
              <a:t>해 보고 나서 정리한 다섯 가지</a:t>
            </a:r>
            <a:endParaRPr lang="en-US" sz="3000" dirty="0"/>
          </a:p>
        </p:txBody>
      </p:sp>
      <p:sp>
        <p:nvSpPr>
          <p:cNvPr id="4" name="Text 2"/>
          <p:cNvSpPr txBox="1"/>
          <p:nvPr/>
        </p:nvSpPr>
        <p:spPr>
          <a:xfrm>
            <a:off x="548640" y="1600200"/>
            <a:ext cx="914400" cy="822960"/>
          </a:xfrm>
          <a:prstGeom prst="rect">
            <a:avLst/>
          </a:prstGeom>
          <a:noFill/>
          <a:ln/>
        </p:spPr>
        <p:txBody>
          <a:bodyPr wrap="square" lIns="0" tIns="0" rIns="0" bIns="0" rtlCol="0" anchor="t"/>
          <a:lstStyle/>
          <a:p>
            <a:pPr indent="0" marL="0">
              <a:buNone/>
            </a:pPr>
            <a:r>
              <a:rPr lang="en-US" sz="1200" dirty="0">
                <a:solidFill>
                  <a:srgbClr val="5B6678"/>
                </a:solidFill>
                <a:latin typeface="Consolas" pitchFamily="34" charset="0"/>
                <a:ea typeface="Consolas" pitchFamily="34" charset="-122"/>
                <a:cs typeface="Consolas" pitchFamily="34" charset="-120"/>
              </a:rPr>
              <a:t>하나</a:t>
            </a:r>
            <a:endParaRPr lang="en-US" sz="1200" dirty="0"/>
          </a:p>
        </p:txBody>
      </p:sp>
      <p:sp>
        <p:nvSpPr>
          <p:cNvPr id="5" name="Text 3"/>
          <p:cNvSpPr txBox="1"/>
          <p:nvPr/>
        </p:nvSpPr>
        <p:spPr>
          <a:xfrm>
            <a:off x="1508760" y="1600200"/>
            <a:ext cx="10134295" cy="822960"/>
          </a:xfrm>
          <a:prstGeom prst="rect">
            <a:avLst/>
          </a:prstGeom>
          <a:noFill/>
          <a:ln/>
        </p:spPr>
        <p:txBody>
          <a:bodyPr wrap="square" lIns="0" tIns="0" rIns="0" bIns="0" rtlCol="0" anchor="t"/>
          <a:lstStyle/>
          <a:p>
            <a:pPr indent="0" marL="0">
              <a:buNone/>
            </a:pPr>
            <a:r>
              <a:rPr lang="en-US" sz="1500" b="1" dirty="0">
                <a:solidFill>
                  <a:srgbClr val="18212F"/>
                </a:solidFill>
              </a:rPr>
              <a:t>규칙 파일(CLAUDE.md)부터 만든다</a:t>
            </a:r>
            <a:endParaRPr lang="en-US" sz="1500" dirty="0"/>
          </a:p>
          <a:p>
            <a:pPr indent="0" marL="0">
              <a:buNone/>
            </a:pPr>
            <a:r>
              <a:rPr lang="en-US" sz="1300" dirty="0">
                <a:solidFill>
                  <a:srgbClr val="5B6678"/>
                </a:solidFill>
              </a:rPr>
              <a:t>언어, 오버엔지니어링 금지, 폴더별 지침. 세션이 바뀌어도 이 파일이 기준이 된다.</a:t>
            </a:r>
            <a:endParaRPr lang="en-US" sz="1500" dirty="0"/>
          </a:p>
        </p:txBody>
      </p:sp>
      <p:sp>
        <p:nvSpPr>
          <p:cNvPr id="6" name="Shape 4"/>
          <p:cNvSpPr/>
          <p:nvPr/>
        </p:nvSpPr>
        <p:spPr>
          <a:xfrm>
            <a:off x="548640" y="2450592"/>
            <a:ext cx="11094415" cy="0"/>
          </a:xfrm>
          <a:prstGeom prst="line">
            <a:avLst/>
          </a:prstGeom>
          <a:noFill/>
          <a:ln w="9525">
            <a:solidFill>
              <a:srgbClr val="D8DDE6"/>
            </a:solidFill>
            <a:prstDash val="dash"/>
          </a:ln>
        </p:spPr>
      </p:sp>
      <p:sp>
        <p:nvSpPr>
          <p:cNvPr id="7" name="Text 5"/>
          <p:cNvSpPr txBox="1"/>
          <p:nvPr/>
        </p:nvSpPr>
        <p:spPr>
          <a:xfrm>
            <a:off x="548640" y="2496312"/>
            <a:ext cx="914400" cy="822960"/>
          </a:xfrm>
          <a:prstGeom prst="rect">
            <a:avLst/>
          </a:prstGeom>
          <a:noFill/>
          <a:ln/>
        </p:spPr>
        <p:txBody>
          <a:bodyPr wrap="square" lIns="0" tIns="0" rIns="0" bIns="0" rtlCol="0" anchor="t"/>
          <a:lstStyle/>
          <a:p>
            <a:pPr indent="0" marL="0">
              <a:buNone/>
            </a:pPr>
            <a:r>
              <a:rPr lang="en-US" sz="1200" dirty="0">
                <a:solidFill>
                  <a:srgbClr val="5B6678"/>
                </a:solidFill>
                <a:latin typeface="Consolas" pitchFamily="34" charset="0"/>
                <a:ea typeface="Consolas" pitchFamily="34" charset="-122"/>
                <a:cs typeface="Consolas" pitchFamily="34" charset="-120"/>
              </a:rPr>
              <a:t>둘</a:t>
            </a:r>
            <a:endParaRPr lang="en-US" sz="1200" dirty="0"/>
          </a:p>
        </p:txBody>
      </p:sp>
      <p:sp>
        <p:nvSpPr>
          <p:cNvPr id="8" name="Text 6"/>
          <p:cNvSpPr txBox="1"/>
          <p:nvPr/>
        </p:nvSpPr>
        <p:spPr>
          <a:xfrm>
            <a:off x="1508760" y="2496312"/>
            <a:ext cx="10134295" cy="822960"/>
          </a:xfrm>
          <a:prstGeom prst="rect">
            <a:avLst/>
          </a:prstGeom>
          <a:noFill/>
          <a:ln/>
        </p:spPr>
        <p:txBody>
          <a:bodyPr wrap="square" lIns="0" tIns="0" rIns="0" bIns="0" rtlCol="0" anchor="t"/>
          <a:lstStyle/>
          <a:p>
            <a:pPr indent="0" marL="0">
              <a:buNone/>
            </a:pPr>
            <a:r>
              <a:rPr lang="en-US" sz="1500" b="1" dirty="0">
                <a:solidFill>
                  <a:srgbClr val="18212F"/>
                </a:solidFill>
              </a:rPr>
              <a:t>코드보다 문서를 먼저</a:t>
            </a:r>
            <a:endParaRPr lang="en-US" sz="1500" dirty="0"/>
          </a:p>
          <a:p>
            <a:pPr indent="0" marL="0">
              <a:buNone/>
            </a:pPr>
            <a:r>
              <a:rPr lang="en-US" sz="1300" dirty="0">
                <a:solidFill>
                  <a:srgbClr val="5B6678"/>
                </a:solidFill>
              </a:rPr>
              <a:t>도메인 → PRD → ERD → 실행계획 → Swagger. 문서가 있으니 이슈와 테스트가 저절로 구체적이 된다.</a:t>
            </a:r>
            <a:endParaRPr lang="en-US" sz="1500" dirty="0"/>
          </a:p>
        </p:txBody>
      </p:sp>
      <p:sp>
        <p:nvSpPr>
          <p:cNvPr id="9" name="Shape 7"/>
          <p:cNvSpPr/>
          <p:nvPr/>
        </p:nvSpPr>
        <p:spPr>
          <a:xfrm>
            <a:off x="548640" y="3346704"/>
            <a:ext cx="11094415" cy="0"/>
          </a:xfrm>
          <a:prstGeom prst="line">
            <a:avLst/>
          </a:prstGeom>
          <a:noFill/>
          <a:ln w="9525">
            <a:solidFill>
              <a:srgbClr val="D8DDE6"/>
            </a:solidFill>
            <a:prstDash val="dash"/>
          </a:ln>
        </p:spPr>
      </p:sp>
      <p:sp>
        <p:nvSpPr>
          <p:cNvPr id="10" name="Text 8"/>
          <p:cNvSpPr txBox="1"/>
          <p:nvPr/>
        </p:nvSpPr>
        <p:spPr>
          <a:xfrm>
            <a:off x="548640" y="3392424"/>
            <a:ext cx="914400" cy="822960"/>
          </a:xfrm>
          <a:prstGeom prst="rect">
            <a:avLst/>
          </a:prstGeom>
          <a:noFill/>
          <a:ln/>
        </p:spPr>
        <p:txBody>
          <a:bodyPr wrap="square" lIns="0" tIns="0" rIns="0" bIns="0" rtlCol="0" anchor="t"/>
          <a:lstStyle/>
          <a:p>
            <a:pPr indent="0" marL="0">
              <a:buNone/>
            </a:pPr>
            <a:r>
              <a:rPr lang="en-US" sz="1200" dirty="0">
                <a:solidFill>
                  <a:srgbClr val="5B6678"/>
                </a:solidFill>
                <a:latin typeface="Consolas" pitchFamily="34" charset="0"/>
                <a:ea typeface="Consolas" pitchFamily="34" charset="-122"/>
                <a:cs typeface="Consolas" pitchFamily="34" charset="-120"/>
              </a:rPr>
              <a:t>셋</a:t>
            </a:r>
            <a:endParaRPr lang="en-US" sz="1200" dirty="0"/>
          </a:p>
        </p:txBody>
      </p:sp>
      <p:sp>
        <p:nvSpPr>
          <p:cNvPr id="11" name="Text 9"/>
          <p:cNvSpPr txBox="1"/>
          <p:nvPr/>
        </p:nvSpPr>
        <p:spPr>
          <a:xfrm>
            <a:off x="1508760" y="3392424"/>
            <a:ext cx="10134295" cy="822960"/>
          </a:xfrm>
          <a:prstGeom prst="rect">
            <a:avLst/>
          </a:prstGeom>
          <a:noFill/>
          <a:ln/>
        </p:spPr>
        <p:txBody>
          <a:bodyPr wrap="square" lIns="0" tIns="0" rIns="0" bIns="0" rtlCol="0" anchor="t"/>
          <a:lstStyle/>
          <a:p>
            <a:pPr indent="0" marL="0">
              <a:buNone/>
            </a:pPr>
            <a:r>
              <a:rPr lang="en-US" sz="1500" b="1" dirty="0">
                <a:solidFill>
                  <a:srgbClr val="18212F"/>
                </a:solidFill>
              </a:rPr>
              <a:t>모르면 판단을 맡기되 결정은 내가</a:t>
            </a:r>
            <a:endParaRPr lang="en-US" sz="1500" dirty="0"/>
          </a:p>
          <a:p>
            <a:pPr indent="0" marL="0">
              <a:buNone/>
            </a:pPr>
            <a:r>
              <a:rPr lang="en-US" sz="1300" dirty="0">
                <a:solidFill>
                  <a:srgbClr val="5B6678"/>
                </a:solidFill>
              </a:rPr>
              <a:t>"필요한지 판단해줘", "모호하면 물어봐줘". 업무 사실은 사람이 답한다.</a:t>
            </a:r>
            <a:endParaRPr lang="en-US" sz="1500" dirty="0"/>
          </a:p>
        </p:txBody>
      </p:sp>
      <p:sp>
        <p:nvSpPr>
          <p:cNvPr id="12" name="Shape 10"/>
          <p:cNvSpPr/>
          <p:nvPr/>
        </p:nvSpPr>
        <p:spPr>
          <a:xfrm>
            <a:off x="548640" y="4242816"/>
            <a:ext cx="11094415" cy="0"/>
          </a:xfrm>
          <a:prstGeom prst="line">
            <a:avLst/>
          </a:prstGeom>
          <a:noFill/>
          <a:ln w="9525">
            <a:solidFill>
              <a:srgbClr val="D8DDE6"/>
            </a:solidFill>
            <a:prstDash val="dash"/>
          </a:ln>
        </p:spPr>
      </p:sp>
      <p:sp>
        <p:nvSpPr>
          <p:cNvPr id="13" name="Text 11"/>
          <p:cNvSpPr txBox="1"/>
          <p:nvPr/>
        </p:nvSpPr>
        <p:spPr>
          <a:xfrm>
            <a:off x="548640" y="4288536"/>
            <a:ext cx="914400" cy="822960"/>
          </a:xfrm>
          <a:prstGeom prst="rect">
            <a:avLst/>
          </a:prstGeom>
          <a:noFill/>
          <a:ln/>
        </p:spPr>
        <p:txBody>
          <a:bodyPr wrap="square" lIns="0" tIns="0" rIns="0" bIns="0" rtlCol="0" anchor="t"/>
          <a:lstStyle/>
          <a:p>
            <a:pPr indent="0" marL="0">
              <a:buNone/>
            </a:pPr>
            <a:r>
              <a:rPr lang="en-US" sz="1200" dirty="0">
                <a:solidFill>
                  <a:srgbClr val="5B6678"/>
                </a:solidFill>
                <a:latin typeface="Consolas" pitchFamily="34" charset="0"/>
                <a:ea typeface="Consolas" pitchFamily="34" charset="-122"/>
                <a:cs typeface="Consolas" pitchFamily="34" charset="-120"/>
              </a:rPr>
              <a:t>넷</a:t>
            </a:r>
            <a:endParaRPr lang="en-US" sz="1200" dirty="0"/>
          </a:p>
        </p:txBody>
      </p:sp>
      <p:sp>
        <p:nvSpPr>
          <p:cNvPr id="14" name="Text 12"/>
          <p:cNvSpPr txBox="1"/>
          <p:nvPr/>
        </p:nvSpPr>
        <p:spPr>
          <a:xfrm>
            <a:off x="1508760" y="4288536"/>
            <a:ext cx="10134295" cy="822960"/>
          </a:xfrm>
          <a:prstGeom prst="rect">
            <a:avLst/>
          </a:prstGeom>
          <a:noFill/>
          <a:ln/>
        </p:spPr>
        <p:txBody>
          <a:bodyPr wrap="square" lIns="0" tIns="0" rIns="0" bIns="0" rtlCol="0" anchor="t"/>
          <a:lstStyle/>
          <a:p>
            <a:pPr indent="0" marL="0">
              <a:buNone/>
            </a:pPr>
            <a:r>
              <a:rPr lang="en-US" sz="1500" b="1" dirty="0">
                <a:solidFill>
                  <a:srgbClr val="18212F"/>
                </a:solidFill>
              </a:rPr>
              <a:t>반복은 커스텀 명령으로 굳힌다</a:t>
            </a:r>
            <a:endParaRPr lang="en-US" sz="1500" dirty="0"/>
          </a:p>
          <a:p>
            <a:pPr indent="0" marL="0">
              <a:buNone/>
            </a:pPr>
            <a:r>
              <a:rPr lang="en-US" sz="1300" dirty="0">
                <a:solidFill>
                  <a:srgbClr val="5B6678"/>
                </a:solidFill>
              </a:rPr>
              <a:t>이슈 번호 하나로 분석·테스트·구현·검증까지 같은 품질로 돈다.</a:t>
            </a:r>
            <a:endParaRPr lang="en-US" sz="1500" dirty="0"/>
          </a:p>
        </p:txBody>
      </p:sp>
      <p:sp>
        <p:nvSpPr>
          <p:cNvPr id="15" name="Shape 13"/>
          <p:cNvSpPr/>
          <p:nvPr/>
        </p:nvSpPr>
        <p:spPr>
          <a:xfrm>
            <a:off x="548640" y="5138928"/>
            <a:ext cx="11094415" cy="0"/>
          </a:xfrm>
          <a:prstGeom prst="line">
            <a:avLst/>
          </a:prstGeom>
          <a:noFill/>
          <a:ln w="9525">
            <a:solidFill>
              <a:srgbClr val="D8DDE6"/>
            </a:solidFill>
            <a:prstDash val="dash"/>
          </a:ln>
        </p:spPr>
      </p:sp>
      <p:sp>
        <p:nvSpPr>
          <p:cNvPr id="16" name="Text 14"/>
          <p:cNvSpPr txBox="1"/>
          <p:nvPr/>
        </p:nvSpPr>
        <p:spPr>
          <a:xfrm>
            <a:off x="548640" y="5184648"/>
            <a:ext cx="914400" cy="822960"/>
          </a:xfrm>
          <a:prstGeom prst="rect">
            <a:avLst/>
          </a:prstGeom>
          <a:noFill/>
          <a:ln/>
        </p:spPr>
        <p:txBody>
          <a:bodyPr wrap="square" lIns="0" tIns="0" rIns="0" bIns="0" rtlCol="0" anchor="t"/>
          <a:lstStyle/>
          <a:p>
            <a:pPr indent="0" marL="0">
              <a:buNone/>
            </a:pPr>
            <a:r>
              <a:rPr lang="en-US" sz="1200" dirty="0">
                <a:solidFill>
                  <a:srgbClr val="5B6678"/>
                </a:solidFill>
                <a:latin typeface="Consolas" pitchFamily="34" charset="0"/>
                <a:ea typeface="Consolas" pitchFamily="34" charset="-122"/>
                <a:cs typeface="Consolas" pitchFamily="34" charset="-120"/>
              </a:rPr>
              <a:t>다섯</a:t>
            </a:r>
            <a:endParaRPr lang="en-US" sz="1200" dirty="0"/>
          </a:p>
        </p:txBody>
      </p:sp>
      <p:sp>
        <p:nvSpPr>
          <p:cNvPr id="17" name="Text 15"/>
          <p:cNvSpPr txBox="1"/>
          <p:nvPr/>
        </p:nvSpPr>
        <p:spPr>
          <a:xfrm>
            <a:off x="1508760" y="5184648"/>
            <a:ext cx="10134295" cy="822960"/>
          </a:xfrm>
          <a:prstGeom prst="rect">
            <a:avLst/>
          </a:prstGeom>
          <a:noFill/>
          <a:ln/>
        </p:spPr>
        <p:txBody>
          <a:bodyPr wrap="square" lIns="0" tIns="0" rIns="0" bIns="0" rtlCol="0" anchor="t"/>
          <a:lstStyle/>
          <a:p>
            <a:pPr indent="0" marL="0">
              <a:buNone/>
            </a:pPr>
            <a:r>
              <a:rPr lang="en-US" sz="1500" b="1" dirty="0">
                <a:solidFill>
                  <a:srgbClr val="18212F"/>
                </a:solidFill>
              </a:rPr>
              <a:t>마지막엔 사람이 화면으로 확인한다</a:t>
            </a:r>
            <a:endParaRPr lang="en-US" sz="1500" dirty="0"/>
          </a:p>
          <a:p>
            <a:pPr indent="0" marL="0">
              <a:buNone/>
            </a:pPr>
            <a:r>
              <a:rPr lang="en-US" sz="1300" dirty="0">
                <a:solidFill>
                  <a:srgbClr val="5B6678"/>
                </a:solidFill>
              </a:rPr>
              <a:t>API 검증으로 대신한 부분은 실제 브라우저 점검에서 빈 줄, 버튼 모양, 서버 500 같은 걸 더 찾아냈다.</a:t>
            </a:r>
            <a:endParaRPr lang="en-US" sz="1500" dirty="0"/>
          </a:p>
        </p:txBody>
      </p:sp>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48640" y="2103120"/>
            <a:ext cx="11094415" cy="365760"/>
          </a:xfrm>
          <a:prstGeom prst="rect">
            <a:avLst/>
          </a:prstGeom>
          <a:noFill/>
          <a:ln/>
        </p:spPr>
        <p:txBody>
          <a:bodyPr wrap="square" lIns="0" tIns="0" rIns="0" bIns="0" rtlCol="0" anchor="ctr"/>
          <a:lstStyle/>
          <a:p>
            <a:pPr indent="0" marL="0">
              <a:buNone/>
            </a:pPr>
            <a:r>
              <a:rPr lang="en-US" sz="1400" dirty="0">
                <a:solidFill>
                  <a:srgbClr val="F2A25C"/>
                </a:solidFill>
                <a:latin typeface="Consolas" pitchFamily="34" charset="0"/>
                <a:ea typeface="Consolas" pitchFamily="34" charset="-122"/>
                <a:cs typeface="Consolas" pitchFamily="34" charset="-120"/>
              </a:rPr>
              <a:t>부록</a:t>
            </a:r>
            <a:endParaRPr lang="en-US" sz="1400" dirty="0"/>
          </a:p>
        </p:txBody>
      </p:sp>
      <p:sp>
        <p:nvSpPr>
          <p:cNvPr id="3" name="Text 1"/>
          <p:cNvSpPr txBox="1"/>
          <p:nvPr/>
        </p:nvSpPr>
        <p:spPr>
          <a:xfrm>
            <a:off x="548640" y="2514600"/>
            <a:ext cx="11094415" cy="914400"/>
          </a:xfrm>
          <a:prstGeom prst="rect">
            <a:avLst/>
          </a:prstGeom>
          <a:noFill/>
          <a:ln/>
        </p:spPr>
        <p:txBody>
          <a:bodyPr wrap="square" lIns="0" tIns="0" rIns="0" bIns="0" rtlCol="0" anchor="ctr"/>
          <a:lstStyle/>
          <a:p>
            <a:pPr indent="0" marL="0">
              <a:buNone/>
            </a:pPr>
            <a:r>
              <a:rPr lang="en-US" sz="4400" b="1" dirty="0">
                <a:solidFill>
                  <a:srgbClr val="FFFFFF"/>
                </a:solidFill>
              </a:rPr>
              <a:t>용어 사전</a:t>
            </a:r>
            <a:endParaRPr lang="en-US" sz="4400" dirty="0"/>
          </a:p>
        </p:txBody>
      </p:sp>
      <p:sp>
        <p:nvSpPr>
          <p:cNvPr id="4" name="Text 2"/>
          <p:cNvSpPr txBox="1"/>
          <p:nvPr/>
        </p:nvSpPr>
        <p:spPr>
          <a:xfrm>
            <a:off x="548640" y="3520440"/>
            <a:ext cx="9144000" cy="914400"/>
          </a:xfrm>
          <a:prstGeom prst="rect">
            <a:avLst/>
          </a:prstGeom>
          <a:noFill/>
          <a:ln/>
        </p:spPr>
        <p:txBody>
          <a:bodyPr wrap="square" lIns="0" tIns="0" rIns="0" bIns="0" rtlCol="0" anchor="t"/>
          <a:lstStyle/>
          <a:p>
            <a:pPr indent="0" marL="0">
              <a:buNone/>
            </a:pPr>
            <a:r>
              <a:rPr lang="en-US" sz="1700" dirty="0">
                <a:solidFill>
                  <a:srgbClr val="C9D4EE"/>
                </a:solidFill>
              </a:rPr>
              <a:t>발표에 나온 용어 75개를 10개 분야로 정리했습니다. 영어 약어는 원래 이름을 함께 적었고, "이 프로젝트에서"는 우리 결과물 안에서 실제로 쓰인 곳입니다.</a:t>
            </a:r>
            <a:endParaRPr lang="en-US" sz="1700" dirty="0"/>
          </a:p>
        </p:txBody>
      </p:sp>
      <p:sp>
        <p:nvSpPr>
          <p:cNvPr id="5" name="Text 3"/>
          <p:cNvSpPr txBox="1"/>
          <p:nvPr/>
        </p:nvSpPr>
        <p:spPr>
          <a:xfrm>
            <a:off x="548640" y="4754880"/>
            <a:ext cx="11094415" cy="548640"/>
          </a:xfrm>
          <a:prstGeom prst="rect">
            <a:avLst/>
          </a:prstGeom>
          <a:noFill/>
          <a:ln/>
        </p:spPr>
        <p:txBody>
          <a:bodyPr wrap="square" lIns="0" tIns="0" rIns="0" bIns="0" rtlCol="0" anchor="ctr"/>
          <a:lstStyle/>
          <a:p>
            <a:pPr indent="0" marL="0">
              <a:buNone/>
            </a:pPr>
            <a:r>
              <a:rPr lang="en-US" sz="1300" dirty="0">
                <a:solidFill>
                  <a:srgbClr val="C9D4EE"/>
                </a:solidFill>
              </a:rPr>
              <a:t>AI 개발 도구   ·   설계 문서   ·   프론트엔드   ·   백엔드   ·   데이터베이스   ·   API · 통신   ·   품질 · 테스트 · 보안   ·   협업 (Git · GitHub)   ·   실행 환경   ·   운영 · 배포 (다음 단계)</a:t>
            </a:r>
            <a:endParaRPr lang="en-US" sz="1300" dirty="0"/>
          </a:p>
        </p:txBody>
      </p:sp>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4EE"/>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320040"/>
          </a:xfrm>
          <a:prstGeom prst="rect">
            <a:avLst/>
          </a:prstGeom>
          <a:noFill/>
          <a:ln/>
        </p:spPr>
        <p:txBody>
          <a:bodyPr wrap="square" lIns="0" tIns="0" rIns="0" bIns="0" rtlCol="0" anchor="ctr"/>
          <a:lstStyle/>
          <a:p>
            <a:pPr indent="0" marL="0">
              <a:buNone/>
            </a:pPr>
            <a:r>
              <a:rPr lang="en-US" sz="1200" dirty="0">
                <a:solidFill>
                  <a:srgbClr val="A4520C"/>
                </a:solidFill>
                <a:latin typeface="Consolas" pitchFamily="34" charset="0"/>
                <a:ea typeface="Consolas" pitchFamily="34" charset="-122"/>
                <a:cs typeface="Consolas" pitchFamily="34" charset="-120"/>
              </a:rPr>
              <a:t>용어 사전 · Claude Code와 함께 일하는 방식에 쓰인 말</a:t>
            </a:r>
            <a:endParaRPr lang="en-US" sz="1200" dirty="0"/>
          </a:p>
        </p:txBody>
      </p:sp>
      <p:sp>
        <p:nvSpPr>
          <p:cNvPr id="3" name="Text 0"/>
          <p:cNvSpPr/>
          <p:nvPr>
            <p:ph idx="101" type="title" hasCustomPrompt="1"/>
          </p:nvPr>
        </p:nvSpPr>
        <p:spPr>
          <a:xfrm>
            <a:off x="548640" y="658368"/>
            <a:ext cx="11094415" cy="731520"/>
          </a:xfrm>
          <a:prstGeom prst="rect">
            <a:avLst/>
          </a:prstGeom>
          <a:noFill/>
          <a:ln/>
        </p:spPr>
        <p:txBody>
          <a:bodyPr wrap="square" lIns="0" tIns="0" rIns="0" bIns="0" rtlCol="0" anchor="ctr"/>
          <a:lstStyle/>
          <a:p>
            <a:pPr algn="l" indent="0" marL="0">
              <a:buNone/>
            </a:pPr>
            <a:r>
              <a:rPr lang="en-US" sz="3000" b="1" dirty="0">
                <a:solidFill>
                  <a:srgbClr val="18212F"/>
                </a:solidFill>
              </a:rPr>
              <a:t>AI 개발 도구 (1/2)</a:t>
            </a:r>
            <a:endParaRPr lang="en-US" sz="30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2743200"/>
                <a:gridCol w="5394960"/>
                <a:gridCol w="2953512"/>
              </a:tblGrid>
              <a:tr h="0">
                <a:tc>
                  <a:txBody>
                    <a:bodyPr/>
                    <a:lstStyle/>
                    <a:p>
                      <a:pPr indent="0" marL="0">
                        <a:buNone/>
                      </a:pPr>
                      <a:r>
                        <a:rPr lang="en-US" sz="1100" b="1" dirty="0">
                          <a:solidFill>
                            <a:srgbClr val="5B6678"/>
                          </a:solidFill>
                          <a:latin typeface="Malgun Gothic" pitchFamily="34" charset="0"/>
                          <a:ea typeface="Malgun Gothic" pitchFamily="34" charset="-122"/>
                          <a:cs typeface="Malgun Gothic" pitchFamily="34" charset="-120"/>
                        </a:rPr>
                        <a:t>용어 · 원래 이름</a:t>
                      </a:r>
                      <a:endParaRPr lang="en-US" sz="11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solidFill>
                      <a:srgbClr val="F3F5F8"/>
                    </a:solidFill>
                  </a:tcPr>
                </a:tc>
                <a:tc>
                  <a:txBody>
                    <a:bodyPr/>
                    <a:lstStyle/>
                    <a:p>
                      <a:pPr indent="0" marL="0">
                        <a:buNone/>
                      </a:pPr>
                      <a:r>
                        <a:rPr lang="en-US" sz="1100" b="1" dirty="0">
                          <a:solidFill>
                            <a:srgbClr val="5B6678"/>
                          </a:solidFill>
                          <a:latin typeface="Malgun Gothic" pitchFamily="34" charset="0"/>
                          <a:ea typeface="Malgun Gothic" pitchFamily="34" charset="-122"/>
                          <a:cs typeface="Malgun Gothic" pitchFamily="34" charset="-120"/>
                        </a:rPr>
                        <a:t>쉬운 뜻 · 하는 일</a:t>
                      </a:r>
                      <a:endParaRPr lang="en-US" sz="11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solidFill>
                      <a:srgbClr val="F3F5F8"/>
                    </a:solidFill>
                  </a:tcPr>
                </a:tc>
                <a:tc>
                  <a:txBody>
                    <a:bodyPr/>
                    <a:lstStyle/>
                    <a:p>
                      <a:pPr indent="0" marL="0">
                        <a:buNone/>
                      </a:pPr>
                      <a:r>
                        <a:rPr lang="en-US" sz="1100" b="1" dirty="0">
                          <a:solidFill>
                            <a:srgbClr val="5B6678"/>
                          </a:solidFill>
                          <a:latin typeface="Malgun Gothic" pitchFamily="34" charset="0"/>
                          <a:ea typeface="Malgun Gothic" pitchFamily="34" charset="-122"/>
                          <a:cs typeface="Malgun Gothic" pitchFamily="34" charset="-120"/>
                        </a:rPr>
                        <a:t>이 프로젝트에서</a:t>
                      </a:r>
                      <a:endParaRPr lang="en-US" sz="11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solidFill>
                      <a:srgbClr val="F3F5F8"/>
                    </a:solidFill>
                  </a:tcPr>
                </a:tc>
              </a:tr>
              <a:tr h="0">
                <a:tc>
                  <a:txBody>
                    <a:bodyPr/>
                    <a:lstStyle/>
                    <a:p>
                      <a:pPr indent="0" marL="0">
                        <a:buNone/>
                      </a:pPr>
                      <a:r>
                        <a:rPr lang="en-US" sz="1300" b="1" dirty="0">
                          <a:solidFill>
                            <a:srgbClr val="18212F"/>
                          </a:solidFill>
                          <a:latin typeface="Malgun Gothic" pitchFamily="34" charset="0"/>
                          <a:ea typeface="Malgun Gothic" pitchFamily="34" charset="-122"/>
                          <a:cs typeface="Malgun Gothic" pitchFamily="34" charset="-120"/>
                        </a:rPr>
                        <a:t>Claude Code</a:t>
                      </a:r>
                      <a:endParaRPr lang="en-US" sz="1200" dirty="0">
                        <a:latin typeface="Malgun Gothic" charset="0"/>
                        <a:ea typeface="Malgun Gothic" charset="0"/>
                        <a:cs typeface="Malgun Gothic" charset="0"/>
                      </a:endParaRPr>
                    </a:p>
                    <a:p>
                      <a:pPr indent="0" marL="0">
                        <a:buNone/>
                      </a:pPr>
                      <a:r>
                        <a:rPr lang="en-US" sz="1000" dirty="0">
                          <a:solidFill>
                            <a:srgbClr val="A4520C"/>
                          </a:solidFill>
                          <a:latin typeface="Malgun Gothic" pitchFamily="34" charset="0"/>
                          <a:ea typeface="Malgun Gothic" pitchFamily="34" charset="-122"/>
                          <a:cs typeface="Malgun Gothic" pitchFamily="34" charset="-120"/>
                        </a:rPr>
                        <a:t>Anthropic의 터미널용 AI 코딩 도구</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말로 지시하면 파일을 읽고 쓰고, 명령을 실행하면서 개발을 진행해 주는 프로그램. 설계부터 구현, 테스트, GitHub 작업까지 "개발자" 역할을 맡음.</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집 PC에서 실행하고 회사에서는 태블릿으로 원격 지시</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b="1" dirty="0">
                          <a:solidFill>
                            <a:srgbClr val="18212F"/>
                          </a:solidFill>
                          <a:latin typeface="Malgun Gothic" pitchFamily="34" charset="0"/>
                          <a:ea typeface="Malgun Gothic" pitchFamily="34" charset="-122"/>
                          <a:cs typeface="Malgun Gothic" pitchFamily="34" charset="-120"/>
                        </a:rPr>
                        <a:t>바이브 코딩</a:t>
                      </a:r>
                      <a:endParaRPr lang="en-US" sz="1200" dirty="0">
                        <a:latin typeface="Malgun Gothic" charset="0"/>
                        <a:ea typeface="Malgun Gothic" charset="0"/>
                        <a:cs typeface="Malgun Gothic" charset="0"/>
                      </a:endParaRPr>
                    </a:p>
                    <a:p>
                      <a:pPr indent="0" marL="0">
                        <a:buNone/>
                      </a:pPr>
                      <a:r>
                        <a:rPr lang="en-US" sz="1000" dirty="0">
                          <a:solidFill>
                            <a:srgbClr val="A4520C"/>
                          </a:solidFill>
                          <a:latin typeface="Malgun Gothic" pitchFamily="34" charset="0"/>
                          <a:ea typeface="Malgun Gothic" pitchFamily="34" charset="-122"/>
                          <a:cs typeface="Malgun Gothic" pitchFamily="34" charset="-120"/>
                        </a:rPr>
                        <a:t>Vibe Coding</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코드를 한 줄씩 직접 쓰는 대신, 원하는 결과를 말로 설명하고 AI가 만든 결과를 확인·조정하며 개발하는 방식. 사람은 요구·판단·확인, AI는 작성·실행.</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이 발표 전체가 그 기록</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b="1" dirty="0">
                          <a:solidFill>
                            <a:srgbClr val="18212F"/>
                          </a:solidFill>
                          <a:latin typeface="Malgun Gothic" pitchFamily="34" charset="0"/>
                          <a:ea typeface="Malgun Gothic" pitchFamily="34" charset="-122"/>
                          <a:cs typeface="Malgun Gothic" pitchFamily="34" charset="-120"/>
                        </a:rPr>
                        <a:t>CLAUDE.md</a:t>
                      </a:r>
                      <a:endParaRPr lang="en-US" sz="1200" dirty="0">
                        <a:latin typeface="Malgun Gothic" charset="0"/>
                        <a:ea typeface="Malgun Gothic" charset="0"/>
                        <a:cs typeface="Malgun Gothic" charset="0"/>
                      </a:endParaRPr>
                    </a:p>
                    <a:p>
                      <a:pPr indent="0" marL="0">
                        <a:buNone/>
                      </a:pPr>
                      <a:r>
                        <a:rPr lang="en-US" sz="1000" dirty="0">
                          <a:solidFill>
                            <a:srgbClr val="A4520C"/>
                          </a:solidFill>
                          <a:latin typeface="Malgun Gothic" pitchFamily="34" charset="0"/>
                          <a:ea typeface="Malgun Gothic" pitchFamily="34" charset="-122"/>
                          <a:cs typeface="Malgun Gothic" pitchFamily="34" charset="-120"/>
                        </a:rPr>
                        <a:t>프로젝트 규칙 파일</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Claude Code가 작업을 시작할 때마다 먼저 읽는 안내서. 대화를 지워도(/clear) 파일이라 남는다. 언어, 코딩 규칙, 폴더 구조, 금지 사항을 고정.</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루트·server/·src/ 세 곳. "한국어", "오버엔지니어링 금지"</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b="1" dirty="0">
                          <a:solidFill>
                            <a:srgbClr val="18212F"/>
                          </a:solidFill>
                          <a:latin typeface="Malgun Gothic" pitchFamily="34" charset="0"/>
                          <a:ea typeface="Malgun Gothic" pitchFamily="34" charset="-122"/>
                          <a:cs typeface="Malgun Gothic" pitchFamily="34" charset="-120"/>
                        </a:rPr>
                        <a:t>슬래시 명령</a:t>
                      </a:r>
                      <a:endParaRPr lang="en-US" sz="1200" dirty="0">
                        <a:latin typeface="Malgun Gothic" charset="0"/>
                        <a:ea typeface="Malgun Gothic" charset="0"/>
                        <a:cs typeface="Malgun Gothic" charset="0"/>
                      </a:endParaRPr>
                    </a:p>
                    <a:p>
                      <a:pPr indent="0" marL="0">
                        <a:buNone/>
                      </a:pPr>
                      <a:r>
                        <a:rPr lang="en-US" sz="1000" dirty="0">
                          <a:solidFill>
                            <a:srgbClr val="A4520C"/>
                          </a:solidFill>
                          <a:latin typeface="Malgun Gothic" pitchFamily="34" charset="0"/>
                          <a:ea typeface="Malgun Gothic" pitchFamily="34" charset="-122"/>
                          <a:cs typeface="Malgun Gothic" pitchFamily="34" charset="-120"/>
                        </a:rPr>
                        <a:t>Slash command</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"/"로 시작하는 Claude Code 내장 명령. /init은 코드를 분석해 CLAUDE.md를 만들거나 갱신, /clear는 대화 기록 비우기(파일은 그대로), /compact는 긴 대화를 요약해서 이어 가기. 세션을 관리하는 조작 버튼.</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이슈마다 /clear 후 새로 시작</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b="1" dirty="0">
                          <a:solidFill>
                            <a:srgbClr val="18212F"/>
                          </a:solidFill>
                          <a:latin typeface="Malgun Gothic" pitchFamily="34" charset="0"/>
                          <a:ea typeface="Malgun Gothic" pitchFamily="34" charset="-122"/>
                          <a:cs typeface="Malgun Gothic" pitchFamily="34" charset="-120"/>
                        </a:rPr>
                        <a:t>서브에이전트</a:t>
                      </a:r>
                      <a:endParaRPr lang="en-US" sz="1200" dirty="0">
                        <a:latin typeface="Malgun Gothic" charset="0"/>
                        <a:ea typeface="Malgun Gothic" charset="0"/>
                        <a:cs typeface="Malgun Gothic" charset="0"/>
                      </a:endParaRPr>
                    </a:p>
                    <a:p>
                      <a:pPr indent="0" marL="0">
                        <a:buNone/>
                      </a:pPr>
                      <a:r>
                        <a:rPr lang="en-US" sz="1000" dirty="0">
                          <a:solidFill>
                            <a:srgbClr val="A4520C"/>
                          </a:solidFill>
                          <a:latin typeface="Malgun Gothic" pitchFamily="34" charset="0"/>
                          <a:ea typeface="Malgun Gothic" pitchFamily="34" charset="-122"/>
                          <a:cs typeface="Malgun Gothic" pitchFamily="34" charset="-120"/>
                        </a:rPr>
                        <a:t>Subagent (보조 에이전트)</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특정 분야 지시문을 가진 보조 AI. 큰 일을 나눠 맡기거나 결과를 다른 관점에서 검토시킬 때 쓴다. 병렬 작업과 교차 검토.</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문서 평가, 실행계획, GitHub 이슈 생성. 정의 파일 21개</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320040"/>
          </a:xfrm>
          <a:prstGeom prst="rect">
            <a:avLst/>
          </a:prstGeom>
          <a:noFill/>
          <a:ln/>
        </p:spPr>
        <p:txBody>
          <a:bodyPr wrap="square" lIns="0" tIns="0" rIns="0" bIns="0" rtlCol="0" anchor="ctr"/>
          <a:lstStyle/>
          <a:p>
            <a:pPr indent="0" marL="0">
              <a:buNone/>
            </a:pPr>
            <a:r>
              <a:rPr lang="en-US" sz="1200" dirty="0">
                <a:solidFill>
                  <a:srgbClr val="A4520C"/>
                </a:solidFill>
                <a:latin typeface="Consolas" pitchFamily="34" charset="0"/>
                <a:ea typeface="Consolas" pitchFamily="34" charset="-122"/>
                <a:cs typeface="Consolas" pitchFamily="34" charset="-120"/>
              </a:rPr>
              <a:t>용어 사전 · Claude Code와 함께 일하는 방식에 쓰인 말</a:t>
            </a:r>
            <a:endParaRPr lang="en-US" sz="1200" dirty="0"/>
          </a:p>
        </p:txBody>
      </p:sp>
      <p:sp>
        <p:nvSpPr>
          <p:cNvPr id="3" name="Text 0"/>
          <p:cNvSpPr/>
          <p:nvPr>
            <p:ph idx="101" type="title" hasCustomPrompt="1"/>
          </p:nvPr>
        </p:nvSpPr>
        <p:spPr>
          <a:xfrm>
            <a:off x="548640" y="658368"/>
            <a:ext cx="11094415" cy="731520"/>
          </a:xfrm>
          <a:prstGeom prst="rect">
            <a:avLst/>
          </a:prstGeom>
          <a:noFill/>
          <a:ln/>
        </p:spPr>
        <p:txBody>
          <a:bodyPr wrap="square" lIns="0" tIns="0" rIns="0" bIns="0" rtlCol="0" anchor="ctr"/>
          <a:lstStyle/>
          <a:p>
            <a:pPr algn="l" indent="0" marL="0">
              <a:buNone/>
            </a:pPr>
            <a:r>
              <a:rPr lang="en-US" sz="3000" b="1" dirty="0">
                <a:solidFill>
                  <a:srgbClr val="18212F"/>
                </a:solidFill>
              </a:rPr>
              <a:t>AI 개발 도구 (2/2)</a:t>
            </a:r>
            <a:endParaRPr lang="en-US" sz="30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2743200"/>
                <a:gridCol w="5394960"/>
                <a:gridCol w="2953512"/>
              </a:tblGrid>
              <a:tr h="0">
                <a:tc>
                  <a:txBody>
                    <a:bodyPr/>
                    <a:lstStyle/>
                    <a:p>
                      <a:pPr indent="0" marL="0">
                        <a:buNone/>
                      </a:pPr>
                      <a:r>
                        <a:rPr lang="en-US" sz="1100" b="1" dirty="0">
                          <a:solidFill>
                            <a:srgbClr val="5B6678"/>
                          </a:solidFill>
                          <a:latin typeface="Malgun Gothic" pitchFamily="34" charset="0"/>
                          <a:ea typeface="Malgun Gothic" pitchFamily="34" charset="-122"/>
                          <a:cs typeface="Malgun Gothic" pitchFamily="34" charset="-120"/>
                        </a:rPr>
                        <a:t>용어 · 원래 이름</a:t>
                      </a:r>
                      <a:endParaRPr lang="en-US" sz="11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solidFill>
                      <a:srgbClr val="F3F5F8"/>
                    </a:solidFill>
                  </a:tcPr>
                </a:tc>
                <a:tc>
                  <a:txBody>
                    <a:bodyPr/>
                    <a:lstStyle/>
                    <a:p>
                      <a:pPr indent="0" marL="0">
                        <a:buNone/>
                      </a:pPr>
                      <a:r>
                        <a:rPr lang="en-US" sz="1100" b="1" dirty="0">
                          <a:solidFill>
                            <a:srgbClr val="5B6678"/>
                          </a:solidFill>
                          <a:latin typeface="Malgun Gothic" pitchFamily="34" charset="0"/>
                          <a:ea typeface="Malgun Gothic" pitchFamily="34" charset="-122"/>
                          <a:cs typeface="Malgun Gothic" pitchFamily="34" charset="-120"/>
                        </a:rPr>
                        <a:t>쉬운 뜻 · 하는 일</a:t>
                      </a:r>
                      <a:endParaRPr lang="en-US" sz="11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solidFill>
                      <a:srgbClr val="F3F5F8"/>
                    </a:solidFill>
                  </a:tcPr>
                </a:tc>
                <a:tc>
                  <a:txBody>
                    <a:bodyPr/>
                    <a:lstStyle/>
                    <a:p>
                      <a:pPr indent="0" marL="0">
                        <a:buNone/>
                      </a:pPr>
                      <a:r>
                        <a:rPr lang="en-US" sz="1100" b="1" dirty="0">
                          <a:solidFill>
                            <a:srgbClr val="5B6678"/>
                          </a:solidFill>
                          <a:latin typeface="Malgun Gothic" pitchFamily="34" charset="0"/>
                          <a:ea typeface="Malgun Gothic" pitchFamily="34" charset="-122"/>
                          <a:cs typeface="Malgun Gothic" pitchFamily="34" charset="-120"/>
                        </a:rPr>
                        <a:t>이 프로젝트에서</a:t>
                      </a:r>
                      <a:endParaRPr lang="en-US" sz="11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solidFill>
                      <a:srgbClr val="F3F5F8"/>
                    </a:solidFill>
                  </a:tcPr>
                </a:tc>
              </a:tr>
              <a:tr h="0">
                <a:tc>
                  <a:txBody>
                    <a:bodyPr/>
                    <a:lstStyle/>
                    <a:p>
                      <a:pPr indent="0" marL="0">
                        <a:buNone/>
                      </a:pPr>
                      <a:r>
                        <a:rPr lang="en-US" sz="1300" b="1" dirty="0">
                          <a:solidFill>
                            <a:srgbClr val="18212F"/>
                          </a:solidFill>
                          <a:latin typeface="Malgun Gothic" pitchFamily="34" charset="0"/>
                          <a:ea typeface="Malgun Gothic" pitchFamily="34" charset="-122"/>
                          <a:cs typeface="Malgun Gothic" pitchFamily="34" charset="-120"/>
                        </a:rPr>
                        <a:t>MCP</a:t>
                      </a:r>
                      <a:endParaRPr lang="en-US" sz="1200" dirty="0">
                        <a:latin typeface="Malgun Gothic" charset="0"/>
                        <a:ea typeface="Malgun Gothic" charset="0"/>
                        <a:cs typeface="Malgun Gothic" charset="0"/>
                      </a:endParaRPr>
                    </a:p>
                    <a:p>
                      <a:pPr indent="0" marL="0">
                        <a:buNone/>
                      </a:pPr>
                      <a:r>
                        <a:rPr lang="en-US" sz="1000" dirty="0">
                          <a:solidFill>
                            <a:srgbClr val="A4520C"/>
                          </a:solidFill>
                          <a:latin typeface="Malgun Gothic" pitchFamily="34" charset="0"/>
                          <a:ea typeface="Malgun Gothic" pitchFamily="34" charset="-122"/>
                          <a:cs typeface="Malgun Gothic" pitchFamily="34" charset="-120"/>
                        </a:rPr>
                        <a:t>Model Context Protocol</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AI가 외부 도구나 데이터(DB, 문서 검색 등)에 연결하는 표준 연결 방식. "AI용 USB 포트"에 가깝다. AI가 DB를 직접 조회하거나 최신 문서를 찾게 함.</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postgres-mcp(DB 조회), context7(라이브러리 문서), sequential-thinking</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b="1" dirty="0">
                          <a:solidFill>
                            <a:srgbClr val="18212F"/>
                          </a:solidFill>
                          <a:latin typeface="Malgun Gothic" pitchFamily="34" charset="0"/>
                          <a:ea typeface="Malgun Gothic" pitchFamily="34" charset="-122"/>
                          <a:cs typeface="Malgun Gothic" pitchFamily="34" charset="-120"/>
                        </a:rPr>
                        <a:t>커스텀 명령</a:t>
                      </a:r>
                      <a:endParaRPr lang="en-US" sz="1200" dirty="0">
                        <a:latin typeface="Malgun Gothic" charset="0"/>
                        <a:ea typeface="Malgun Gothic" charset="0"/>
                        <a:cs typeface="Malgun Gothic" charset="0"/>
                      </a:endParaRPr>
                    </a:p>
                    <a:p>
                      <a:pPr indent="0" marL="0">
                        <a:buNone/>
                      </a:pPr>
                      <a:r>
                        <a:rPr lang="en-US" sz="1000" dirty="0">
                          <a:solidFill>
                            <a:srgbClr val="A4520C"/>
                          </a:solidFill>
                          <a:latin typeface="Malgun Gothic" pitchFamily="34" charset="0"/>
                          <a:ea typeface="Malgun Gothic" pitchFamily="34" charset="-122"/>
                          <a:cs typeface="Malgun Gothic" pitchFamily="34" charset="-120"/>
                        </a:rPr>
                        <a:t>Custom command</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.claude/commands/ 폴더의 md 파일로 만드는 나만의 슬래시 명령. 반복 절차를 문장으로 적어 두면 명령 한 줄로 실행된다. 같은 품질로 반복 작업.</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/issue-resolver-backend 9 처럼 이슈 번호만 넣으면 분석·테스트·구현</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b="1" dirty="0">
                          <a:solidFill>
                            <a:srgbClr val="18212F"/>
                          </a:solidFill>
                          <a:latin typeface="Malgun Gothic" pitchFamily="34" charset="0"/>
                          <a:ea typeface="Malgun Gothic" pitchFamily="34" charset="-122"/>
                          <a:cs typeface="Malgun Gothic" pitchFamily="34" charset="-120"/>
                        </a:rPr>
                        <a:t>훅</a:t>
                      </a:r>
                      <a:endParaRPr lang="en-US" sz="1200" dirty="0">
                        <a:latin typeface="Malgun Gothic" charset="0"/>
                        <a:ea typeface="Malgun Gothic" charset="0"/>
                        <a:cs typeface="Malgun Gothic" charset="0"/>
                      </a:endParaRPr>
                    </a:p>
                    <a:p>
                      <a:pPr indent="0" marL="0">
                        <a:buNone/>
                      </a:pPr>
                      <a:r>
                        <a:rPr lang="en-US" sz="1000" dirty="0">
                          <a:solidFill>
                            <a:srgbClr val="A4520C"/>
                          </a:solidFill>
                          <a:latin typeface="Malgun Gothic" pitchFamily="34" charset="0"/>
                          <a:ea typeface="Malgun Gothic" pitchFamily="34" charset="-122"/>
                          <a:cs typeface="Malgun Gothic" pitchFamily="34" charset="-120"/>
                        </a:rPr>
                        <a:t>Hook</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작업 종료 같은 특정 시점에 자동으로 실행되는 스크립트. 알림·검사 자동화.</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작업이 끝나면 "작업이 완료되었습니다" 한국어 음성</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b="1" dirty="0">
                          <a:solidFill>
                            <a:srgbClr val="18212F"/>
                          </a:solidFill>
                          <a:latin typeface="Malgun Gothic" pitchFamily="34" charset="0"/>
                          <a:ea typeface="Malgun Gothic" pitchFamily="34" charset="-122"/>
                          <a:cs typeface="Malgun Gothic" pitchFamily="34" charset="-120"/>
                        </a:rPr>
                        <a:t>토큰</a:t>
                      </a:r>
                      <a:endParaRPr lang="en-US" sz="1200" dirty="0">
                        <a:latin typeface="Malgun Gothic" charset="0"/>
                        <a:ea typeface="Malgun Gothic" charset="0"/>
                        <a:cs typeface="Malgun Gothic" charset="0"/>
                      </a:endParaRPr>
                    </a:p>
                    <a:p>
                      <a:pPr indent="0" marL="0">
                        <a:buNone/>
                      </a:pPr>
                      <a:r>
                        <a:rPr lang="en-US" sz="1000" dirty="0">
                          <a:solidFill>
                            <a:srgbClr val="A4520C"/>
                          </a:solidFill>
                          <a:latin typeface="Malgun Gothic" pitchFamily="34" charset="0"/>
                          <a:ea typeface="Malgun Gothic" pitchFamily="34" charset="-122"/>
                          <a:cs typeface="Malgun Gothic" pitchFamily="34" charset="-120"/>
                        </a:rPr>
                        <a:t>Token</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AI가 글을 처리하는 단위. 사용량과 비용의 기준이 된다. 작업량 = 토큰 사용량.</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오래 걸리는 작업에서 소모 걱정</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b="1" dirty="0">
                          <a:solidFill>
                            <a:srgbClr val="18212F"/>
                          </a:solidFill>
                          <a:latin typeface="Malgun Gothic" pitchFamily="34" charset="0"/>
                          <a:ea typeface="Malgun Gothic" pitchFamily="34" charset="-122"/>
                          <a:cs typeface="Malgun Gothic" pitchFamily="34" charset="-120"/>
                        </a:rPr>
                        <a:t>Claude in Chrome</a:t>
                      </a:r>
                      <a:endParaRPr lang="en-US" sz="1200" dirty="0">
                        <a:latin typeface="Malgun Gothic" charset="0"/>
                        <a:ea typeface="Malgun Gothic" charset="0"/>
                        <a:cs typeface="Malgun Gothic" charset="0"/>
                      </a:endParaRPr>
                    </a:p>
                    <a:p>
                      <a:pPr indent="0" marL="0">
                        <a:buNone/>
                      </a:pPr>
                      <a:r>
                        <a:rPr lang="en-US" sz="1000" dirty="0">
                          <a:solidFill>
                            <a:srgbClr val="A4520C"/>
                          </a:solidFill>
                          <a:latin typeface="Malgun Gothic" pitchFamily="34" charset="0"/>
                          <a:ea typeface="Malgun Gothic" pitchFamily="34" charset="-122"/>
                          <a:cs typeface="Malgun Gothic" pitchFamily="34" charset="-120"/>
                        </a:rPr>
                        <a:t>Chrome 확장 프로그램</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Claude가 사용자의 Chrome 브라우저를 직접 클릭·입력하며 조작하게 해 주는 확장. 실제 화면으로 확인하는 점검.</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FE-7 통합 점검. 두 탭 실시간 반영, 권한, 재연결 확인</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320040"/>
          </a:xfrm>
          <a:prstGeom prst="rect">
            <a:avLst/>
          </a:prstGeom>
          <a:noFill/>
          <a:ln/>
        </p:spPr>
        <p:txBody>
          <a:bodyPr wrap="square" lIns="0" tIns="0" rIns="0" bIns="0" rtlCol="0" anchor="ctr"/>
          <a:lstStyle/>
          <a:p>
            <a:pPr indent="0" marL="0">
              <a:buNone/>
            </a:pPr>
            <a:r>
              <a:rPr lang="en-US" sz="1200" dirty="0">
                <a:solidFill>
                  <a:srgbClr val="A4520C"/>
                </a:solidFill>
                <a:latin typeface="Consolas" pitchFamily="34" charset="0"/>
                <a:ea typeface="Consolas" pitchFamily="34" charset="-122"/>
                <a:cs typeface="Consolas" pitchFamily="34" charset="-120"/>
              </a:rPr>
              <a:t>용어 사전 · 코드를 쓰기 전에 만든 문서들. 강좌의 워크플로우 순서</a:t>
            </a:r>
            <a:endParaRPr lang="en-US" sz="1200" dirty="0"/>
          </a:p>
        </p:txBody>
      </p:sp>
      <p:sp>
        <p:nvSpPr>
          <p:cNvPr id="3" name="Text 0"/>
          <p:cNvSpPr/>
          <p:nvPr>
            <p:ph idx="101" type="title" hasCustomPrompt="1"/>
          </p:nvPr>
        </p:nvSpPr>
        <p:spPr>
          <a:xfrm>
            <a:off x="548640" y="658368"/>
            <a:ext cx="11094415" cy="731520"/>
          </a:xfrm>
          <a:prstGeom prst="rect">
            <a:avLst/>
          </a:prstGeom>
          <a:noFill/>
          <a:ln/>
        </p:spPr>
        <p:txBody>
          <a:bodyPr wrap="square" lIns="0" tIns="0" rIns="0" bIns="0" rtlCol="0" anchor="ctr"/>
          <a:lstStyle/>
          <a:p>
            <a:pPr algn="l" indent="0" marL="0">
              <a:buNone/>
            </a:pPr>
            <a:r>
              <a:rPr lang="en-US" sz="3000" b="1" dirty="0">
                <a:solidFill>
                  <a:srgbClr val="18212F"/>
                </a:solidFill>
              </a:rPr>
              <a:t>설계 문서 (1/2)</a:t>
            </a:r>
            <a:endParaRPr lang="en-US" sz="30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2743200"/>
                <a:gridCol w="5394960"/>
                <a:gridCol w="2953512"/>
              </a:tblGrid>
              <a:tr h="0">
                <a:tc>
                  <a:txBody>
                    <a:bodyPr/>
                    <a:lstStyle/>
                    <a:p>
                      <a:pPr indent="0" marL="0">
                        <a:buNone/>
                      </a:pPr>
                      <a:r>
                        <a:rPr lang="en-US" sz="1100" b="1" dirty="0">
                          <a:solidFill>
                            <a:srgbClr val="5B6678"/>
                          </a:solidFill>
                          <a:latin typeface="Malgun Gothic" pitchFamily="34" charset="0"/>
                          <a:ea typeface="Malgun Gothic" pitchFamily="34" charset="-122"/>
                          <a:cs typeface="Malgun Gothic" pitchFamily="34" charset="-120"/>
                        </a:rPr>
                        <a:t>용어 · 원래 이름</a:t>
                      </a:r>
                      <a:endParaRPr lang="en-US" sz="11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solidFill>
                      <a:srgbClr val="F3F5F8"/>
                    </a:solidFill>
                  </a:tcPr>
                </a:tc>
                <a:tc>
                  <a:txBody>
                    <a:bodyPr/>
                    <a:lstStyle/>
                    <a:p>
                      <a:pPr indent="0" marL="0">
                        <a:buNone/>
                      </a:pPr>
                      <a:r>
                        <a:rPr lang="en-US" sz="1100" b="1" dirty="0">
                          <a:solidFill>
                            <a:srgbClr val="5B6678"/>
                          </a:solidFill>
                          <a:latin typeface="Malgun Gothic" pitchFamily="34" charset="0"/>
                          <a:ea typeface="Malgun Gothic" pitchFamily="34" charset="-122"/>
                          <a:cs typeface="Malgun Gothic" pitchFamily="34" charset="-120"/>
                        </a:rPr>
                        <a:t>쉬운 뜻 · 하는 일</a:t>
                      </a:r>
                      <a:endParaRPr lang="en-US" sz="11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solidFill>
                      <a:srgbClr val="F3F5F8"/>
                    </a:solidFill>
                  </a:tcPr>
                </a:tc>
                <a:tc>
                  <a:txBody>
                    <a:bodyPr/>
                    <a:lstStyle/>
                    <a:p>
                      <a:pPr indent="0" marL="0">
                        <a:buNone/>
                      </a:pPr>
                      <a:r>
                        <a:rPr lang="en-US" sz="1100" b="1" dirty="0">
                          <a:solidFill>
                            <a:srgbClr val="5B6678"/>
                          </a:solidFill>
                          <a:latin typeface="Malgun Gothic" pitchFamily="34" charset="0"/>
                          <a:ea typeface="Malgun Gothic" pitchFamily="34" charset="-122"/>
                          <a:cs typeface="Malgun Gothic" pitchFamily="34" charset="-120"/>
                        </a:rPr>
                        <a:t>이 프로젝트에서</a:t>
                      </a:r>
                      <a:endParaRPr lang="en-US" sz="11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solidFill>
                      <a:srgbClr val="F3F5F8"/>
                    </a:solidFill>
                  </a:tcPr>
                </a:tc>
              </a:tr>
              <a:tr h="0">
                <a:tc>
                  <a:txBody>
                    <a:bodyPr/>
                    <a:lstStyle/>
                    <a:p>
                      <a:pPr indent="0" marL="0">
                        <a:buNone/>
                      </a:pPr>
                      <a:r>
                        <a:rPr lang="en-US" sz="1300" b="1" dirty="0">
                          <a:solidFill>
                            <a:srgbClr val="18212F"/>
                          </a:solidFill>
                          <a:latin typeface="Malgun Gothic" pitchFamily="34" charset="0"/>
                          <a:ea typeface="Malgun Gothic" pitchFamily="34" charset="-122"/>
                          <a:cs typeface="Malgun Gothic" pitchFamily="34" charset="-120"/>
                        </a:rPr>
                        <a:t>도메인정의서</a:t>
                      </a:r>
                      <a:endParaRPr lang="en-US" sz="1200" dirty="0">
                        <a:latin typeface="Malgun Gothic" charset="0"/>
                        <a:ea typeface="Malgun Gothic" charset="0"/>
                        <a:cs typeface="Malgun Gothic" charset="0"/>
                      </a:endParaRPr>
                    </a:p>
                    <a:p>
                      <a:pPr indent="0" marL="0">
                        <a:buNone/>
                      </a:pPr>
                      <a:r>
                        <a:rPr lang="en-US" sz="1000" dirty="0">
                          <a:solidFill>
                            <a:srgbClr val="A4520C"/>
                          </a:solidFill>
                          <a:latin typeface="Malgun Gothic" pitchFamily="34" charset="0"/>
                          <a:ea typeface="Malgun Gothic" pitchFamily="34" charset="-122"/>
                          <a:cs typeface="Malgun Gothic" pitchFamily="34" charset="-120"/>
                        </a:rPr>
                        <a:t>Domain Definition</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이 업무 영역(MPW, 임가공, Deliverables 등)의 용어, 범위, 업무 흐름을 정리한 문서. 모든 문서의 출발점. 같은 말을 같은 뜻으로 쓰게 함.</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docs/1-domain-definition.md</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b="1" dirty="0">
                          <a:solidFill>
                            <a:srgbClr val="18212F"/>
                          </a:solidFill>
                          <a:latin typeface="Malgun Gothic" pitchFamily="34" charset="0"/>
                          <a:ea typeface="Malgun Gothic" pitchFamily="34" charset="-122"/>
                          <a:cs typeface="Malgun Gothic" pitchFamily="34" charset="-120"/>
                        </a:rPr>
                        <a:t>PRD</a:t>
                      </a:r>
                      <a:endParaRPr lang="en-US" sz="1200" dirty="0">
                        <a:latin typeface="Malgun Gothic" charset="0"/>
                        <a:ea typeface="Malgun Gothic" charset="0"/>
                        <a:cs typeface="Malgun Gothic" charset="0"/>
                      </a:endParaRPr>
                    </a:p>
                    <a:p>
                      <a:pPr indent="0" marL="0">
                        <a:buNone/>
                      </a:pPr>
                      <a:r>
                        <a:rPr lang="en-US" sz="1000" dirty="0">
                          <a:solidFill>
                            <a:srgbClr val="A4520C"/>
                          </a:solidFill>
                          <a:latin typeface="Malgun Gothic" pitchFamily="34" charset="0"/>
                          <a:ea typeface="Malgun Gothic" pitchFamily="34" charset="-122"/>
                          <a:cs typeface="Malgun Gothic" pitchFamily="34" charset="-120"/>
                        </a:rPr>
                        <a:t>Product Requirements Document (제품 요구사항 문서)</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누가, 왜, 무엇을 쓰는지와 기능 목록, 각 기능의 수용 기준(이렇게 되면 완료)을 적은 문서. "무엇을 만들까"의 기준.</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docs/2-PRD.md. 기능은 FR-DL-01처럼 번호를 붙임</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b="1" dirty="0">
                          <a:solidFill>
                            <a:srgbClr val="18212F"/>
                          </a:solidFill>
                          <a:latin typeface="Malgun Gothic" pitchFamily="34" charset="0"/>
                          <a:ea typeface="Malgun Gothic" pitchFamily="34" charset="-122"/>
                          <a:cs typeface="Malgun Gothic" pitchFamily="34" charset="-120"/>
                        </a:rPr>
                        <a:t>FR</a:t>
                      </a:r>
                      <a:endParaRPr lang="en-US" sz="1200" dirty="0">
                        <a:latin typeface="Malgun Gothic" charset="0"/>
                        <a:ea typeface="Malgun Gothic" charset="0"/>
                        <a:cs typeface="Malgun Gothic" charset="0"/>
                      </a:endParaRPr>
                    </a:p>
                    <a:p>
                      <a:pPr indent="0" marL="0">
                        <a:buNone/>
                      </a:pPr>
                      <a:r>
                        <a:rPr lang="en-US" sz="1000" dirty="0">
                          <a:solidFill>
                            <a:srgbClr val="A4520C"/>
                          </a:solidFill>
                          <a:latin typeface="Malgun Gothic" pitchFamily="34" charset="0"/>
                          <a:ea typeface="Malgun Gothic" pitchFamily="34" charset="-122"/>
                          <a:cs typeface="Malgun Gothic" pitchFamily="34" charset="-120"/>
                        </a:rPr>
                        <a:t>Functional Requirement (기능 요구사항)</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PRD에 적힌 기능 하나하나의 번호. DL=Deliverables, MG=MapGen, IM=임가공, MS=Master. 문서·이슈·코드를 서로 연결하는 꼬리표.</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FR-MG-02(엑셀 파일 선택) 등</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b="1" dirty="0">
                          <a:solidFill>
                            <a:srgbClr val="18212F"/>
                          </a:solidFill>
                          <a:latin typeface="Malgun Gothic" pitchFamily="34" charset="0"/>
                          <a:ea typeface="Malgun Gothic" pitchFamily="34" charset="-122"/>
                          <a:cs typeface="Malgun Gothic" pitchFamily="34" charset="-120"/>
                        </a:rPr>
                        <a:t>사용자 시나리오</a:t>
                      </a:r>
                      <a:endParaRPr lang="en-US" sz="1200" dirty="0">
                        <a:latin typeface="Malgun Gothic" charset="0"/>
                        <a:ea typeface="Malgun Gothic" charset="0"/>
                        <a:cs typeface="Malgun Gothic" charset="0"/>
                      </a:endParaRPr>
                    </a:p>
                    <a:p>
                      <a:pPr indent="0" marL="0">
                        <a:buNone/>
                      </a:pPr>
                      <a:r>
                        <a:rPr lang="en-US" sz="1000" dirty="0">
                          <a:solidFill>
                            <a:srgbClr val="A4520C"/>
                          </a:solidFill>
                          <a:latin typeface="Malgun Gothic" pitchFamily="34" charset="0"/>
                          <a:ea typeface="Malgun Gothic" pitchFamily="34" charset="-122"/>
                          <a:cs typeface="Malgun Gothic" pitchFamily="34" charset="-120"/>
                        </a:rPr>
                        <a:t>User Scenario · Persona</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실제 사용자가 화면에서 겪는 순서를 이야기로 풀어 쓴 것. 페르소나는 대표 사용자 인물상. 예외 상황(파일 크기 초과, 동시 수정 등)을 미리 찾음.</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docs/3. 시나리오 4개 + 예외 시나리오</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b="1" dirty="0">
                          <a:solidFill>
                            <a:srgbClr val="18212F"/>
                          </a:solidFill>
                          <a:latin typeface="Malgun Gothic" pitchFamily="34" charset="0"/>
                          <a:ea typeface="Malgun Gothic" pitchFamily="34" charset="-122"/>
                          <a:cs typeface="Malgun Gothic" pitchFamily="34" charset="-120"/>
                        </a:rPr>
                        <a:t>아키텍처 다이어그램</a:t>
                      </a:r>
                      <a:endParaRPr lang="en-US" sz="1200" dirty="0">
                        <a:latin typeface="Malgun Gothic" charset="0"/>
                        <a:ea typeface="Malgun Gothic" charset="0"/>
                        <a:cs typeface="Malgun Gothic" charset="0"/>
                      </a:endParaRPr>
                    </a:p>
                    <a:p>
                      <a:pPr indent="0" marL="0">
                        <a:buNone/>
                      </a:pPr>
                      <a:r>
                        <a:rPr lang="en-US" sz="1000" dirty="0">
                          <a:solidFill>
                            <a:srgbClr val="A4520C"/>
                          </a:solidFill>
                          <a:latin typeface="Malgun Gothic" pitchFamily="34" charset="0"/>
                          <a:ea typeface="Malgun Gothic" pitchFamily="34" charset="-122"/>
                          <a:cs typeface="Malgun Gothic" pitchFamily="34" charset="-120"/>
                        </a:rPr>
                        <a:t>Architecture Diagram</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시스템을 이루는 덩어리(브라우저, 서버, DB)와 연결 관계를 그린 그림. 전체 구조를 한눈에.</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docs/5. Mermaid로 작성</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320040"/>
          </a:xfrm>
          <a:prstGeom prst="rect">
            <a:avLst/>
          </a:prstGeom>
          <a:noFill/>
          <a:ln/>
        </p:spPr>
        <p:txBody>
          <a:bodyPr wrap="square" lIns="0" tIns="0" rIns="0" bIns="0" rtlCol="0" anchor="ctr"/>
          <a:lstStyle/>
          <a:p>
            <a:pPr indent="0" marL="0">
              <a:buNone/>
            </a:pPr>
            <a:r>
              <a:rPr lang="en-US" sz="1200" dirty="0">
                <a:solidFill>
                  <a:srgbClr val="A4520C"/>
                </a:solidFill>
                <a:latin typeface="Consolas" pitchFamily="34" charset="0"/>
                <a:ea typeface="Consolas" pitchFamily="34" charset="-122"/>
                <a:cs typeface="Consolas" pitchFamily="34" charset="-120"/>
              </a:rPr>
              <a:t>용어 사전 · 코드를 쓰기 전에 만든 문서들. 강좌의 워크플로우 순서</a:t>
            </a:r>
            <a:endParaRPr lang="en-US" sz="1200" dirty="0"/>
          </a:p>
        </p:txBody>
      </p:sp>
      <p:sp>
        <p:nvSpPr>
          <p:cNvPr id="3" name="Text 0"/>
          <p:cNvSpPr/>
          <p:nvPr>
            <p:ph idx="101" type="title" hasCustomPrompt="1"/>
          </p:nvPr>
        </p:nvSpPr>
        <p:spPr>
          <a:xfrm>
            <a:off x="548640" y="658368"/>
            <a:ext cx="11094415" cy="731520"/>
          </a:xfrm>
          <a:prstGeom prst="rect">
            <a:avLst/>
          </a:prstGeom>
          <a:noFill/>
          <a:ln/>
        </p:spPr>
        <p:txBody>
          <a:bodyPr wrap="square" lIns="0" tIns="0" rIns="0" bIns="0" rtlCol="0" anchor="ctr"/>
          <a:lstStyle/>
          <a:p>
            <a:pPr algn="l" indent="0" marL="0">
              <a:buNone/>
            </a:pPr>
            <a:r>
              <a:rPr lang="en-US" sz="3000" b="1" dirty="0">
                <a:solidFill>
                  <a:srgbClr val="18212F"/>
                </a:solidFill>
              </a:rPr>
              <a:t>설계 문서 (2/2)</a:t>
            </a:r>
            <a:endParaRPr lang="en-US" sz="30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2743200"/>
                <a:gridCol w="5394960"/>
                <a:gridCol w="2953512"/>
              </a:tblGrid>
              <a:tr h="0">
                <a:tc>
                  <a:txBody>
                    <a:bodyPr/>
                    <a:lstStyle/>
                    <a:p>
                      <a:pPr indent="0" marL="0">
                        <a:buNone/>
                      </a:pPr>
                      <a:r>
                        <a:rPr lang="en-US" sz="1100" b="1" dirty="0">
                          <a:solidFill>
                            <a:srgbClr val="5B6678"/>
                          </a:solidFill>
                          <a:latin typeface="Malgun Gothic" pitchFamily="34" charset="0"/>
                          <a:ea typeface="Malgun Gothic" pitchFamily="34" charset="-122"/>
                          <a:cs typeface="Malgun Gothic" pitchFamily="34" charset="-120"/>
                        </a:rPr>
                        <a:t>용어 · 원래 이름</a:t>
                      </a:r>
                      <a:endParaRPr lang="en-US" sz="11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solidFill>
                      <a:srgbClr val="F3F5F8"/>
                    </a:solidFill>
                  </a:tcPr>
                </a:tc>
                <a:tc>
                  <a:txBody>
                    <a:bodyPr/>
                    <a:lstStyle/>
                    <a:p>
                      <a:pPr indent="0" marL="0">
                        <a:buNone/>
                      </a:pPr>
                      <a:r>
                        <a:rPr lang="en-US" sz="1100" b="1" dirty="0">
                          <a:solidFill>
                            <a:srgbClr val="5B6678"/>
                          </a:solidFill>
                          <a:latin typeface="Malgun Gothic" pitchFamily="34" charset="0"/>
                          <a:ea typeface="Malgun Gothic" pitchFamily="34" charset="-122"/>
                          <a:cs typeface="Malgun Gothic" pitchFamily="34" charset="-120"/>
                        </a:rPr>
                        <a:t>쉬운 뜻 · 하는 일</a:t>
                      </a:r>
                      <a:endParaRPr lang="en-US" sz="11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solidFill>
                      <a:srgbClr val="F3F5F8"/>
                    </a:solidFill>
                  </a:tcPr>
                </a:tc>
                <a:tc>
                  <a:txBody>
                    <a:bodyPr/>
                    <a:lstStyle/>
                    <a:p>
                      <a:pPr indent="0" marL="0">
                        <a:buNone/>
                      </a:pPr>
                      <a:r>
                        <a:rPr lang="en-US" sz="1100" b="1" dirty="0">
                          <a:solidFill>
                            <a:srgbClr val="5B6678"/>
                          </a:solidFill>
                          <a:latin typeface="Malgun Gothic" pitchFamily="34" charset="0"/>
                          <a:ea typeface="Malgun Gothic" pitchFamily="34" charset="-122"/>
                          <a:cs typeface="Malgun Gothic" pitchFamily="34" charset="-120"/>
                        </a:rPr>
                        <a:t>이 프로젝트에서</a:t>
                      </a:r>
                      <a:endParaRPr lang="en-US" sz="11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solidFill>
                      <a:srgbClr val="F3F5F8"/>
                    </a:solidFill>
                  </a:tcPr>
                </a:tc>
              </a:tr>
              <a:tr h="0">
                <a:tc>
                  <a:txBody>
                    <a:bodyPr/>
                    <a:lstStyle/>
                    <a:p>
                      <a:pPr indent="0" marL="0">
                        <a:buNone/>
                      </a:pPr>
                      <a:r>
                        <a:rPr lang="en-US" sz="1300" b="1" dirty="0">
                          <a:solidFill>
                            <a:srgbClr val="18212F"/>
                          </a:solidFill>
                          <a:latin typeface="Malgun Gothic" pitchFamily="34" charset="0"/>
                          <a:ea typeface="Malgun Gothic" pitchFamily="34" charset="-122"/>
                          <a:cs typeface="Malgun Gothic" pitchFamily="34" charset="-120"/>
                        </a:rPr>
                        <a:t>Mermaid</a:t>
                      </a:r>
                      <a:endParaRPr lang="en-US" sz="1200" dirty="0">
                        <a:latin typeface="Malgun Gothic" charset="0"/>
                        <a:ea typeface="Malgun Gothic" charset="0"/>
                        <a:cs typeface="Malgun Gothic" charset="0"/>
                      </a:endParaRPr>
                    </a:p>
                    <a:p>
                      <a:pPr indent="0" marL="0">
                        <a:buNone/>
                      </a:pPr>
                      <a:r>
                        <a:rPr lang="en-US" sz="1000" dirty="0">
                          <a:solidFill>
                            <a:srgbClr val="A4520C"/>
                          </a:solidFill>
                          <a:latin typeface="Malgun Gothic" pitchFamily="34" charset="0"/>
                          <a:ea typeface="Malgun Gothic" pitchFamily="34" charset="-122"/>
                          <a:cs typeface="Malgun Gothic" pitchFamily="34" charset="-120"/>
                        </a:rPr>
                        <a:t>Mermaid (다이어그램 문법)</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그림을 글(코드)로 적으면 다이어그램으로 그려 주는 문법. 문서 안에서 그림을 관리.</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아키텍처, ERD</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b="1" dirty="0">
                          <a:solidFill>
                            <a:srgbClr val="18212F"/>
                          </a:solidFill>
                          <a:latin typeface="Malgun Gothic" pitchFamily="34" charset="0"/>
                          <a:ea typeface="Malgun Gothic" pitchFamily="34" charset="-122"/>
                          <a:cs typeface="Malgun Gothic" pitchFamily="34" charset="-120"/>
                        </a:rPr>
                        <a:t>ERD</a:t>
                      </a:r>
                      <a:endParaRPr lang="en-US" sz="1200" dirty="0">
                        <a:latin typeface="Malgun Gothic" charset="0"/>
                        <a:ea typeface="Malgun Gothic" charset="0"/>
                        <a:cs typeface="Malgun Gothic" charset="0"/>
                      </a:endParaRPr>
                    </a:p>
                    <a:p>
                      <a:pPr indent="0" marL="0">
                        <a:buNone/>
                      </a:pPr>
                      <a:r>
                        <a:rPr lang="en-US" sz="1000" dirty="0">
                          <a:solidFill>
                            <a:srgbClr val="A4520C"/>
                          </a:solidFill>
                          <a:latin typeface="Malgun Gothic" pitchFamily="34" charset="0"/>
                          <a:ea typeface="Malgun Gothic" pitchFamily="34" charset="-122"/>
                          <a:cs typeface="Malgun Gothic" pitchFamily="34" charset="-120"/>
                        </a:rPr>
                        <a:t>Entity Relationship Diagram (개체-관계 다이어그램)</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DB에 어떤 표(테이블)가 있고 각 칸(컬럼)과 표끼리의 관계가 어떤지 그린 설계도. 데이터 구조 설계.</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docs/6-erd.md. 테이블 4개</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b="1" dirty="0">
                          <a:solidFill>
                            <a:srgbClr val="18212F"/>
                          </a:solidFill>
                          <a:latin typeface="Malgun Gothic" pitchFamily="34" charset="0"/>
                          <a:ea typeface="Malgun Gothic" pitchFamily="34" charset="-122"/>
                          <a:cs typeface="Malgun Gothic" pitchFamily="34" charset="-120"/>
                        </a:rPr>
                        <a:t>DDL</a:t>
                      </a:r>
                      <a:endParaRPr lang="en-US" sz="1200" dirty="0">
                        <a:latin typeface="Malgun Gothic" charset="0"/>
                        <a:ea typeface="Malgun Gothic" charset="0"/>
                        <a:cs typeface="Malgun Gothic" charset="0"/>
                      </a:endParaRPr>
                    </a:p>
                    <a:p>
                      <a:pPr indent="0" marL="0">
                        <a:buNone/>
                      </a:pPr>
                      <a:r>
                        <a:rPr lang="en-US" sz="1000" dirty="0">
                          <a:solidFill>
                            <a:srgbClr val="A4520C"/>
                          </a:solidFill>
                          <a:latin typeface="Malgun Gothic" pitchFamily="34" charset="0"/>
                          <a:ea typeface="Malgun Gothic" pitchFamily="34" charset="-122"/>
                          <a:cs typeface="Malgun Gothic" pitchFamily="34" charset="-120"/>
                        </a:rPr>
                        <a:t>Data Definition Language (데이터 정의 언어)</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CREATE TABLE처럼 DB에 표를 만들고 구조를 정하는 SQL 문장. ERD를 실제 DB 명령으로 바꾼 것.</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database/schema.sql → 나중에 마이그레이션으로 옮김</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b="1" dirty="0">
                          <a:solidFill>
                            <a:srgbClr val="18212F"/>
                          </a:solidFill>
                          <a:latin typeface="Malgun Gothic" pitchFamily="34" charset="0"/>
                          <a:ea typeface="Malgun Gothic" pitchFamily="34" charset="-122"/>
                          <a:cs typeface="Malgun Gothic" pitchFamily="34" charset="-120"/>
                        </a:rPr>
                        <a:t>실행계획</a:t>
                      </a:r>
                      <a:endParaRPr lang="en-US" sz="1200" dirty="0">
                        <a:latin typeface="Malgun Gothic" charset="0"/>
                        <a:ea typeface="Malgun Gothic" charset="0"/>
                        <a:cs typeface="Malgun Gothic" charset="0"/>
                      </a:endParaRPr>
                    </a:p>
                    <a:p>
                      <a:pPr indent="0" marL="0">
                        <a:buNone/>
                      </a:pPr>
                      <a:r>
                        <a:rPr lang="en-US" sz="1000" dirty="0">
                          <a:solidFill>
                            <a:srgbClr val="A4520C"/>
                          </a:solidFill>
                          <a:latin typeface="Malgun Gothic" pitchFamily="34" charset="0"/>
                          <a:ea typeface="Malgun Gothic" pitchFamily="34" charset="-122"/>
                          <a:cs typeface="Malgun Gothic" pitchFamily="34" charset="-120"/>
                        </a:rPr>
                        <a:t>Execution Plan</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할 일을 작은 Task로 나누고 각 Task의 완료 조건과 순서(의존성)를 적은 문서. GitHub 이슈의 원본.</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docs/7. DB-1~4, BE-1~7, FE-1~7</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b="1" dirty="0">
                          <a:solidFill>
                            <a:srgbClr val="18212F"/>
                          </a:solidFill>
                          <a:latin typeface="Malgun Gothic" pitchFamily="34" charset="0"/>
                          <a:ea typeface="Malgun Gothic" pitchFamily="34" charset="-122"/>
                          <a:cs typeface="Malgun Gothic" pitchFamily="34" charset="-120"/>
                        </a:rPr>
                        <a:t>와이어프레임</a:t>
                      </a:r>
                      <a:endParaRPr lang="en-US" sz="1200" dirty="0">
                        <a:latin typeface="Malgun Gothic" charset="0"/>
                        <a:ea typeface="Malgun Gothic" charset="0"/>
                        <a:cs typeface="Malgun Gothic" charset="0"/>
                      </a:endParaRPr>
                    </a:p>
                    <a:p>
                      <a:pPr indent="0" marL="0">
                        <a:buNone/>
                      </a:pPr>
                      <a:r>
                        <a:rPr lang="en-US" sz="1000" dirty="0">
                          <a:solidFill>
                            <a:srgbClr val="A4520C"/>
                          </a:solidFill>
                          <a:latin typeface="Malgun Gothic" pitchFamily="34" charset="0"/>
                          <a:ea typeface="Malgun Gothic" pitchFamily="34" charset="-122"/>
                          <a:cs typeface="Malgun Gothic" pitchFamily="34" charset="-120"/>
                        </a:rPr>
                        <a:t>Wireframe</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색이나 디자인 없이 화면에 무엇이 어디에 놓이는지만 잡은 뼈대 그림. 화면 배치 합의.</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docs/8. 신규·변경 화면만</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320040"/>
          </a:xfrm>
          <a:prstGeom prst="rect">
            <a:avLst/>
          </a:prstGeom>
          <a:noFill/>
          <a:ln/>
        </p:spPr>
        <p:txBody>
          <a:bodyPr wrap="square" lIns="0" tIns="0" rIns="0" bIns="0" rtlCol="0" anchor="ctr"/>
          <a:lstStyle/>
          <a:p>
            <a:pPr indent="0" marL="0">
              <a:buNone/>
            </a:pPr>
            <a:r>
              <a:rPr lang="en-US" sz="1200" dirty="0">
                <a:solidFill>
                  <a:srgbClr val="A4520C"/>
                </a:solidFill>
                <a:latin typeface="Consolas" pitchFamily="34" charset="0"/>
                <a:ea typeface="Consolas" pitchFamily="34" charset="-122"/>
                <a:cs typeface="Consolas" pitchFamily="34" charset="-120"/>
              </a:rPr>
              <a:t>용어 사전 · 사용자가 브라우저에서 보는 화면 쪽</a:t>
            </a:r>
            <a:endParaRPr lang="en-US" sz="1200" dirty="0"/>
          </a:p>
        </p:txBody>
      </p:sp>
      <p:sp>
        <p:nvSpPr>
          <p:cNvPr id="3" name="Text 0"/>
          <p:cNvSpPr/>
          <p:nvPr>
            <p:ph idx="101" type="title" hasCustomPrompt="1"/>
          </p:nvPr>
        </p:nvSpPr>
        <p:spPr>
          <a:xfrm>
            <a:off x="548640" y="658368"/>
            <a:ext cx="11094415" cy="731520"/>
          </a:xfrm>
          <a:prstGeom prst="rect">
            <a:avLst/>
          </a:prstGeom>
          <a:noFill/>
          <a:ln/>
        </p:spPr>
        <p:txBody>
          <a:bodyPr wrap="square" lIns="0" tIns="0" rIns="0" bIns="0" rtlCol="0" anchor="ctr"/>
          <a:lstStyle/>
          <a:p>
            <a:pPr algn="l" indent="0" marL="0">
              <a:buNone/>
            </a:pPr>
            <a:r>
              <a:rPr lang="en-US" sz="3000" b="1" dirty="0">
                <a:solidFill>
                  <a:srgbClr val="18212F"/>
                </a:solidFill>
              </a:rPr>
              <a:t>프론트엔드</a:t>
            </a:r>
            <a:endParaRPr lang="en-US" sz="30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2743200"/>
                <a:gridCol w="5394960"/>
                <a:gridCol w="2953512"/>
              </a:tblGrid>
              <a:tr h="0">
                <a:tc>
                  <a:txBody>
                    <a:bodyPr/>
                    <a:lstStyle/>
                    <a:p>
                      <a:pPr indent="0" marL="0">
                        <a:buNone/>
                      </a:pPr>
                      <a:r>
                        <a:rPr lang="en-US" sz="1100" b="1" dirty="0">
                          <a:solidFill>
                            <a:srgbClr val="5B6678"/>
                          </a:solidFill>
                          <a:latin typeface="Malgun Gothic" pitchFamily="34" charset="0"/>
                          <a:ea typeface="Malgun Gothic" pitchFamily="34" charset="-122"/>
                          <a:cs typeface="Malgun Gothic" pitchFamily="34" charset="-120"/>
                        </a:rPr>
                        <a:t>용어 · 원래 이름</a:t>
                      </a:r>
                      <a:endParaRPr lang="en-US" sz="11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solidFill>
                      <a:srgbClr val="F3F5F8"/>
                    </a:solidFill>
                  </a:tcPr>
                </a:tc>
                <a:tc>
                  <a:txBody>
                    <a:bodyPr/>
                    <a:lstStyle/>
                    <a:p>
                      <a:pPr indent="0" marL="0">
                        <a:buNone/>
                      </a:pPr>
                      <a:r>
                        <a:rPr lang="en-US" sz="1100" b="1" dirty="0">
                          <a:solidFill>
                            <a:srgbClr val="5B6678"/>
                          </a:solidFill>
                          <a:latin typeface="Malgun Gothic" pitchFamily="34" charset="0"/>
                          <a:ea typeface="Malgun Gothic" pitchFamily="34" charset="-122"/>
                          <a:cs typeface="Malgun Gothic" pitchFamily="34" charset="-120"/>
                        </a:rPr>
                        <a:t>쉬운 뜻 · 하는 일</a:t>
                      </a:r>
                      <a:endParaRPr lang="en-US" sz="11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solidFill>
                      <a:srgbClr val="F3F5F8"/>
                    </a:solidFill>
                  </a:tcPr>
                </a:tc>
                <a:tc>
                  <a:txBody>
                    <a:bodyPr/>
                    <a:lstStyle/>
                    <a:p>
                      <a:pPr indent="0" marL="0">
                        <a:buNone/>
                      </a:pPr>
                      <a:r>
                        <a:rPr lang="en-US" sz="1100" b="1" dirty="0">
                          <a:solidFill>
                            <a:srgbClr val="5B6678"/>
                          </a:solidFill>
                          <a:latin typeface="Malgun Gothic" pitchFamily="34" charset="0"/>
                          <a:ea typeface="Malgun Gothic" pitchFamily="34" charset="-122"/>
                          <a:cs typeface="Malgun Gothic" pitchFamily="34" charset="-120"/>
                        </a:rPr>
                        <a:t>이 프로젝트에서</a:t>
                      </a:r>
                      <a:endParaRPr lang="en-US" sz="11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solidFill>
                      <a:srgbClr val="F3F5F8"/>
                    </a:solidFill>
                  </a:tcPr>
                </a:tc>
              </a:tr>
              <a:tr h="0">
                <a:tc>
                  <a:txBody>
                    <a:bodyPr/>
                    <a:lstStyle/>
                    <a:p>
                      <a:pPr indent="0" marL="0">
                        <a:buNone/>
                      </a:pPr>
                      <a:r>
                        <a:rPr lang="en-US" sz="1300" b="1" dirty="0">
                          <a:solidFill>
                            <a:srgbClr val="18212F"/>
                          </a:solidFill>
                          <a:latin typeface="Malgun Gothic" pitchFamily="34" charset="0"/>
                          <a:ea typeface="Malgun Gothic" pitchFamily="34" charset="-122"/>
                          <a:cs typeface="Malgun Gothic" pitchFamily="34" charset="-120"/>
                        </a:rPr>
                        <a:t>풀스택</a:t>
                      </a:r>
                      <a:endParaRPr lang="en-US" sz="1200" dirty="0">
                        <a:latin typeface="Malgun Gothic" charset="0"/>
                        <a:ea typeface="Malgun Gothic" charset="0"/>
                        <a:cs typeface="Malgun Gothic" charset="0"/>
                      </a:endParaRPr>
                    </a:p>
                    <a:p>
                      <a:pPr indent="0" marL="0">
                        <a:buNone/>
                      </a:pPr>
                      <a:r>
                        <a:rPr lang="en-US" sz="1000" dirty="0">
                          <a:solidFill>
                            <a:srgbClr val="A4520C"/>
                          </a:solidFill>
                          <a:latin typeface="Malgun Gothic" pitchFamily="34" charset="0"/>
                          <a:ea typeface="Malgun Gothic" pitchFamily="34" charset="-122"/>
                          <a:cs typeface="Malgun Gothic" pitchFamily="34" charset="-120"/>
                        </a:rPr>
                        <a:t>Full Stack</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화면(프론트엔드)부터 서버(백엔드), 데이터베이스까지 모든 층을 함께 다루는 개발. 이번 강좌와 프로젝트의 목표.</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SvelteKit + Express + PostgreSQL</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b="1" dirty="0">
                          <a:solidFill>
                            <a:srgbClr val="18212F"/>
                          </a:solidFill>
                          <a:latin typeface="Malgun Gothic" pitchFamily="34" charset="0"/>
                          <a:ea typeface="Malgun Gothic" pitchFamily="34" charset="-122"/>
                          <a:cs typeface="Malgun Gothic" pitchFamily="34" charset="-120"/>
                        </a:rPr>
                        <a:t>프론트엔드</a:t>
                      </a:r>
                      <a:endParaRPr lang="en-US" sz="1200" dirty="0">
                        <a:latin typeface="Malgun Gothic" charset="0"/>
                        <a:ea typeface="Malgun Gothic" charset="0"/>
                        <a:cs typeface="Malgun Gothic" charset="0"/>
                      </a:endParaRPr>
                    </a:p>
                    <a:p>
                      <a:pPr indent="0" marL="0">
                        <a:buNone/>
                      </a:pPr>
                      <a:r>
                        <a:rPr lang="en-US" sz="1000" dirty="0">
                          <a:solidFill>
                            <a:srgbClr val="A4520C"/>
                          </a:solidFill>
                          <a:latin typeface="Malgun Gothic" pitchFamily="34" charset="0"/>
                          <a:ea typeface="Malgun Gothic" pitchFamily="34" charset="-122"/>
                          <a:cs typeface="Malgun Gothic" pitchFamily="34" charset="-120"/>
                        </a:rPr>
                        <a:t>Frontend</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사용자가 보는 화면. 브라우저에서 실행된다. 입력 받기, 보여 주기.</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src/ 폴더, 화면 6개</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b="1" dirty="0">
                          <a:solidFill>
                            <a:srgbClr val="18212F"/>
                          </a:solidFill>
                          <a:latin typeface="Malgun Gothic" pitchFamily="34" charset="0"/>
                          <a:ea typeface="Malgun Gothic" pitchFamily="34" charset="-122"/>
                          <a:cs typeface="Malgun Gothic" pitchFamily="34" charset="-120"/>
                        </a:rPr>
                        <a:t>SvelteKit</a:t>
                      </a:r>
                      <a:endParaRPr lang="en-US" sz="1200" dirty="0">
                        <a:latin typeface="Malgun Gothic" charset="0"/>
                        <a:ea typeface="Malgun Gothic" charset="0"/>
                        <a:cs typeface="Malgun Gothic" charset="0"/>
                      </a:endParaRPr>
                    </a:p>
                    <a:p>
                      <a:pPr indent="0" marL="0">
                        <a:buNone/>
                      </a:pPr>
                      <a:r>
                        <a:rPr lang="en-US" sz="1000" dirty="0">
                          <a:solidFill>
                            <a:srgbClr val="A4520C"/>
                          </a:solidFill>
                          <a:latin typeface="Malgun Gothic" pitchFamily="34" charset="0"/>
                          <a:ea typeface="Malgun Gothic" pitchFamily="34" charset="-122"/>
                          <a:cs typeface="Malgun Gothic" pitchFamily="34" charset="-120"/>
                        </a:rPr>
                        <a:t>Svelte · SvelteKit</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Svelte는 화면 부품(컴포넌트)을 만드는 프레임워크, SvelteKit은 여기에 페이지 이동·서버 렌더링을 더한 앱 프레임워크. 화면 전체를 만드는 틀.</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/deliverables, /mapgen 등 페이지 파일</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b="1" dirty="0">
                          <a:solidFill>
                            <a:srgbClr val="18212F"/>
                          </a:solidFill>
                          <a:latin typeface="Malgun Gothic" pitchFamily="34" charset="0"/>
                          <a:ea typeface="Malgun Gothic" pitchFamily="34" charset="-122"/>
                          <a:cs typeface="Malgun Gothic" pitchFamily="34" charset="-120"/>
                        </a:rPr>
                        <a:t>Vite</a:t>
                      </a:r>
                      <a:endParaRPr lang="en-US" sz="1200" dirty="0">
                        <a:latin typeface="Malgun Gothic" charset="0"/>
                        <a:ea typeface="Malgun Gothic" charset="0"/>
                        <a:cs typeface="Malgun Gothic" charset="0"/>
                      </a:endParaRPr>
                    </a:p>
                    <a:p>
                      <a:pPr indent="0" marL="0">
                        <a:buNone/>
                      </a:pPr>
                      <a:r>
                        <a:rPr lang="en-US" sz="1000" dirty="0">
                          <a:solidFill>
                            <a:srgbClr val="A4520C"/>
                          </a:solidFill>
                          <a:latin typeface="Malgun Gothic" pitchFamily="34" charset="0"/>
                          <a:ea typeface="Malgun Gothic" pitchFamily="34" charset="-122"/>
                          <a:cs typeface="Malgun Gothic" pitchFamily="34" charset="-120"/>
                        </a:rPr>
                        <a:t>Vite (빌드 도구)</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개발용 서버와 빌드 도구. 코드를 저장하면 화면에 바로 반영된다. 개발 중 화면 띄우기.</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pnpm dev → localhost:5173</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b="1" dirty="0">
                          <a:solidFill>
                            <a:srgbClr val="18212F"/>
                          </a:solidFill>
                          <a:latin typeface="Malgun Gothic" pitchFamily="34" charset="0"/>
                          <a:ea typeface="Malgun Gothic" pitchFamily="34" charset="-122"/>
                          <a:cs typeface="Malgun Gothic" pitchFamily="34" charset="-120"/>
                        </a:rPr>
                        <a:t>Tailwind</a:t>
                      </a:r>
                      <a:endParaRPr lang="en-US" sz="1200" dirty="0">
                        <a:latin typeface="Malgun Gothic" charset="0"/>
                        <a:ea typeface="Malgun Gothic" charset="0"/>
                        <a:cs typeface="Malgun Gothic" charset="0"/>
                      </a:endParaRPr>
                    </a:p>
                    <a:p>
                      <a:pPr indent="0" marL="0">
                        <a:buNone/>
                      </a:pPr>
                      <a:r>
                        <a:rPr lang="en-US" sz="1000" dirty="0">
                          <a:solidFill>
                            <a:srgbClr val="A4520C"/>
                          </a:solidFill>
                          <a:latin typeface="Malgun Gothic" pitchFamily="34" charset="0"/>
                          <a:ea typeface="Malgun Gothic" pitchFamily="34" charset="-122"/>
                          <a:cs typeface="Malgun Gothic" pitchFamily="34" charset="-120"/>
                        </a:rPr>
                        <a:t>Tailwind CSS</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미리 정의된 짧은 클래스 이름으로 디자인(스타일)을 입히는 CSS 도구. 화면 꾸미기.</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프로젝트 기본 설정에 포함</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b="1" dirty="0">
                          <a:solidFill>
                            <a:srgbClr val="18212F"/>
                          </a:solidFill>
                          <a:latin typeface="Malgun Gothic" pitchFamily="34" charset="0"/>
                          <a:ea typeface="Malgun Gothic" pitchFamily="34" charset="-122"/>
                          <a:cs typeface="Malgun Gothic" pitchFamily="34" charset="-120"/>
                        </a:rPr>
                        <a:t>스토어</a:t>
                      </a:r>
                      <a:endParaRPr lang="en-US" sz="1200" dirty="0">
                        <a:latin typeface="Malgun Gothic" charset="0"/>
                        <a:ea typeface="Malgun Gothic" charset="0"/>
                        <a:cs typeface="Malgun Gothic" charset="0"/>
                      </a:endParaRPr>
                    </a:p>
                    <a:p>
                      <a:pPr indent="0" marL="0">
                        <a:buNone/>
                      </a:pPr>
                      <a:r>
                        <a:rPr lang="en-US" sz="1000" dirty="0">
                          <a:solidFill>
                            <a:srgbClr val="A4520C"/>
                          </a:solidFill>
                          <a:latin typeface="Malgun Gothic" pitchFamily="34" charset="0"/>
                          <a:ea typeface="Malgun Gothic" pitchFamily="34" charset="-122"/>
                          <a:cs typeface="Malgun Gothic" pitchFamily="34" charset="-120"/>
                        </a:rPr>
                        <a:t>Store (공유 상태)</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여러 화면이 함께 쓰는 데이터 보관소. 페이지를 옮겨도 값이 유지된다. 화면과 서버 통신 사이의 중간 관리자.</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deliverablesStore, imgagongStore 등</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b="1" dirty="0">
                          <a:solidFill>
                            <a:srgbClr val="18212F"/>
                          </a:solidFill>
                          <a:latin typeface="Malgun Gothic" pitchFamily="34" charset="0"/>
                          <a:ea typeface="Malgun Gothic" pitchFamily="34" charset="-122"/>
                          <a:cs typeface="Malgun Gothic" pitchFamily="34" charset="-120"/>
                        </a:rPr>
                        <a:t>SSR</a:t>
                      </a:r>
                      <a:endParaRPr lang="en-US" sz="1200" dirty="0">
                        <a:latin typeface="Malgun Gothic" charset="0"/>
                        <a:ea typeface="Malgun Gothic" charset="0"/>
                        <a:cs typeface="Malgun Gothic" charset="0"/>
                      </a:endParaRPr>
                    </a:p>
                    <a:p>
                      <a:pPr indent="0" marL="0">
                        <a:buNone/>
                      </a:pPr>
                      <a:r>
                        <a:rPr lang="en-US" sz="1000" dirty="0">
                          <a:solidFill>
                            <a:srgbClr val="A4520C"/>
                          </a:solidFill>
                          <a:latin typeface="Malgun Gothic" pitchFamily="34" charset="0"/>
                          <a:ea typeface="Malgun Gothic" pitchFamily="34" charset="-122"/>
                          <a:cs typeface="Malgun Gothic" pitchFamily="34" charset="-120"/>
                        </a:rPr>
                        <a:t>Server-Side Rendering (서버 측 렌더링)</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페이지의 HTML을 서버가 먼저 만들어 보내는 방식. 첫 화면이 빨리 보인다. SvelteKit 기본 동작.</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엑셀 라이브러리 때문에 /mapgen이 500 오류 → 설정으로 해결</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320040"/>
          </a:xfrm>
          <a:prstGeom prst="rect">
            <a:avLst/>
          </a:prstGeom>
          <a:noFill/>
          <a:ln/>
        </p:spPr>
        <p:txBody>
          <a:bodyPr wrap="square" lIns="0" tIns="0" rIns="0" bIns="0" rtlCol="0" anchor="ctr"/>
          <a:lstStyle/>
          <a:p>
            <a:pPr indent="0" marL="0">
              <a:buNone/>
            </a:pPr>
            <a:r>
              <a:rPr lang="en-US" sz="1200" dirty="0">
                <a:solidFill>
                  <a:srgbClr val="A4520C"/>
                </a:solidFill>
                <a:latin typeface="Consolas" pitchFamily="34" charset="0"/>
                <a:ea typeface="Consolas" pitchFamily="34" charset="-122"/>
                <a:cs typeface="Consolas" pitchFamily="34" charset="-120"/>
              </a:rPr>
              <a:t>용어 사전 · 화면 뒤에서 데이터와 규칙을 처리하는 서버 쪽</a:t>
            </a:r>
            <a:endParaRPr lang="en-US" sz="1200" dirty="0"/>
          </a:p>
        </p:txBody>
      </p:sp>
      <p:sp>
        <p:nvSpPr>
          <p:cNvPr id="3" name="Text 0"/>
          <p:cNvSpPr/>
          <p:nvPr>
            <p:ph idx="101" type="title" hasCustomPrompt="1"/>
          </p:nvPr>
        </p:nvSpPr>
        <p:spPr>
          <a:xfrm>
            <a:off x="548640" y="658368"/>
            <a:ext cx="11094415" cy="731520"/>
          </a:xfrm>
          <a:prstGeom prst="rect">
            <a:avLst/>
          </a:prstGeom>
          <a:noFill/>
          <a:ln/>
        </p:spPr>
        <p:txBody>
          <a:bodyPr wrap="square" lIns="0" tIns="0" rIns="0" bIns="0" rtlCol="0" anchor="ctr"/>
          <a:lstStyle/>
          <a:p>
            <a:pPr algn="l" indent="0" marL="0">
              <a:buNone/>
            </a:pPr>
            <a:r>
              <a:rPr lang="en-US" sz="3000" b="1" dirty="0">
                <a:solidFill>
                  <a:srgbClr val="18212F"/>
                </a:solidFill>
              </a:rPr>
              <a:t>백엔드</a:t>
            </a:r>
            <a:endParaRPr lang="en-US" sz="30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2743200"/>
                <a:gridCol w="5394960"/>
                <a:gridCol w="2953512"/>
              </a:tblGrid>
              <a:tr h="0">
                <a:tc>
                  <a:txBody>
                    <a:bodyPr/>
                    <a:lstStyle/>
                    <a:p>
                      <a:pPr indent="0" marL="0">
                        <a:buNone/>
                      </a:pPr>
                      <a:r>
                        <a:rPr lang="en-US" sz="1100" b="1" dirty="0">
                          <a:solidFill>
                            <a:srgbClr val="5B6678"/>
                          </a:solidFill>
                          <a:latin typeface="Malgun Gothic" pitchFamily="34" charset="0"/>
                          <a:ea typeface="Malgun Gothic" pitchFamily="34" charset="-122"/>
                          <a:cs typeface="Malgun Gothic" pitchFamily="34" charset="-120"/>
                        </a:rPr>
                        <a:t>용어 · 원래 이름</a:t>
                      </a:r>
                      <a:endParaRPr lang="en-US" sz="11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solidFill>
                      <a:srgbClr val="F3F5F8"/>
                    </a:solidFill>
                  </a:tcPr>
                </a:tc>
                <a:tc>
                  <a:txBody>
                    <a:bodyPr/>
                    <a:lstStyle/>
                    <a:p>
                      <a:pPr indent="0" marL="0">
                        <a:buNone/>
                      </a:pPr>
                      <a:r>
                        <a:rPr lang="en-US" sz="1100" b="1" dirty="0">
                          <a:solidFill>
                            <a:srgbClr val="5B6678"/>
                          </a:solidFill>
                          <a:latin typeface="Malgun Gothic" pitchFamily="34" charset="0"/>
                          <a:ea typeface="Malgun Gothic" pitchFamily="34" charset="-122"/>
                          <a:cs typeface="Malgun Gothic" pitchFamily="34" charset="-120"/>
                        </a:rPr>
                        <a:t>쉬운 뜻 · 하는 일</a:t>
                      </a:r>
                      <a:endParaRPr lang="en-US" sz="11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solidFill>
                      <a:srgbClr val="F3F5F8"/>
                    </a:solidFill>
                  </a:tcPr>
                </a:tc>
                <a:tc>
                  <a:txBody>
                    <a:bodyPr/>
                    <a:lstStyle/>
                    <a:p>
                      <a:pPr indent="0" marL="0">
                        <a:buNone/>
                      </a:pPr>
                      <a:r>
                        <a:rPr lang="en-US" sz="1100" b="1" dirty="0">
                          <a:solidFill>
                            <a:srgbClr val="5B6678"/>
                          </a:solidFill>
                          <a:latin typeface="Malgun Gothic" pitchFamily="34" charset="0"/>
                          <a:ea typeface="Malgun Gothic" pitchFamily="34" charset="-122"/>
                          <a:cs typeface="Malgun Gothic" pitchFamily="34" charset="-120"/>
                        </a:rPr>
                        <a:t>이 프로젝트에서</a:t>
                      </a:r>
                      <a:endParaRPr lang="en-US" sz="11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solidFill>
                      <a:srgbClr val="F3F5F8"/>
                    </a:solidFill>
                  </a:tcPr>
                </a:tc>
              </a:tr>
              <a:tr h="0">
                <a:tc>
                  <a:txBody>
                    <a:bodyPr/>
                    <a:lstStyle/>
                    <a:p>
                      <a:pPr indent="0" marL="0">
                        <a:buNone/>
                      </a:pPr>
                      <a:r>
                        <a:rPr lang="en-US" sz="1300" b="1" dirty="0">
                          <a:solidFill>
                            <a:srgbClr val="18212F"/>
                          </a:solidFill>
                          <a:latin typeface="Malgun Gothic" pitchFamily="34" charset="0"/>
                          <a:ea typeface="Malgun Gothic" pitchFamily="34" charset="-122"/>
                          <a:cs typeface="Malgun Gothic" pitchFamily="34" charset="-120"/>
                        </a:rPr>
                        <a:t>백엔드</a:t>
                      </a:r>
                      <a:endParaRPr lang="en-US" sz="1200" dirty="0">
                        <a:latin typeface="Malgun Gothic" charset="0"/>
                        <a:ea typeface="Malgun Gothic" charset="0"/>
                        <a:cs typeface="Malgun Gothic" charset="0"/>
                      </a:endParaRPr>
                    </a:p>
                    <a:p>
                      <a:pPr indent="0" marL="0">
                        <a:buNone/>
                      </a:pPr>
                      <a:r>
                        <a:rPr lang="en-US" sz="1000" dirty="0">
                          <a:solidFill>
                            <a:srgbClr val="A4520C"/>
                          </a:solidFill>
                          <a:latin typeface="Malgun Gothic" pitchFamily="34" charset="0"/>
                          <a:ea typeface="Malgun Gothic" pitchFamily="34" charset="-122"/>
                          <a:cs typeface="Malgun Gothic" pitchFamily="34" charset="-120"/>
                        </a:rPr>
                        <a:t>Backend</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화면 뒤에서 데이터 저장, 로그인 확인, 권한·업무 규칙을 처리하는 서버 쪽 프로그램. 여러 사람이 같은 데이터를 안전하게 공유.</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server/ 폴더, localhost:3001</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b="1" dirty="0">
                          <a:solidFill>
                            <a:srgbClr val="18212F"/>
                          </a:solidFill>
                          <a:latin typeface="Malgun Gothic" pitchFamily="34" charset="0"/>
                          <a:ea typeface="Malgun Gothic" pitchFamily="34" charset="-122"/>
                          <a:cs typeface="Malgun Gothic" pitchFamily="34" charset="-120"/>
                        </a:rPr>
                        <a:t>Node.js</a:t>
                      </a:r>
                      <a:endParaRPr lang="en-US" sz="1200" dirty="0">
                        <a:latin typeface="Malgun Gothic" charset="0"/>
                        <a:ea typeface="Malgun Gothic" charset="0"/>
                        <a:cs typeface="Malgun Gothic" charset="0"/>
                      </a:endParaRPr>
                    </a:p>
                    <a:p>
                      <a:pPr indent="0" marL="0">
                        <a:buNone/>
                      </a:pPr>
                      <a:r>
                        <a:rPr lang="en-US" sz="1000" dirty="0">
                          <a:solidFill>
                            <a:srgbClr val="A4520C"/>
                          </a:solidFill>
                          <a:latin typeface="Malgun Gothic" pitchFamily="34" charset="0"/>
                          <a:ea typeface="Malgun Gothic" pitchFamily="34" charset="-122"/>
                          <a:cs typeface="Malgun Gothic" pitchFamily="34" charset="-120"/>
                        </a:rPr>
                        <a:t>Node.js (자바스크립트 실행 환경)</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브라우저 밖(PC, 서버)에서 JavaScript를 실행하게 해 주는 프로그램. 백엔드가 돌아가는 바닥.</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Node 24</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b="1" dirty="0">
                          <a:solidFill>
                            <a:srgbClr val="18212F"/>
                          </a:solidFill>
                          <a:latin typeface="Malgun Gothic" pitchFamily="34" charset="0"/>
                          <a:ea typeface="Malgun Gothic" pitchFamily="34" charset="-122"/>
                          <a:cs typeface="Malgun Gothic" pitchFamily="34" charset="-120"/>
                        </a:rPr>
                        <a:t>Express</a:t>
                      </a:r>
                      <a:endParaRPr lang="en-US" sz="1200" dirty="0">
                        <a:latin typeface="Malgun Gothic" charset="0"/>
                        <a:ea typeface="Malgun Gothic" charset="0"/>
                        <a:cs typeface="Malgun Gothic" charset="0"/>
                      </a:endParaRPr>
                    </a:p>
                    <a:p>
                      <a:pPr indent="0" marL="0">
                        <a:buNone/>
                      </a:pPr>
                      <a:r>
                        <a:rPr lang="en-US" sz="1000" dirty="0">
                          <a:solidFill>
                            <a:srgbClr val="A4520C"/>
                          </a:solidFill>
                          <a:latin typeface="Malgun Gothic" pitchFamily="34" charset="0"/>
                          <a:ea typeface="Malgun Gothic" pitchFamily="34" charset="-122"/>
                          <a:cs typeface="Malgun Gothic" pitchFamily="34" charset="-120"/>
                        </a:rPr>
                        <a:t>Express (Node.js 웹 서버 프레임워크)</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주소(URL)별로 요청을 받아 처리하고 응답하는 서버 코드를 쉽게 짜게 해 주는 도구. API 창구 만들기.</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routes → controller → service → repository 4단 구조</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b="1" dirty="0">
                          <a:solidFill>
                            <a:srgbClr val="18212F"/>
                          </a:solidFill>
                          <a:latin typeface="Malgun Gothic" pitchFamily="34" charset="0"/>
                          <a:ea typeface="Malgun Gothic" pitchFamily="34" charset="-122"/>
                          <a:cs typeface="Malgun Gothic" pitchFamily="34" charset="-120"/>
                        </a:rPr>
                        <a:t>Passport</a:t>
                      </a:r>
                      <a:endParaRPr lang="en-US" sz="1200" dirty="0">
                        <a:latin typeface="Malgun Gothic" charset="0"/>
                        <a:ea typeface="Malgun Gothic" charset="0"/>
                        <a:cs typeface="Malgun Gothic" charset="0"/>
                      </a:endParaRPr>
                    </a:p>
                    <a:p>
                      <a:pPr indent="0" marL="0">
                        <a:buNone/>
                      </a:pPr>
                      <a:r>
                        <a:rPr lang="en-US" sz="1000" dirty="0">
                          <a:solidFill>
                            <a:srgbClr val="A4520C"/>
                          </a:solidFill>
                          <a:latin typeface="Malgun Gothic" pitchFamily="34" charset="0"/>
                          <a:ea typeface="Malgun Gothic" pitchFamily="34" charset="-122"/>
                          <a:cs typeface="Malgun Gothic" pitchFamily="34" charset="-120"/>
                        </a:rPr>
                        <a:t>Passport.js (인증 라이브러리)</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로그인(이메일·비밀번호 확인)을 처리해 주는 Node.js 도구. 누가 들어왔는지 확인.</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나중에 1차 시스템 인증으로 이 부분만 교체 가능하게 분리</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b="1" dirty="0">
                          <a:solidFill>
                            <a:srgbClr val="18212F"/>
                          </a:solidFill>
                          <a:latin typeface="Malgun Gothic" pitchFamily="34" charset="0"/>
                          <a:ea typeface="Malgun Gothic" pitchFamily="34" charset="-122"/>
                          <a:cs typeface="Malgun Gothic" pitchFamily="34" charset="-120"/>
                        </a:rPr>
                        <a:t>세션</a:t>
                      </a:r>
                      <a:endParaRPr lang="en-US" sz="1200" dirty="0">
                        <a:latin typeface="Malgun Gothic" charset="0"/>
                        <a:ea typeface="Malgun Gothic" charset="0"/>
                        <a:cs typeface="Malgun Gothic" charset="0"/>
                      </a:endParaRPr>
                    </a:p>
                    <a:p>
                      <a:pPr indent="0" marL="0">
                        <a:buNone/>
                      </a:pPr>
                      <a:r>
                        <a:rPr lang="en-US" sz="1000" dirty="0">
                          <a:solidFill>
                            <a:srgbClr val="A4520C"/>
                          </a:solidFill>
                          <a:latin typeface="Malgun Gothic" pitchFamily="34" charset="0"/>
                          <a:ea typeface="Malgun Gothic" pitchFamily="34" charset="-122"/>
                          <a:cs typeface="Malgun Gothic" pitchFamily="34" charset="-120"/>
                        </a:rPr>
                        <a:t>Session · Cookie</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서버는 로그인 상태를 기억(세션)하고, 브라우저는 그 표(쿠키)를 들고 다니며 요청할 때마다 보여 준다. 로그인 유지.</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30분 동안 요청이 없으면 만료</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b="1" dirty="0">
                          <a:solidFill>
                            <a:srgbClr val="18212F"/>
                          </a:solidFill>
                          <a:latin typeface="Malgun Gothic" pitchFamily="34" charset="0"/>
                          <a:ea typeface="Malgun Gothic" pitchFamily="34" charset="-122"/>
                          <a:cs typeface="Malgun Gothic" pitchFamily="34" charset="-120"/>
                        </a:rPr>
                        <a:t>bcrypt</a:t>
                      </a:r>
                      <a:endParaRPr lang="en-US" sz="1200" dirty="0">
                        <a:latin typeface="Malgun Gothic" charset="0"/>
                        <a:ea typeface="Malgun Gothic" charset="0"/>
                        <a:cs typeface="Malgun Gothic" charset="0"/>
                      </a:endParaRPr>
                    </a:p>
                    <a:p>
                      <a:pPr indent="0" marL="0">
                        <a:buNone/>
                      </a:pPr>
                      <a:r>
                        <a:rPr lang="en-US" sz="1000" dirty="0">
                          <a:solidFill>
                            <a:srgbClr val="A4520C"/>
                          </a:solidFill>
                          <a:latin typeface="Malgun Gothic" pitchFamily="34" charset="0"/>
                          <a:ea typeface="Malgun Gothic" pitchFamily="34" charset="-122"/>
                          <a:cs typeface="Malgun Gothic" pitchFamily="34" charset="-120"/>
                        </a:rPr>
                        <a:t>bcrypt (비밀번호 해시)</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비밀번호를 원래대로 되돌릴 수 없는 값으로 바꿔 저장하는 방법. DB가 유출돼도 비밀번호 보호.</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사용자 테이블</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b="1" dirty="0">
                          <a:solidFill>
                            <a:srgbClr val="18212F"/>
                          </a:solidFill>
                          <a:latin typeface="Malgun Gothic" pitchFamily="34" charset="0"/>
                          <a:ea typeface="Malgun Gothic" pitchFamily="34" charset="-122"/>
                          <a:cs typeface="Malgun Gothic" pitchFamily="34" charset="-120"/>
                        </a:rPr>
                        <a:t>.env</a:t>
                      </a:r>
                      <a:endParaRPr lang="en-US" sz="1200" dirty="0">
                        <a:latin typeface="Malgun Gothic" charset="0"/>
                        <a:ea typeface="Malgun Gothic" charset="0"/>
                        <a:cs typeface="Malgun Gothic" charset="0"/>
                      </a:endParaRPr>
                    </a:p>
                    <a:p>
                      <a:pPr indent="0" marL="0">
                        <a:buNone/>
                      </a:pPr>
                      <a:r>
                        <a:rPr lang="en-US" sz="1000" dirty="0">
                          <a:solidFill>
                            <a:srgbClr val="A4520C"/>
                          </a:solidFill>
                          <a:latin typeface="Malgun Gothic" pitchFamily="34" charset="0"/>
                          <a:ea typeface="Malgun Gothic" pitchFamily="34" charset="-122"/>
                          <a:cs typeface="Malgun Gothic" pitchFamily="34" charset="-120"/>
                        </a:rPr>
                        <a:t>Environment file (환경설정 파일)</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DB 접속 정보, 비밀값처럼 PC마다 다르거나 공개하면 안 되는 설정을 코드 밖에 두는 파일. GitHub에 올리지 않는다. 비밀값 분리.</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server/.env, 루트 .env</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320040"/>
          </a:xfrm>
          <a:prstGeom prst="rect">
            <a:avLst/>
          </a:prstGeom>
          <a:noFill/>
          <a:ln/>
        </p:spPr>
        <p:txBody>
          <a:bodyPr wrap="square" lIns="0" tIns="0" rIns="0" bIns="0" rtlCol="0" anchor="ctr"/>
          <a:lstStyle/>
          <a:p>
            <a:pPr indent="0" marL="0">
              <a:buNone/>
            </a:pPr>
            <a:r>
              <a:rPr lang="en-US" sz="1200" dirty="0">
                <a:solidFill>
                  <a:srgbClr val="A4520C"/>
                </a:solidFill>
                <a:latin typeface="Consolas" pitchFamily="34" charset="0"/>
                <a:ea typeface="Consolas" pitchFamily="34" charset="-122"/>
                <a:cs typeface="Consolas" pitchFamily="34" charset="-120"/>
              </a:rPr>
              <a:t>용어 사전 · 데이터를 오래 보관하는 곳</a:t>
            </a:r>
            <a:endParaRPr lang="en-US" sz="1200" dirty="0"/>
          </a:p>
        </p:txBody>
      </p:sp>
      <p:sp>
        <p:nvSpPr>
          <p:cNvPr id="3" name="Text 0"/>
          <p:cNvSpPr/>
          <p:nvPr>
            <p:ph idx="101" type="title" hasCustomPrompt="1"/>
          </p:nvPr>
        </p:nvSpPr>
        <p:spPr>
          <a:xfrm>
            <a:off x="548640" y="658368"/>
            <a:ext cx="11094415" cy="731520"/>
          </a:xfrm>
          <a:prstGeom prst="rect">
            <a:avLst/>
          </a:prstGeom>
          <a:noFill/>
          <a:ln/>
        </p:spPr>
        <p:txBody>
          <a:bodyPr wrap="square" lIns="0" tIns="0" rIns="0" bIns="0" rtlCol="0" anchor="ctr"/>
          <a:lstStyle/>
          <a:p>
            <a:pPr algn="l" indent="0" marL="0">
              <a:buNone/>
            </a:pPr>
            <a:r>
              <a:rPr lang="en-US" sz="3000" b="1" dirty="0">
                <a:solidFill>
                  <a:srgbClr val="18212F"/>
                </a:solidFill>
              </a:rPr>
              <a:t>데이터베이스</a:t>
            </a:r>
            <a:endParaRPr lang="en-US" sz="30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2743200"/>
                <a:gridCol w="5394960"/>
                <a:gridCol w="2953512"/>
              </a:tblGrid>
              <a:tr h="0">
                <a:tc>
                  <a:txBody>
                    <a:bodyPr/>
                    <a:lstStyle/>
                    <a:p>
                      <a:pPr indent="0" marL="0">
                        <a:buNone/>
                      </a:pPr>
                      <a:r>
                        <a:rPr lang="en-US" sz="1100" b="1" dirty="0">
                          <a:solidFill>
                            <a:srgbClr val="5B6678"/>
                          </a:solidFill>
                          <a:latin typeface="Malgun Gothic" pitchFamily="34" charset="0"/>
                          <a:ea typeface="Malgun Gothic" pitchFamily="34" charset="-122"/>
                          <a:cs typeface="Malgun Gothic" pitchFamily="34" charset="-120"/>
                        </a:rPr>
                        <a:t>용어 · 원래 이름</a:t>
                      </a:r>
                      <a:endParaRPr lang="en-US" sz="11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solidFill>
                      <a:srgbClr val="F3F5F8"/>
                    </a:solidFill>
                  </a:tcPr>
                </a:tc>
                <a:tc>
                  <a:txBody>
                    <a:bodyPr/>
                    <a:lstStyle/>
                    <a:p>
                      <a:pPr indent="0" marL="0">
                        <a:buNone/>
                      </a:pPr>
                      <a:r>
                        <a:rPr lang="en-US" sz="1100" b="1" dirty="0">
                          <a:solidFill>
                            <a:srgbClr val="5B6678"/>
                          </a:solidFill>
                          <a:latin typeface="Malgun Gothic" pitchFamily="34" charset="0"/>
                          <a:ea typeface="Malgun Gothic" pitchFamily="34" charset="-122"/>
                          <a:cs typeface="Malgun Gothic" pitchFamily="34" charset="-120"/>
                        </a:rPr>
                        <a:t>쉬운 뜻 · 하는 일</a:t>
                      </a:r>
                      <a:endParaRPr lang="en-US" sz="11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solidFill>
                      <a:srgbClr val="F3F5F8"/>
                    </a:solidFill>
                  </a:tcPr>
                </a:tc>
                <a:tc>
                  <a:txBody>
                    <a:bodyPr/>
                    <a:lstStyle/>
                    <a:p>
                      <a:pPr indent="0" marL="0">
                        <a:buNone/>
                      </a:pPr>
                      <a:r>
                        <a:rPr lang="en-US" sz="1100" b="1" dirty="0">
                          <a:solidFill>
                            <a:srgbClr val="5B6678"/>
                          </a:solidFill>
                          <a:latin typeface="Malgun Gothic" pitchFamily="34" charset="0"/>
                          <a:ea typeface="Malgun Gothic" pitchFamily="34" charset="-122"/>
                          <a:cs typeface="Malgun Gothic" pitchFamily="34" charset="-120"/>
                        </a:rPr>
                        <a:t>이 프로젝트에서</a:t>
                      </a:r>
                      <a:endParaRPr lang="en-US" sz="11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solidFill>
                      <a:srgbClr val="F3F5F8"/>
                    </a:solidFill>
                  </a:tcPr>
                </a:tc>
              </a:tr>
              <a:tr h="0">
                <a:tc>
                  <a:txBody>
                    <a:bodyPr/>
                    <a:lstStyle/>
                    <a:p>
                      <a:pPr indent="0" marL="0">
                        <a:buNone/>
                      </a:pPr>
                      <a:r>
                        <a:rPr lang="en-US" sz="1300" b="1" dirty="0">
                          <a:solidFill>
                            <a:srgbClr val="18212F"/>
                          </a:solidFill>
                          <a:latin typeface="Malgun Gothic" pitchFamily="34" charset="0"/>
                          <a:ea typeface="Malgun Gothic" pitchFamily="34" charset="-122"/>
                          <a:cs typeface="Malgun Gothic" pitchFamily="34" charset="-120"/>
                        </a:rPr>
                        <a:t>PostgreSQL</a:t>
                      </a:r>
                      <a:endParaRPr lang="en-US" sz="1200" dirty="0">
                        <a:latin typeface="Malgun Gothic" charset="0"/>
                        <a:ea typeface="Malgun Gothic" charset="0"/>
                        <a:cs typeface="Malgun Gothic" charset="0"/>
                      </a:endParaRPr>
                    </a:p>
                    <a:p>
                      <a:pPr indent="0" marL="0">
                        <a:buNone/>
                      </a:pPr>
                      <a:r>
                        <a:rPr lang="en-US" sz="1000" dirty="0">
                          <a:solidFill>
                            <a:srgbClr val="A4520C"/>
                          </a:solidFill>
                          <a:latin typeface="Malgun Gothic" pitchFamily="34" charset="0"/>
                          <a:ea typeface="Malgun Gothic" pitchFamily="34" charset="-122"/>
                          <a:cs typeface="Malgun Gothic" pitchFamily="34" charset="-120"/>
                        </a:rPr>
                        <a:t>PostgreSQL (관계형 데이터베이스)</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표(테이블) 형태로 데이터를 저장하는 무료 데이터베이스. 데이터를 영구 보관.</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mpw_plus DB, 테이블 4개</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b="1" dirty="0">
                          <a:solidFill>
                            <a:srgbClr val="18212F"/>
                          </a:solidFill>
                          <a:latin typeface="Malgun Gothic" pitchFamily="34" charset="0"/>
                          <a:ea typeface="Malgun Gothic" pitchFamily="34" charset="-122"/>
                          <a:cs typeface="Malgun Gothic" pitchFamily="34" charset="-120"/>
                        </a:rPr>
                        <a:t>Knex</a:t>
                      </a:r>
                      <a:endParaRPr lang="en-US" sz="1200" dirty="0">
                        <a:latin typeface="Malgun Gothic" charset="0"/>
                        <a:ea typeface="Malgun Gothic" charset="0"/>
                        <a:cs typeface="Malgun Gothic" charset="0"/>
                      </a:endParaRPr>
                    </a:p>
                    <a:p>
                      <a:pPr indent="0" marL="0">
                        <a:buNone/>
                      </a:pPr>
                      <a:r>
                        <a:rPr lang="en-US" sz="1000" dirty="0">
                          <a:solidFill>
                            <a:srgbClr val="A4520C"/>
                          </a:solidFill>
                          <a:latin typeface="Malgun Gothic" pitchFamily="34" charset="0"/>
                          <a:ea typeface="Malgun Gothic" pitchFamily="34" charset="-122"/>
                          <a:cs typeface="Malgun Gothic" pitchFamily="34" charset="-120"/>
                        </a:rPr>
                        <a:t>Knex.js (SQL 쿼리 빌더)</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DB 명령(SQL)을 JavaScript 코드로 작성하게 해 주고, 마이그레이션·시드도 관리하는 도구. 백엔드와 DB 사이의 통역.</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server/src/db, repository 파일들</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b="1" dirty="0">
                          <a:solidFill>
                            <a:srgbClr val="18212F"/>
                          </a:solidFill>
                          <a:latin typeface="Malgun Gothic" pitchFamily="34" charset="0"/>
                          <a:ea typeface="Malgun Gothic" pitchFamily="34" charset="-122"/>
                          <a:cs typeface="Malgun Gothic" pitchFamily="34" charset="-120"/>
                        </a:rPr>
                        <a:t>마이그레이션</a:t>
                      </a:r>
                      <a:endParaRPr lang="en-US" sz="1200" dirty="0">
                        <a:latin typeface="Malgun Gothic" charset="0"/>
                        <a:ea typeface="Malgun Gothic" charset="0"/>
                        <a:cs typeface="Malgun Gothic" charset="0"/>
                      </a:endParaRPr>
                    </a:p>
                    <a:p>
                      <a:pPr indent="0" marL="0">
                        <a:buNone/>
                      </a:pPr>
                      <a:r>
                        <a:rPr lang="en-US" sz="1000" dirty="0">
                          <a:solidFill>
                            <a:srgbClr val="A4520C"/>
                          </a:solidFill>
                          <a:latin typeface="Malgun Gothic" pitchFamily="34" charset="0"/>
                          <a:ea typeface="Malgun Gothic" pitchFamily="34" charset="-122"/>
                          <a:cs typeface="Malgun Gothic" pitchFamily="34" charset="-120"/>
                        </a:rPr>
                        <a:t>Migration</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DB 구조를 바꾼 내용을 순서대로 기록한 스크립트. 누구 PC에서든 같은 구조를 그대로 만들 수 있다. DB 구조의 버전 관리.</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npx knex migrate:latest</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b="1" dirty="0">
                          <a:solidFill>
                            <a:srgbClr val="18212F"/>
                          </a:solidFill>
                          <a:latin typeface="Malgun Gothic" pitchFamily="34" charset="0"/>
                          <a:ea typeface="Malgun Gothic" pitchFamily="34" charset="-122"/>
                          <a:cs typeface="Malgun Gothic" pitchFamily="34" charset="-120"/>
                        </a:rPr>
                        <a:t>시드</a:t>
                      </a:r>
                      <a:endParaRPr lang="en-US" sz="1200" dirty="0">
                        <a:latin typeface="Malgun Gothic" charset="0"/>
                        <a:ea typeface="Malgun Gothic" charset="0"/>
                        <a:cs typeface="Malgun Gothic" charset="0"/>
                      </a:endParaRPr>
                    </a:p>
                    <a:p>
                      <a:pPr indent="0" marL="0">
                        <a:buNone/>
                      </a:pPr>
                      <a:r>
                        <a:rPr lang="en-US" sz="1000" dirty="0">
                          <a:solidFill>
                            <a:srgbClr val="A4520C"/>
                          </a:solidFill>
                          <a:latin typeface="Malgun Gothic" pitchFamily="34" charset="0"/>
                          <a:ea typeface="Malgun Gothic" pitchFamily="34" charset="-122"/>
                          <a:cs typeface="Malgun Gothic" pitchFamily="34" charset="-120"/>
                        </a:rPr>
                        <a:t>Seed (초기 데이터)</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DB를 처음 만들 때 넣어 두는 기본 데이터. 바로 써 볼 수 있는 상태 만들기.</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Master 항목 20개, 관리자·테스트 계정</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320040"/>
          </a:xfrm>
          <a:prstGeom prst="rect">
            <a:avLst/>
          </a:prstGeom>
          <a:noFill/>
          <a:ln/>
        </p:spPr>
        <p:txBody>
          <a:bodyPr wrap="square" lIns="0" tIns="0" rIns="0" bIns="0" rtlCol="0" anchor="ctr"/>
          <a:lstStyle/>
          <a:p>
            <a:pPr indent="0" marL="0">
              <a:buNone/>
            </a:pPr>
            <a:r>
              <a:rPr lang="en-US" sz="1200" dirty="0">
                <a:solidFill>
                  <a:srgbClr val="A4520C"/>
                </a:solidFill>
                <a:latin typeface="Consolas" pitchFamily="34" charset="0"/>
                <a:ea typeface="Consolas" pitchFamily="34" charset="-122"/>
                <a:cs typeface="Consolas" pitchFamily="34" charset="-120"/>
              </a:rPr>
              <a:t>용어 사전 · 화면과 서버가 주고받는 약속</a:t>
            </a:r>
            <a:endParaRPr lang="en-US" sz="1200" dirty="0"/>
          </a:p>
        </p:txBody>
      </p:sp>
      <p:sp>
        <p:nvSpPr>
          <p:cNvPr id="3" name="Text 0"/>
          <p:cNvSpPr/>
          <p:nvPr>
            <p:ph idx="101" type="title" hasCustomPrompt="1"/>
          </p:nvPr>
        </p:nvSpPr>
        <p:spPr>
          <a:xfrm>
            <a:off x="548640" y="658368"/>
            <a:ext cx="11094415" cy="731520"/>
          </a:xfrm>
          <a:prstGeom prst="rect">
            <a:avLst/>
          </a:prstGeom>
          <a:noFill/>
          <a:ln/>
        </p:spPr>
        <p:txBody>
          <a:bodyPr wrap="square" lIns="0" tIns="0" rIns="0" bIns="0" rtlCol="0" anchor="ctr"/>
          <a:lstStyle/>
          <a:p>
            <a:pPr algn="l" indent="0" marL="0">
              <a:buNone/>
            </a:pPr>
            <a:r>
              <a:rPr lang="en-US" sz="3000" b="1" dirty="0">
                <a:solidFill>
                  <a:srgbClr val="18212F"/>
                </a:solidFill>
              </a:rPr>
              <a:t>API · 통신 (1/2)</a:t>
            </a:r>
            <a:endParaRPr lang="en-US" sz="30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2743200"/>
                <a:gridCol w="5394960"/>
                <a:gridCol w="2953512"/>
              </a:tblGrid>
              <a:tr h="0">
                <a:tc>
                  <a:txBody>
                    <a:bodyPr/>
                    <a:lstStyle/>
                    <a:p>
                      <a:pPr indent="0" marL="0">
                        <a:buNone/>
                      </a:pPr>
                      <a:r>
                        <a:rPr lang="en-US" sz="1100" b="1" dirty="0">
                          <a:solidFill>
                            <a:srgbClr val="5B6678"/>
                          </a:solidFill>
                          <a:latin typeface="Malgun Gothic" pitchFamily="34" charset="0"/>
                          <a:ea typeface="Malgun Gothic" pitchFamily="34" charset="-122"/>
                          <a:cs typeface="Malgun Gothic" pitchFamily="34" charset="-120"/>
                        </a:rPr>
                        <a:t>용어 · 원래 이름</a:t>
                      </a:r>
                      <a:endParaRPr lang="en-US" sz="11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solidFill>
                      <a:srgbClr val="F3F5F8"/>
                    </a:solidFill>
                  </a:tcPr>
                </a:tc>
                <a:tc>
                  <a:txBody>
                    <a:bodyPr/>
                    <a:lstStyle/>
                    <a:p>
                      <a:pPr indent="0" marL="0">
                        <a:buNone/>
                      </a:pPr>
                      <a:r>
                        <a:rPr lang="en-US" sz="1100" b="1" dirty="0">
                          <a:solidFill>
                            <a:srgbClr val="5B6678"/>
                          </a:solidFill>
                          <a:latin typeface="Malgun Gothic" pitchFamily="34" charset="0"/>
                          <a:ea typeface="Malgun Gothic" pitchFamily="34" charset="-122"/>
                          <a:cs typeface="Malgun Gothic" pitchFamily="34" charset="-120"/>
                        </a:rPr>
                        <a:t>쉬운 뜻 · 하는 일</a:t>
                      </a:r>
                      <a:endParaRPr lang="en-US" sz="11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solidFill>
                      <a:srgbClr val="F3F5F8"/>
                    </a:solidFill>
                  </a:tcPr>
                </a:tc>
                <a:tc>
                  <a:txBody>
                    <a:bodyPr/>
                    <a:lstStyle/>
                    <a:p>
                      <a:pPr indent="0" marL="0">
                        <a:buNone/>
                      </a:pPr>
                      <a:r>
                        <a:rPr lang="en-US" sz="1100" b="1" dirty="0">
                          <a:solidFill>
                            <a:srgbClr val="5B6678"/>
                          </a:solidFill>
                          <a:latin typeface="Malgun Gothic" pitchFamily="34" charset="0"/>
                          <a:ea typeface="Malgun Gothic" pitchFamily="34" charset="-122"/>
                          <a:cs typeface="Malgun Gothic" pitchFamily="34" charset="-120"/>
                        </a:rPr>
                        <a:t>이 프로젝트에서</a:t>
                      </a:r>
                      <a:endParaRPr lang="en-US" sz="11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solidFill>
                      <a:srgbClr val="F3F5F8"/>
                    </a:solidFill>
                  </a:tcPr>
                </a:tc>
              </a:tr>
              <a:tr h="0">
                <a:tc>
                  <a:txBody>
                    <a:bodyPr/>
                    <a:lstStyle/>
                    <a:p>
                      <a:pPr indent="0" marL="0">
                        <a:buNone/>
                      </a:pPr>
                      <a:r>
                        <a:rPr lang="en-US" sz="1300" b="1" dirty="0">
                          <a:solidFill>
                            <a:srgbClr val="18212F"/>
                          </a:solidFill>
                          <a:latin typeface="Malgun Gothic" pitchFamily="34" charset="0"/>
                          <a:ea typeface="Malgun Gothic" pitchFamily="34" charset="-122"/>
                          <a:cs typeface="Malgun Gothic" pitchFamily="34" charset="-120"/>
                        </a:rPr>
                        <a:t>API</a:t>
                      </a:r>
                      <a:endParaRPr lang="en-US" sz="1200" dirty="0">
                        <a:latin typeface="Malgun Gothic" charset="0"/>
                        <a:ea typeface="Malgun Gothic" charset="0"/>
                        <a:cs typeface="Malgun Gothic" charset="0"/>
                      </a:endParaRPr>
                    </a:p>
                    <a:p>
                      <a:pPr indent="0" marL="0">
                        <a:buNone/>
                      </a:pPr>
                      <a:r>
                        <a:rPr lang="en-US" sz="1000" dirty="0">
                          <a:solidFill>
                            <a:srgbClr val="A4520C"/>
                          </a:solidFill>
                          <a:latin typeface="Malgun Gothic" pitchFamily="34" charset="0"/>
                          <a:ea typeface="Malgun Gothic" pitchFamily="34" charset="-122"/>
                          <a:cs typeface="Malgun Gothic" pitchFamily="34" charset="-120"/>
                        </a:rPr>
                        <a:t>Application Programming Interface</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프로그램끼리 주고받는 약속된 창구. 여기서는 화면이 서버에 요청하는 주소와 형식. 프론트와 백엔드의 연결선.</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/api/deliverables, /api/imgagong-plans 등</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b="1" dirty="0">
                          <a:solidFill>
                            <a:srgbClr val="18212F"/>
                          </a:solidFill>
                          <a:latin typeface="Malgun Gothic" pitchFamily="34" charset="0"/>
                          <a:ea typeface="Malgun Gothic" pitchFamily="34" charset="-122"/>
                          <a:cs typeface="Malgun Gothic" pitchFamily="34" charset="-120"/>
                        </a:rPr>
                        <a:t>REST</a:t>
                      </a:r>
                      <a:endParaRPr lang="en-US" sz="1200" dirty="0">
                        <a:latin typeface="Malgun Gothic" charset="0"/>
                        <a:ea typeface="Malgun Gothic" charset="0"/>
                        <a:cs typeface="Malgun Gothic" charset="0"/>
                      </a:endParaRPr>
                    </a:p>
                    <a:p>
                      <a:pPr indent="0" marL="0">
                        <a:buNone/>
                      </a:pPr>
                      <a:r>
                        <a:rPr lang="en-US" sz="1000" dirty="0">
                          <a:solidFill>
                            <a:srgbClr val="A4520C"/>
                          </a:solidFill>
                          <a:latin typeface="Malgun Gothic" pitchFamily="34" charset="0"/>
                          <a:ea typeface="Malgun Gothic" pitchFamily="34" charset="-122"/>
                          <a:cs typeface="Malgun Gothic" pitchFamily="34" charset="-120"/>
                        </a:rPr>
                        <a:t>Representational State Transfer</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주소(URL)는 대상(명사), GET·POST·PATCH·DELETE는 동작(조회·생성·수정·삭제)으로 표현하는 API 설계 방식. 이해하기 쉬운 API 규칙.</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DELETE /api/deliverables/{id}</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b="1" dirty="0">
                          <a:solidFill>
                            <a:srgbClr val="18212F"/>
                          </a:solidFill>
                          <a:latin typeface="Malgun Gothic" pitchFamily="34" charset="0"/>
                          <a:ea typeface="Malgun Gothic" pitchFamily="34" charset="-122"/>
                          <a:cs typeface="Malgun Gothic" pitchFamily="34" charset="-120"/>
                        </a:rPr>
                        <a:t>JSON</a:t>
                      </a:r>
                      <a:endParaRPr lang="en-US" sz="1200" dirty="0">
                        <a:latin typeface="Malgun Gothic" charset="0"/>
                        <a:ea typeface="Malgun Gothic" charset="0"/>
                        <a:cs typeface="Malgun Gothic" charset="0"/>
                      </a:endParaRPr>
                    </a:p>
                    <a:p>
                      <a:pPr indent="0" marL="0">
                        <a:buNone/>
                      </a:pPr>
                      <a:r>
                        <a:rPr lang="en-US" sz="1000" dirty="0">
                          <a:solidFill>
                            <a:srgbClr val="A4520C"/>
                          </a:solidFill>
                          <a:latin typeface="Malgun Gothic" pitchFamily="34" charset="0"/>
                          <a:ea typeface="Malgun Gothic" pitchFamily="34" charset="-122"/>
                          <a:cs typeface="Malgun Gothic" pitchFamily="34" charset="-120"/>
                        </a:rPr>
                        <a:t>JavaScript Object Notation</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 "name": "값" } 형태로 데이터를 주고받는 텍스트 형식. 요청·응답의 내용물.</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모든 API 응답</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b="1" dirty="0">
                          <a:solidFill>
                            <a:srgbClr val="18212F"/>
                          </a:solidFill>
                          <a:latin typeface="Malgun Gothic" pitchFamily="34" charset="0"/>
                          <a:ea typeface="Malgun Gothic" pitchFamily="34" charset="-122"/>
                          <a:cs typeface="Malgun Gothic" pitchFamily="34" charset="-120"/>
                        </a:rPr>
                        <a:t>camelCase</a:t>
                      </a:r>
                      <a:endParaRPr lang="en-US" sz="1200" dirty="0">
                        <a:latin typeface="Malgun Gothic" charset="0"/>
                        <a:ea typeface="Malgun Gothic" charset="0"/>
                        <a:cs typeface="Malgun Gothic" charset="0"/>
                      </a:endParaRPr>
                    </a:p>
                    <a:p>
                      <a:pPr indent="0" marL="0">
                        <a:buNone/>
                      </a:pPr>
                      <a:r>
                        <a:rPr lang="en-US" sz="1000" dirty="0">
                          <a:solidFill>
                            <a:srgbClr val="A4520C"/>
                          </a:solidFill>
                          <a:latin typeface="Malgun Gothic" pitchFamily="34" charset="0"/>
                          <a:ea typeface="Malgun Gothic" pitchFamily="34" charset="-122"/>
                          <a:cs typeface="Malgun Gothic" pitchFamily="34" charset="-120"/>
                        </a:rPr>
                        <a:t>camelCase · snake_case (이름 표기법)</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chipSize처럼 붙여 쓰고 대문자로 구분하는 방식(camelCase)과 chip_size처럼 밑줄로 구분하는 방식(snake_case). 이름 규칙 통일.</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API는 camelCase, DB는 snake_case, 변환은 repository에서만</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b="1" dirty="0">
                          <a:solidFill>
                            <a:srgbClr val="18212F"/>
                          </a:solidFill>
                          <a:latin typeface="Malgun Gothic" pitchFamily="34" charset="0"/>
                          <a:ea typeface="Malgun Gothic" pitchFamily="34" charset="-122"/>
                          <a:cs typeface="Malgun Gothic" pitchFamily="34" charset="-120"/>
                        </a:rPr>
                        <a:t>Swagger</a:t>
                      </a:r>
                      <a:endParaRPr lang="en-US" sz="1200" dirty="0">
                        <a:latin typeface="Malgun Gothic" charset="0"/>
                        <a:ea typeface="Malgun Gothic" charset="0"/>
                        <a:cs typeface="Malgun Gothic" charset="0"/>
                      </a:endParaRPr>
                    </a:p>
                    <a:p>
                      <a:pPr indent="0" marL="0">
                        <a:buNone/>
                      </a:pPr>
                      <a:r>
                        <a:rPr lang="en-US" sz="1000" dirty="0">
                          <a:solidFill>
                            <a:srgbClr val="A4520C"/>
                          </a:solidFill>
                          <a:latin typeface="Malgun Gothic" pitchFamily="34" charset="0"/>
                          <a:ea typeface="Malgun Gothic" pitchFamily="34" charset="-122"/>
                          <a:cs typeface="Malgun Gothic" pitchFamily="34" charset="-120"/>
                        </a:rPr>
                        <a:t>OpenAPI 명세 · Swagger 도구</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API의 주소, 입력값, 응답, 오류를 정해진 형식으로 적은 명세(OpenAPI)와 그 문서·화면 도구(Swagger). 프론트와 백엔드가 같은 약속을 보게 함.</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swagger/swagger.json, Swagger UI(localhost:3000/docs)</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320040"/>
          </a:xfrm>
          <a:prstGeom prst="rect">
            <a:avLst/>
          </a:prstGeom>
          <a:noFill/>
          <a:ln/>
        </p:spPr>
        <p:txBody>
          <a:bodyPr wrap="square" lIns="0" tIns="0" rIns="0" bIns="0" rtlCol="0" anchor="ctr"/>
          <a:lstStyle/>
          <a:p>
            <a:pPr indent="0" marL="0">
              <a:buNone/>
            </a:pPr>
            <a:r>
              <a:rPr lang="en-US" sz="1200" dirty="0">
                <a:solidFill>
                  <a:srgbClr val="A4520C"/>
                </a:solidFill>
                <a:latin typeface="Consolas" pitchFamily="34" charset="0"/>
                <a:ea typeface="Consolas" pitchFamily="34" charset="-122"/>
                <a:cs typeface="Consolas" pitchFamily="34" charset="-120"/>
              </a:rPr>
              <a:t>용어 사전 · 화면과 서버가 주고받는 약속</a:t>
            </a:r>
            <a:endParaRPr lang="en-US" sz="1200" dirty="0"/>
          </a:p>
        </p:txBody>
      </p:sp>
      <p:sp>
        <p:nvSpPr>
          <p:cNvPr id="3" name="Text 0"/>
          <p:cNvSpPr/>
          <p:nvPr>
            <p:ph idx="101" type="title" hasCustomPrompt="1"/>
          </p:nvPr>
        </p:nvSpPr>
        <p:spPr>
          <a:xfrm>
            <a:off x="548640" y="658368"/>
            <a:ext cx="11094415" cy="731520"/>
          </a:xfrm>
          <a:prstGeom prst="rect">
            <a:avLst/>
          </a:prstGeom>
          <a:noFill/>
          <a:ln/>
        </p:spPr>
        <p:txBody>
          <a:bodyPr wrap="square" lIns="0" tIns="0" rIns="0" bIns="0" rtlCol="0" anchor="ctr"/>
          <a:lstStyle/>
          <a:p>
            <a:pPr algn="l" indent="0" marL="0">
              <a:buNone/>
            </a:pPr>
            <a:r>
              <a:rPr lang="en-US" sz="3000" b="1" dirty="0">
                <a:solidFill>
                  <a:srgbClr val="18212F"/>
                </a:solidFill>
              </a:rPr>
              <a:t>API · 통신 (2/2)</a:t>
            </a:r>
            <a:endParaRPr lang="en-US" sz="30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2743200"/>
                <a:gridCol w="5394960"/>
                <a:gridCol w="2953512"/>
              </a:tblGrid>
              <a:tr h="0">
                <a:tc>
                  <a:txBody>
                    <a:bodyPr/>
                    <a:lstStyle/>
                    <a:p>
                      <a:pPr indent="0" marL="0">
                        <a:buNone/>
                      </a:pPr>
                      <a:r>
                        <a:rPr lang="en-US" sz="1100" b="1" dirty="0">
                          <a:solidFill>
                            <a:srgbClr val="5B6678"/>
                          </a:solidFill>
                          <a:latin typeface="Malgun Gothic" pitchFamily="34" charset="0"/>
                          <a:ea typeface="Malgun Gothic" pitchFamily="34" charset="-122"/>
                          <a:cs typeface="Malgun Gothic" pitchFamily="34" charset="-120"/>
                        </a:rPr>
                        <a:t>용어 · 원래 이름</a:t>
                      </a:r>
                      <a:endParaRPr lang="en-US" sz="11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solidFill>
                      <a:srgbClr val="F3F5F8"/>
                    </a:solidFill>
                  </a:tcPr>
                </a:tc>
                <a:tc>
                  <a:txBody>
                    <a:bodyPr/>
                    <a:lstStyle/>
                    <a:p>
                      <a:pPr indent="0" marL="0">
                        <a:buNone/>
                      </a:pPr>
                      <a:r>
                        <a:rPr lang="en-US" sz="1100" b="1" dirty="0">
                          <a:solidFill>
                            <a:srgbClr val="5B6678"/>
                          </a:solidFill>
                          <a:latin typeface="Malgun Gothic" pitchFamily="34" charset="0"/>
                          <a:ea typeface="Malgun Gothic" pitchFamily="34" charset="-122"/>
                          <a:cs typeface="Malgun Gothic" pitchFamily="34" charset="-120"/>
                        </a:rPr>
                        <a:t>쉬운 뜻 · 하는 일</a:t>
                      </a:r>
                      <a:endParaRPr lang="en-US" sz="11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solidFill>
                      <a:srgbClr val="F3F5F8"/>
                    </a:solidFill>
                  </a:tcPr>
                </a:tc>
                <a:tc>
                  <a:txBody>
                    <a:bodyPr/>
                    <a:lstStyle/>
                    <a:p>
                      <a:pPr indent="0" marL="0">
                        <a:buNone/>
                      </a:pPr>
                      <a:r>
                        <a:rPr lang="en-US" sz="1100" b="1" dirty="0">
                          <a:solidFill>
                            <a:srgbClr val="5B6678"/>
                          </a:solidFill>
                          <a:latin typeface="Malgun Gothic" pitchFamily="34" charset="0"/>
                          <a:ea typeface="Malgun Gothic" pitchFamily="34" charset="-122"/>
                          <a:cs typeface="Malgun Gothic" pitchFamily="34" charset="-120"/>
                        </a:rPr>
                        <a:t>이 프로젝트에서</a:t>
                      </a:r>
                      <a:endParaRPr lang="en-US" sz="11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solidFill>
                      <a:srgbClr val="F3F5F8"/>
                    </a:solidFill>
                  </a:tcPr>
                </a:tc>
              </a:tr>
              <a:tr h="0">
                <a:tc>
                  <a:txBody>
                    <a:bodyPr/>
                    <a:lstStyle/>
                    <a:p>
                      <a:pPr indent="0" marL="0">
                        <a:buNone/>
                      </a:pPr>
                      <a:r>
                        <a:rPr lang="en-US" sz="1300" b="1" dirty="0">
                          <a:solidFill>
                            <a:srgbClr val="18212F"/>
                          </a:solidFill>
                          <a:latin typeface="Malgun Gothic" pitchFamily="34" charset="0"/>
                          <a:ea typeface="Malgun Gothic" pitchFamily="34" charset="-122"/>
                          <a:cs typeface="Malgun Gothic" pitchFamily="34" charset="-120"/>
                        </a:rPr>
                        <a:t>목 서버</a:t>
                      </a:r>
                      <a:endParaRPr lang="en-US" sz="1200" dirty="0">
                        <a:latin typeface="Malgun Gothic" charset="0"/>
                        <a:ea typeface="Malgun Gothic" charset="0"/>
                        <a:cs typeface="Malgun Gothic" charset="0"/>
                      </a:endParaRPr>
                    </a:p>
                    <a:p>
                      <a:pPr indent="0" marL="0">
                        <a:buNone/>
                      </a:pPr>
                      <a:r>
                        <a:rPr lang="en-US" sz="1000" dirty="0">
                          <a:solidFill>
                            <a:srgbClr val="A4520C"/>
                          </a:solidFill>
                          <a:latin typeface="Malgun Gothic" pitchFamily="34" charset="0"/>
                          <a:ea typeface="Malgun Gothic" pitchFamily="34" charset="-122"/>
                          <a:cs typeface="Malgun Gothic" pitchFamily="34" charset="-120"/>
                        </a:rPr>
                        <a:t>Mock Server (가짜 서버)</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진짜 백엔드가 없어도 명세대로 가짜 응답을 돌려주는 서버. 백엔드 전에 화면 개발·시험 가능.</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mockup/ 폴더, 3000번 포트</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b="1" dirty="0">
                          <a:solidFill>
                            <a:srgbClr val="18212F"/>
                          </a:solidFill>
                          <a:latin typeface="Malgun Gothic" pitchFamily="34" charset="0"/>
                          <a:ea typeface="Malgun Gothic" pitchFamily="34" charset="-122"/>
                          <a:cs typeface="Malgun Gothic" pitchFamily="34" charset="-120"/>
                        </a:rPr>
                        <a:t>HTTP 상태코드</a:t>
                      </a:r>
                      <a:endParaRPr lang="en-US" sz="1200" dirty="0">
                        <a:latin typeface="Malgun Gothic" charset="0"/>
                        <a:ea typeface="Malgun Gothic" charset="0"/>
                        <a:cs typeface="Malgun Gothic" charset="0"/>
                      </a:endParaRPr>
                    </a:p>
                    <a:p>
                      <a:pPr indent="0" marL="0">
                        <a:buNone/>
                      </a:pPr>
                      <a:r>
                        <a:rPr lang="en-US" sz="1000" dirty="0">
                          <a:solidFill>
                            <a:srgbClr val="A4520C"/>
                          </a:solidFill>
                          <a:latin typeface="Malgun Gothic" pitchFamily="34" charset="0"/>
                          <a:ea typeface="Malgun Gothic" pitchFamily="34" charset="-122"/>
                          <a:cs typeface="Malgun Gothic" pitchFamily="34" charset="-120"/>
                        </a:rPr>
                        <a:t>HTTP Status Code</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요청 결과를 알리는 세 자리 숫자. 200 성공, 201 생성됨, 400 잘못된 요청, 401 로그인 필요, 403 권한 없음, 404 없음, 409 충돌, 500 서버 오류. 무엇이 잘못됐는지 알려 줌.</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점검에서 401·403·409를 일부러 재현</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b="1" dirty="0">
                          <a:solidFill>
                            <a:srgbClr val="18212F"/>
                          </a:solidFill>
                          <a:latin typeface="Malgun Gothic" pitchFamily="34" charset="0"/>
                          <a:ea typeface="Malgun Gothic" pitchFamily="34" charset="-122"/>
                          <a:cs typeface="Malgun Gothic" pitchFamily="34" charset="-120"/>
                        </a:rPr>
                        <a:t>낙관적 잠금</a:t>
                      </a:r>
                      <a:endParaRPr lang="en-US" sz="1200" dirty="0">
                        <a:latin typeface="Malgun Gothic" charset="0"/>
                        <a:ea typeface="Malgun Gothic" charset="0"/>
                        <a:cs typeface="Malgun Gothic" charset="0"/>
                      </a:endParaRPr>
                    </a:p>
                    <a:p>
                      <a:pPr indent="0" marL="0">
                        <a:buNone/>
                      </a:pPr>
                      <a:r>
                        <a:rPr lang="en-US" sz="1000" dirty="0">
                          <a:solidFill>
                            <a:srgbClr val="A4520C"/>
                          </a:solidFill>
                          <a:latin typeface="Malgun Gothic" pitchFamily="34" charset="0"/>
                          <a:ea typeface="Malgun Gothic" pitchFamily="34" charset="-122"/>
                          <a:cs typeface="Malgun Gothic" pitchFamily="34" charset="-120"/>
                        </a:rPr>
                        <a:t>Optimistic Locking</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여러 명이 같은 행을 고칠 때, "내가 본 버전(version)이 아직 최신일 때만" 저장하게 하는 방식. 늦게 저장한 쪽은 409 충돌. 남의 수정을 모르고 덮어쓰는 일 방지.</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임가공 Plan의 "다른 사용자가 먼저 수정했습니다" 안내</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b="1" dirty="0">
                          <a:solidFill>
                            <a:srgbClr val="18212F"/>
                          </a:solidFill>
                          <a:latin typeface="Malgun Gothic" pitchFamily="34" charset="0"/>
                          <a:ea typeface="Malgun Gothic" pitchFamily="34" charset="-122"/>
                          <a:cs typeface="Malgun Gothic" pitchFamily="34" charset="-120"/>
                        </a:rPr>
                        <a:t>SSE</a:t>
                      </a:r>
                      <a:endParaRPr lang="en-US" sz="1200" dirty="0">
                        <a:latin typeface="Malgun Gothic" charset="0"/>
                        <a:ea typeface="Malgun Gothic" charset="0"/>
                        <a:cs typeface="Malgun Gothic" charset="0"/>
                      </a:endParaRPr>
                    </a:p>
                    <a:p>
                      <a:pPr indent="0" marL="0">
                        <a:buNone/>
                      </a:pPr>
                      <a:r>
                        <a:rPr lang="en-US" sz="1000" dirty="0">
                          <a:solidFill>
                            <a:srgbClr val="A4520C"/>
                          </a:solidFill>
                          <a:latin typeface="Malgun Gothic" pitchFamily="34" charset="0"/>
                          <a:ea typeface="Malgun Gothic" pitchFamily="34" charset="-122"/>
                          <a:cs typeface="Malgun Gothic" pitchFamily="34" charset="-120"/>
                        </a:rPr>
                        <a:t>Server-Sent Events</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서버가 브라우저로 변경 알림을 계속 밀어 보내는 한 방향 실시간 통신. 새로고침 없이 다른 사람의 변경 반영.</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임가공 Plan 실시간 공유</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b="1" dirty="0">
                          <a:solidFill>
                            <a:srgbClr val="18212F"/>
                          </a:solidFill>
                          <a:latin typeface="Malgun Gothic" pitchFamily="34" charset="0"/>
                          <a:ea typeface="Malgun Gothic" pitchFamily="34" charset="-122"/>
                          <a:cs typeface="Malgun Gothic" pitchFamily="34" charset="-120"/>
                        </a:rPr>
                        <a:t>CORS</a:t>
                      </a:r>
                      <a:endParaRPr lang="en-US" sz="1200" dirty="0">
                        <a:latin typeface="Malgun Gothic" charset="0"/>
                        <a:ea typeface="Malgun Gothic" charset="0"/>
                        <a:cs typeface="Malgun Gothic" charset="0"/>
                      </a:endParaRPr>
                    </a:p>
                    <a:p>
                      <a:pPr indent="0" marL="0">
                        <a:buNone/>
                      </a:pPr>
                      <a:r>
                        <a:rPr lang="en-US" sz="1000" dirty="0">
                          <a:solidFill>
                            <a:srgbClr val="A4520C"/>
                          </a:solidFill>
                          <a:latin typeface="Malgun Gothic" pitchFamily="34" charset="0"/>
                          <a:ea typeface="Malgun Gothic" pitchFamily="34" charset="-122"/>
                          <a:cs typeface="Malgun Gothic" pitchFamily="34" charset="-120"/>
                        </a:rPr>
                        <a:t>Cross-Origin Resource Sharing</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다른 주소(포트 포함)의 화면이 이 서버의 API를 불러도 되는지 서버가 허락하는 규칙. 허락된 화면만 API 사용.</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5173만 허용 → 5175로 뜬 화면은 로그인 실패</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320040"/>
          </a:xfrm>
          <a:prstGeom prst="rect">
            <a:avLst/>
          </a:prstGeom>
          <a:noFill/>
          <a:ln/>
        </p:spPr>
        <p:txBody>
          <a:bodyPr wrap="square" lIns="0" tIns="0" rIns="0" bIns="0" rtlCol="0" anchor="ctr"/>
          <a:lstStyle/>
          <a:p>
            <a:pPr indent="0" marL="0">
              <a:buNone/>
            </a:pPr>
            <a:r>
              <a:rPr lang="en-US" sz="1200" dirty="0">
                <a:solidFill>
                  <a:srgbClr val="A4520C"/>
                </a:solidFill>
                <a:latin typeface="Consolas" pitchFamily="34" charset="0"/>
                <a:ea typeface="Consolas" pitchFamily="34" charset="-122"/>
                <a:cs typeface="Consolas" pitchFamily="34" charset="-120"/>
              </a:rPr>
              <a:t>용어 사전 · 제대로 동작하는지 확인하는 방법</a:t>
            </a:r>
            <a:endParaRPr lang="en-US" sz="1200" dirty="0"/>
          </a:p>
        </p:txBody>
      </p:sp>
      <p:sp>
        <p:nvSpPr>
          <p:cNvPr id="3" name="Text 0"/>
          <p:cNvSpPr/>
          <p:nvPr>
            <p:ph idx="101" type="title" hasCustomPrompt="1"/>
          </p:nvPr>
        </p:nvSpPr>
        <p:spPr>
          <a:xfrm>
            <a:off x="548640" y="658368"/>
            <a:ext cx="11094415" cy="731520"/>
          </a:xfrm>
          <a:prstGeom prst="rect">
            <a:avLst/>
          </a:prstGeom>
          <a:noFill/>
          <a:ln/>
        </p:spPr>
        <p:txBody>
          <a:bodyPr wrap="square" lIns="0" tIns="0" rIns="0" bIns="0" rtlCol="0" anchor="ctr"/>
          <a:lstStyle/>
          <a:p>
            <a:pPr algn="l" indent="0" marL="0">
              <a:buNone/>
            </a:pPr>
            <a:r>
              <a:rPr lang="en-US" sz="3000" b="1" dirty="0">
                <a:solidFill>
                  <a:srgbClr val="18212F"/>
                </a:solidFill>
              </a:rPr>
              <a:t>품질 · 테스트 · 보안</a:t>
            </a:r>
            <a:endParaRPr lang="en-US" sz="30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2743200"/>
                <a:gridCol w="5394960"/>
                <a:gridCol w="2953512"/>
              </a:tblGrid>
              <a:tr h="0">
                <a:tc>
                  <a:txBody>
                    <a:bodyPr/>
                    <a:lstStyle/>
                    <a:p>
                      <a:pPr indent="0" marL="0">
                        <a:buNone/>
                      </a:pPr>
                      <a:r>
                        <a:rPr lang="en-US" sz="1100" b="1" dirty="0">
                          <a:solidFill>
                            <a:srgbClr val="5B6678"/>
                          </a:solidFill>
                          <a:latin typeface="Malgun Gothic" pitchFamily="34" charset="0"/>
                          <a:ea typeface="Malgun Gothic" pitchFamily="34" charset="-122"/>
                          <a:cs typeface="Malgun Gothic" pitchFamily="34" charset="-120"/>
                        </a:rPr>
                        <a:t>용어 · 원래 이름</a:t>
                      </a:r>
                      <a:endParaRPr lang="en-US" sz="11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solidFill>
                      <a:srgbClr val="F3F5F8"/>
                    </a:solidFill>
                  </a:tcPr>
                </a:tc>
                <a:tc>
                  <a:txBody>
                    <a:bodyPr/>
                    <a:lstStyle/>
                    <a:p>
                      <a:pPr indent="0" marL="0">
                        <a:buNone/>
                      </a:pPr>
                      <a:r>
                        <a:rPr lang="en-US" sz="1100" b="1" dirty="0">
                          <a:solidFill>
                            <a:srgbClr val="5B6678"/>
                          </a:solidFill>
                          <a:latin typeface="Malgun Gothic" pitchFamily="34" charset="0"/>
                          <a:ea typeface="Malgun Gothic" pitchFamily="34" charset="-122"/>
                          <a:cs typeface="Malgun Gothic" pitchFamily="34" charset="-120"/>
                        </a:rPr>
                        <a:t>쉬운 뜻 · 하는 일</a:t>
                      </a:r>
                      <a:endParaRPr lang="en-US" sz="11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solidFill>
                      <a:srgbClr val="F3F5F8"/>
                    </a:solidFill>
                  </a:tcPr>
                </a:tc>
                <a:tc>
                  <a:txBody>
                    <a:bodyPr/>
                    <a:lstStyle/>
                    <a:p>
                      <a:pPr indent="0" marL="0">
                        <a:buNone/>
                      </a:pPr>
                      <a:r>
                        <a:rPr lang="en-US" sz="1100" b="1" dirty="0">
                          <a:solidFill>
                            <a:srgbClr val="5B6678"/>
                          </a:solidFill>
                          <a:latin typeface="Malgun Gothic" pitchFamily="34" charset="0"/>
                          <a:ea typeface="Malgun Gothic" pitchFamily="34" charset="-122"/>
                          <a:cs typeface="Malgun Gothic" pitchFamily="34" charset="-120"/>
                        </a:rPr>
                        <a:t>이 프로젝트에서</a:t>
                      </a:r>
                      <a:endParaRPr lang="en-US" sz="11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solidFill>
                      <a:srgbClr val="F3F5F8"/>
                    </a:solidFill>
                  </a:tcPr>
                </a:tc>
              </a:tr>
              <a:tr h="0">
                <a:tc>
                  <a:txBody>
                    <a:bodyPr/>
                    <a:lstStyle/>
                    <a:p>
                      <a:pPr indent="0" marL="0">
                        <a:buNone/>
                      </a:pPr>
                      <a:r>
                        <a:rPr lang="en-US" sz="1300" b="1" dirty="0">
                          <a:solidFill>
                            <a:srgbClr val="18212F"/>
                          </a:solidFill>
                          <a:latin typeface="Malgun Gothic" pitchFamily="34" charset="0"/>
                          <a:ea typeface="Malgun Gothic" pitchFamily="34" charset="-122"/>
                          <a:cs typeface="Malgun Gothic" pitchFamily="34" charset="-120"/>
                        </a:rPr>
                        <a:t>테스트</a:t>
                      </a:r>
                      <a:endParaRPr lang="en-US" sz="1200" dirty="0">
                        <a:latin typeface="Malgun Gothic" charset="0"/>
                        <a:ea typeface="Malgun Gothic" charset="0"/>
                        <a:cs typeface="Malgun Gothic" charset="0"/>
                      </a:endParaRPr>
                    </a:p>
                    <a:p>
                      <a:pPr indent="0" marL="0">
                        <a:buNone/>
                      </a:pPr>
                      <a:r>
                        <a:rPr lang="en-US" sz="1000" dirty="0">
                          <a:solidFill>
                            <a:srgbClr val="A4520C"/>
                          </a:solidFill>
                          <a:latin typeface="Malgun Gothic" pitchFamily="34" charset="0"/>
                          <a:ea typeface="Malgun Gothic" pitchFamily="34" charset="-122"/>
                          <a:cs typeface="Malgun Gothic" pitchFamily="34" charset="-120"/>
                        </a:rPr>
                        <a:t>Vitest · node:test · supertest</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코드가 기대대로 동작하는지 자동으로 확인하는 코드. 프론트는 Vitest, 백엔드는 node:test와 supertest. 고친 뒤에도 망가지지 않았는지 확인.</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프론트 99개, 백엔드 176개</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b="1" dirty="0">
                          <a:solidFill>
                            <a:srgbClr val="18212F"/>
                          </a:solidFill>
                          <a:latin typeface="Malgun Gothic" pitchFamily="34" charset="0"/>
                          <a:ea typeface="Malgun Gothic" pitchFamily="34" charset="-122"/>
                          <a:cs typeface="Malgun Gothic" pitchFamily="34" charset="-120"/>
                        </a:rPr>
                        <a:t>커버리지</a:t>
                      </a:r>
                      <a:endParaRPr lang="en-US" sz="1200" dirty="0">
                        <a:latin typeface="Malgun Gothic" charset="0"/>
                        <a:ea typeface="Malgun Gothic" charset="0"/>
                        <a:cs typeface="Malgun Gothic" charset="0"/>
                      </a:endParaRPr>
                    </a:p>
                    <a:p>
                      <a:pPr indent="0" marL="0">
                        <a:buNone/>
                      </a:pPr>
                      <a:r>
                        <a:rPr lang="en-US" sz="1000" dirty="0">
                          <a:solidFill>
                            <a:srgbClr val="A4520C"/>
                          </a:solidFill>
                          <a:latin typeface="Malgun Gothic" pitchFamily="34" charset="0"/>
                          <a:ea typeface="Malgun Gothic" pitchFamily="34" charset="-122"/>
                          <a:cs typeface="Malgun Gothic" pitchFamily="34" charset="-120"/>
                        </a:rPr>
                        <a:t>Test Coverage</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테스트가 실제로 실행해 본 코드의 비율. 테스트가 충분한지 가늠.</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80% 미만이면 테스트 실패로 처리</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b="1" dirty="0">
                          <a:solidFill>
                            <a:srgbClr val="18212F"/>
                          </a:solidFill>
                          <a:latin typeface="Malgun Gothic" pitchFamily="34" charset="0"/>
                          <a:ea typeface="Malgun Gothic" pitchFamily="34" charset="-122"/>
                          <a:cs typeface="Malgun Gothic" pitchFamily="34" charset="-120"/>
                        </a:rPr>
                        <a:t>통합 점검</a:t>
                      </a:r>
                      <a:endParaRPr lang="en-US" sz="1200" dirty="0">
                        <a:latin typeface="Malgun Gothic" charset="0"/>
                        <a:ea typeface="Malgun Gothic" charset="0"/>
                        <a:cs typeface="Malgun Gothic" charset="0"/>
                      </a:endParaRPr>
                    </a:p>
                    <a:p>
                      <a:pPr indent="0" marL="0">
                        <a:buNone/>
                      </a:pPr>
                      <a:r>
                        <a:rPr lang="en-US" sz="1000" dirty="0">
                          <a:solidFill>
                            <a:srgbClr val="A4520C"/>
                          </a:solidFill>
                          <a:latin typeface="Malgun Gothic" pitchFamily="34" charset="0"/>
                          <a:ea typeface="Malgun Gothic" pitchFamily="34" charset="-122"/>
                          <a:cs typeface="Malgun Gothic" pitchFamily="34" charset="-120"/>
                        </a:rPr>
                        <a:t>Integration Check</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부품 하나씩이 아니라 전체를 실제로 함께 돌려 보며 확인하는 일. 마지막 확인.</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BE-7(API 72항목), FE-7(실제 Chrome)</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b="1" dirty="0">
                          <a:solidFill>
                            <a:srgbClr val="18212F"/>
                          </a:solidFill>
                          <a:latin typeface="Malgun Gothic" pitchFamily="34" charset="0"/>
                          <a:ea typeface="Malgun Gothic" pitchFamily="34" charset="-122"/>
                          <a:cs typeface="Malgun Gothic" pitchFamily="34" charset="-120"/>
                        </a:rPr>
                        <a:t>린트</a:t>
                      </a:r>
                      <a:endParaRPr lang="en-US" sz="1200" dirty="0">
                        <a:latin typeface="Malgun Gothic" charset="0"/>
                        <a:ea typeface="Malgun Gothic" charset="0"/>
                        <a:cs typeface="Malgun Gothic" charset="0"/>
                      </a:endParaRPr>
                    </a:p>
                    <a:p>
                      <a:pPr indent="0" marL="0">
                        <a:buNone/>
                      </a:pPr>
                      <a:r>
                        <a:rPr lang="en-US" sz="1000" dirty="0">
                          <a:solidFill>
                            <a:srgbClr val="A4520C"/>
                          </a:solidFill>
                          <a:latin typeface="Malgun Gothic" pitchFamily="34" charset="0"/>
                          <a:ea typeface="Malgun Gothic" pitchFamily="34" charset="-122"/>
                          <a:cs typeface="Malgun Gothic" pitchFamily="34" charset="-120"/>
                        </a:rPr>
                        <a:t>Lint (ESLint · Prettier)</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코드 스타일과 흔한 실수를 자동으로 검사·정리하는 도구. 코드 모양 통일.</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pnpm lint, pnpm check</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b="1" dirty="0">
                          <a:solidFill>
                            <a:srgbClr val="18212F"/>
                          </a:solidFill>
                          <a:latin typeface="Malgun Gothic" pitchFamily="34" charset="0"/>
                          <a:ea typeface="Malgun Gothic" pitchFamily="34" charset="-122"/>
                          <a:cs typeface="Malgun Gothic" pitchFamily="34" charset="-120"/>
                        </a:rPr>
                        <a:t>취약점</a:t>
                      </a:r>
                      <a:endParaRPr lang="en-US" sz="1200" dirty="0">
                        <a:latin typeface="Malgun Gothic" charset="0"/>
                        <a:ea typeface="Malgun Gothic" charset="0"/>
                        <a:cs typeface="Malgun Gothic" charset="0"/>
                      </a:endParaRPr>
                    </a:p>
                    <a:p>
                      <a:pPr indent="0" marL="0">
                        <a:buNone/>
                      </a:pPr>
                      <a:r>
                        <a:rPr lang="en-US" sz="1000" dirty="0">
                          <a:solidFill>
                            <a:srgbClr val="A4520C"/>
                          </a:solidFill>
                          <a:latin typeface="Malgun Gothic" pitchFamily="34" charset="0"/>
                          <a:ea typeface="Malgun Gothic" pitchFamily="34" charset="-122"/>
                          <a:cs typeface="Malgun Gothic" pitchFamily="34" charset="-120"/>
                        </a:rPr>
                        <a:t>Vulnerability (prototype pollution, ReDoS 등)</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악의적인 입력으로 프로그램을 오동작시키거나 멈추게 할 수 있는 보안 약점. 보안 점검 대상.</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xlsx 0.18.5 → 0.20.3 교체</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320040"/>
          </a:xfrm>
          <a:prstGeom prst="rect">
            <a:avLst/>
          </a:prstGeom>
          <a:noFill/>
          <a:ln/>
        </p:spPr>
        <p:txBody>
          <a:bodyPr wrap="square" lIns="0" tIns="0" rIns="0" bIns="0" rtlCol="0" anchor="ctr"/>
          <a:lstStyle/>
          <a:p>
            <a:pPr indent="0" marL="0">
              <a:buNone/>
            </a:pPr>
            <a:r>
              <a:rPr lang="en-US" sz="1200" dirty="0">
                <a:solidFill>
                  <a:srgbClr val="A4520C"/>
                </a:solidFill>
                <a:latin typeface="Consolas" pitchFamily="34" charset="0"/>
                <a:ea typeface="Consolas" pitchFamily="34" charset="-122"/>
                <a:cs typeface="Consolas" pitchFamily="34" charset="-120"/>
              </a:rPr>
              <a:t>용어 사전 · 변경 이력을 남기고 합치는 방법</a:t>
            </a:r>
            <a:endParaRPr lang="en-US" sz="1200" dirty="0"/>
          </a:p>
        </p:txBody>
      </p:sp>
      <p:sp>
        <p:nvSpPr>
          <p:cNvPr id="3" name="Text 0"/>
          <p:cNvSpPr/>
          <p:nvPr>
            <p:ph idx="101" type="title" hasCustomPrompt="1"/>
          </p:nvPr>
        </p:nvSpPr>
        <p:spPr>
          <a:xfrm>
            <a:off x="548640" y="658368"/>
            <a:ext cx="11094415" cy="731520"/>
          </a:xfrm>
          <a:prstGeom prst="rect">
            <a:avLst/>
          </a:prstGeom>
          <a:noFill/>
          <a:ln/>
        </p:spPr>
        <p:txBody>
          <a:bodyPr wrap="square" lIns="0" tIns="0" rIns="0" bIns="0" rtlCol="0" anchor="ctr"/>
          <a:lstStyle/>
          <a:p>
            <a:pPr algn="l" indent="0" marL="0">
              <a:buNone/>
            </a:pPr>
            <a:r>
              <a:rPr lang="en-US" sz="3000" b="1" dirty="0">
                <a:solidFill>
                  <a:srgbClr val="18212F"/>
                </a:solidFill>
              </a:rPr>
              <a:t>협업 (Git · GitHub) (1/2)</a:t>
            </a:r>
            <a:endParaRPr lang="en-US" sz="30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2743200"/>
                <a:gridCol w="5394960"/>
                <a:gridCol w="2953512"/>
              </a:tblGrid>
              <a:tr h="0">
                <a:tc>
                  <a:txBody>
                    <a:bodyPr/>
                    <a:lstStyle/>
                    <a:p>
                      <a:pPr indent="0" marL="0">
                        <a:buNone/>
                      </a:pPr>
                      <a:r>
                        <a:rPr lang="en-US" sz="1100" b="1" dirty="0">
                          <a:solidFill>
                            <a:srgbClr val="5B6678"/>
                          </a:solidFill>
                          <a:latin typeface="Malgun Gothic" pitchFamily="34" charset="0"/>
                          <a:ea typeface="Malgun Gothic" pitchFamily="34" charset="-122"/>
                          <a:cs typeface="Malgun Gothic" pitchFamily="34" charset="-120"/>
                        </a:rPr>
                        <a:t>용어 · 원래 이름</a:t>
                      </a:r>
                      <a:endParaRPr lang="en-US" sz="11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solidFill>
                      <a:srgbClr val="F3F5F8"/>
                    </a:solidFill>
                  </a:tcPr>
                </a:tc>
                <a:tc>
                  <a:txBody>
                    <a:bodyPr/>
                    <a:lstStyle/>
                    <a:p>
                      <a:pPr indent="0" marL="0">
                        <a:buNone/>
                      </a:pPr>
                      <a:r>
                        <a:rPr lang="en-US" sz="1100" b="1" dirty="0">
                          <a:solidFill>
                            <a:srgbClr val="5B6678"/>
                          </a:solidFill>
                          <a:latin typeface="Malgun Gothic" pitchFamily="34" charset="0"/>
                          <a:ea typeface="Malgun Gothic" pitchFamily="34" charset="-122"/>
                          <a:cs typeface="Malgun Gothic" pitchFamily="34" charset="-120"/>
                        </a:rPr>
                        <a:t>쉬운 뜻 · 하는 일</a:t>
                      </a:r>
                      <a:endParaRPr lang="en-US" sz="11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solidFill>
                      <a:srgbClr val="F3F5F8"/>
                    </a:solidFill>
                  </a:tcPr>
                </a:tc>
                <a:tc>
                  <a:txBody>
                    <a:bodyPr/>
                    <a:lstStyle/>
                    <a:p>
                      <a:pPr indent="0" marL="0">
                        <a:buNone/>
                      </a:pPr>
                      <a:r>
                        <a:rPr lang="en-US" sz="1100" b="1" dirty="0">
                          <a:solidFill>
                            <a:srgbClr val="5B6678"/>
                          </a:solidFill>
                          <a:latin typeface="Malgun Gothic" pitchFamily="34" charset="0"/>
                          <a:ea typeface="Malgun Gothic" pitchFamily="34" charset="-122"/>
                          <a:cs typeface="Malgun Gothic" pitchFamily="34" charset="-120"/>
                        </a:rPr>
                        <a:t>이 프로젝트에서</a:t>
                      </a:r>
                      <a:endParaRPr lang="en-US" sz="11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solidFill>
                      <a:srgbClr val="F3F5F8"/>
                    </a:solidFill>
                  </a:tcPr>
                </a:tc>
              </a:tr>
              <a:tr h="0">
                <a:tc>
                  <a:txBody>
                    <a:bodyPr/>
                    <a:lstStyle/>
                    <a:p>
                      <a:pPr indent="0" marL="0">
                        <a:buNone/>
                      </a:pPr>
                      <a:r>
                        <a:rPr lang="en-US" sz="1300" b="1" dirty="0">
                          <a:solidFill>
                            <a:srgbClr val="18212F"/>
                          </a:solidFill>
                          <a:latin typeface="Malgun Gothic" pitchFamily="34" charset="0"/>
                          <a:ea typeface="Malgun Gothic" pitchFamily="34" charset="-122"/>
                          <a:cs typeface="Malgun Gothic" pitchFamily="34" charset="-120"/>
                        </a:rPr>
                        <a:t>Git</a:t>
                      </a:r>
                      <a:endParaRPr lang="en-US" sz="1200" dirty="0">
                        <a:latin typeface="Malgun Gothic" charset="0"/>
                        <a:ea typeface="Malgun Gothic" charset="0"/>
                        <a:cs typeface="Malgun Gothic" charset="0"/>
                      </a:endParaRPr>
                    </a:p>
                    <a:p>
                      <a:pPr indent="0" marL="0">
                        <a:buNone/>
                      </a:pPr>
                      <a:r>
                        <a:rPr lang="en-US" sz="1000" dirty="0">
                          <a:solidFill>
                            <a:srgbClr val="A4520C"/>
                          </a:solidFill>
                          <a:latin typeface="Malgun Gothic" pitchFamily="34" charset="0"/>
                          <a:ea typeface="Malgun Gothic" pitchFamily="34" charset="-122"/>
                          <a:cs typeface="Malgun Gothic" pitchFamily="34" charset="-120"/>
                        </a:rPr>
                        <a:t>Git · GitHub</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Git은 파일 변경 이력을 기록하는 도구, GitHub는 그 저장소를 인터넷에 올려 협업하는 서비스. 되돌리기·협업의 기반.</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개인 GitHub의 Cld_MPW_Phase2 저장소</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b="1" dirty="0">
                          <a:solidFill>
                            <a:srgbClr val="18212F"/>
                          </a:solidFill>
                          <a:latin typeface="Malgun Gothic" pitchFamily="34" charset="0"/>
                          <a:ea typeface="Malgun Gothic" pitchFamily="34" charset="-122"/>
                          <a:cs typeface="Malgun Gothic" pitchFamily="34" charset="-120"/>
                        </a:rPr>
                        <a:t>커밋</a:t>
                      </a:r>
                      <a:endParaRPr lang="en-US" sz="1200" dirty="0">
                        <a:latin typeface="Malgun Gothic" charset="0"/>
                        <a:ea typeface="Malgun Gothic" charset="0"/>
                        <a:cs typeface="Malgun Gothic" charset="0"/>
                      </a:endParaRPr>
                    </a:p>
                    <a:p>
                      <a:pPr indent="0" marL="0">
                        <a:buNone/>
                      </a:pPr>
                      <a:r>
                        <a:rPr lang="en-US" sz="1000" dirty="0">
                          <a:solidFill>
                            <a:srgbClr val="A4520C"/>
                          </a:solidFill>
                          <a:latin typeface="Malgun Gothic" pitchFamily="34" charset="0"/>
                          <a:ea typeface="Malgun Gothic" pitchFamily="34" charset="-122"/>
                          <a:cs typeface="Malgun Gothic" pitchFamily="34" charset="-120"/>
                        </a:rPr>
                        <a:t>Commit</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변경 묶음 하나를 이력에 저장하는 것. 메시지로 무엇을 바꿨는지 남긴다. 작업 단위 기록.</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54개</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b="1" dirty="0">
                          <a:solidFill>
                            <a:srgbClr val="18212F"/>
                          </a:solidFill>
                          <a:latin typeface="Malgun Gothic" pitchFamily="34" charset="0"/>
                          <a:ea typeface="Malgun Gothic" pitchFamily="34" charset="-122"/>
                          <a:cs typeface="Malgun Gothic" pitchFamily="34" charset="-120"/>
                        </a:rPr>
                        <a:t>push</a:t>
                      </a:r>
                      <a:endParaRPr lang="en-US" sz="1200" dirty="0">
                        <a:latin typeface="Malgun Gothic" charset="0"/>
                        <a:ea typeface="Malgun Gothic" charset="0"/>
                        <a:cs typeface="Malgun Gothic" charset="0"/>
                      </a:endParaRPr>
                    </a:p>
                    <a:p>
                      <a:pPr indent="0" marL="0">
                        <a:buNone/>
                      </a:pPr>
                      <a:r>
                        <a:rPr lang="en-US" sz="1000" dirty="0">
                          <a:solidFill>
                            <a:srgbClr val="A4520C"/>
                          </a:solidFill>
                          <a:latin typeface="Malgun Gothic" pitchFamily="34" charset="0"/>
                          <a:ea typeface="Malgun Gothic" pitchFamily="34" charset="-122"/>
                          <a:cs typeface="Malgun Gothic" pitchFamily="34" charset="-120"/>
                        </a:rPr>
                        <a:t>Push</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내 PC의 커밋을 GitHub에 올리는 것. 백업과 공유.</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"깃허브에 push 해줘"</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b="1" dirty="0">
                          <a:solidFill>
                            <a:srgbClr val="18212F"/>
                          </a:solidFill>
                          <a:latin typeface="Malgun Gothic" pitchFamily="34" charset="0"/>
                          <a:ea typeface="Malgun Gothic" pitchFamily="34" charset="-122"/>
                          <a:cs typeface="Malgun Gothic" pitchFamily="34" charset="-120"/>
                        </a:rPr>
                        <a:t>브랜치</a:t>
                      </a:r>
                      <a:endParaRPr lang="en-US" sz="1200" dirty="0">
                        <a:latin typeface="Malgun Gothic" charset="0"/>
                        <a:ea typeface="Malgun Gothic" charset="0"/>
                        <a:cs typeface="Malgun Gothic" charset="0"/>
                      </a:endParaRPr>
                    </a:p>
                    <a:p>
                      <a:pPr indent="0" marL="0">
                        <a:buNone/>
                      </a:pPr>
                      <a:r>
                        <a:rPr lang="en-US" sz="1000" dirty="0">
                          <a:solidFill>
                            <a:srgbClr val="A4520C"/>
                          </a:solidFill>
                          <a:latin typeface="Malgun Gothic" pitchFamily="34" charset="0"/>
                          <a:ea typeface="Malgun Gothic" pitchFamily="34" charset="-122"/>
                          <a:cs typeface="Malgun Gothic" pitchFamily="34" charset="-120"/>
                        </a:rPr>
                        <a:t>Branch</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원본(main)을 건드리지 않고 따로 작업하는 갈래. 안전하게 실험.</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feature-13처럼 이슈마다 하나</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320040"/>
          </a:xfrm>
          <a:prstGeom prst="rect">
            <a:avLst/>
          </a:prstGeom>
          <a:noFill/>
          <a:ln/>
        </p:spPr>
        <p:txBody>
          <a:bodyPr wrap="square" lIns="0" tIns="0" rIns="0" bIns="0" rtlCol="0" anchor="ctr"/>
          <a:lstStyle/>
          <a:p>
            <a:pPr indent="0" marL="0">
              <a:buNone/>
            </a:pPr>
            <a:r>
              <a:rPr lang="en-US" sz="1200" dirty="0">
                <a:solidFill>
                  <a:srgbClr val="A4520C"/>
                </a:solidFill>
                <a:latin typeface="Consolas" pitchFamily="34" charset="0"/>
                <a:ea typeface="Consolas" pitchFamily="34" charset="-122"/>
                <a:cs typeface="Consolas" pitchFamily="34" charset="-120"/>
              </a:rPr>
              <a:t>용어 사전 · 변경 이력을 남기고 합치는 방법</a:t>
            </a:r>
            <a:endParaRPr lang="en-US" sz="1200" dirty="0"/>
          </a:p>
        </p:txBody>
      </p:sp>
      <p:sp>
        <p:nvSpPr>
          <p:cNvPr id="3" name="Text 0"/>
          <p:cNvSpPr/>
          <p:nvPr>
            <p:ph idx="101" type="title" hasCustomPrompt="1"/>
          </p:nvPr>
        </p:nvSpPr>
        <p:spPr>
          <a:xfrm>
            <a:off x="548640" y="658368"/>
            <a:ext cx="11094415" cy="731520"/>
          </a:xfrm>
          <a:prstGeom prst="rect">
            <a:avLst/>
          </a:prstGeom>
          <a:noFill/>
          <a:ln/>
        </p:spPr>
        <p:txBody>
          <a:bodyPr wrap="square" lIns="0" tIns="0" rIns="0" bIns="0" rtlCol="0" anchor="ctr"/>
          <a:lstStyle/>
          <a:p>
            <a:pPr algn="l" indent="0" marL="0">
              <a:buNone/>
            </a:pPr>
            <a:r>
              <a:rPr lang="en-US" sz="3000" b="1" dirty="0">
                <a:solidFill>
                  <a:srgbClr val="18212F"/>
                </a:solidFill>
              </a:rPr>
              <a:t>협업 (Git · GitHub) (2/2)</a:t>
            </a:r>
            <a:endParaRPr lang="en-US" sz="30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2743200"/>
                <a:gridCol w="5394960"/>
                <a:gridCol w="2953512"/>
              </a:tblGrid>
              <a:tr h="0">
                <a:tc>
                  <a:txBody>
                    <a:bodyPr/>
                    <a:lstStyle/>
                    <a:p>
                      <a:pPr indent="0" marL="0">
                        <a:buNone/>
                      </a:pPr>
                      <a:r>
                        <a:rPr lang="en-US" sz="1100" b="1" dirty="0">
                          <a:solidFill>
                            <a:srgbClr val="5B6678"/>
                          </a:solidFill>
                          <a:latin typeface="Malgun Gothic" pitchFamily="34" charset="0"/>
                          <a:ea typeface="Malgun Gothic" pitchFamily="34" charset="-122"/>
                          <a:cs typeface="Malgun Gothic" pitchFamily="34" charset="-120"/>
                        </a:rPr>
                        <a:t>용어 · 원래 이름</a:t>
                      </a:r>
                      <a:endParaRPr lang="en-US" sz="11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solidFill>
                      <a:srgbClr val="F3F5F8"/>
                    </a:solidFill>
                  </a:tcPr>
                </a:tc>
                <a:tc>
                  <a:txBody>
                    <a:bodyPr/>
                    <a:lstStyle/>
                    <a:p>
                      <a:pPr indent="0" marL="0">
                        <a:buNone/>
                      </a:pPr>
                      <a:r>
                        <a:rPr lang="en-US" sz="1100" b="1" dirty="0">
                          <a:solidFill>
                            <a:srgbClr val="5B6678"/>
                          </a:solidFill>
                          <a:latin typeface="Malgun Gothic" pitchFamily="34" charset="0"/>
                          <a:ea typeface="Malgun Gothic" pitchFamily="34" charset="-122"/>
                          <a:cs typeface="Malgun Gothic" pitchFamily="34" charset="-120"/>
                        </a:rPr>
                        <a:t>쉬운 뜻 · 하는 일</a:t>
                      </a:r>
                      <a:endParaRPr lang="en-US" sz="11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solidFill>
                      <a:srgbClr val="F3F5F8"/>
                    </a:solidFill>
                  </a:tcPr>
                </a:tc>
                <a:tc>
                  <a:txBody>
                    <a:bodyPr/>
                    <a:lstStyle/>
                    <a:p>
                      <a:pPr indent="0" marL="0">
                        <a:buNone/>
                      </a:pPr>
                      <a:r>
                        <a:rPr lang="en-US" sz="1100" b="1" dirty="0">
                          <a:solidFill>
                            <a:srgbClr val="5B6678"/>
                          </a:solidFill>
                          <a:latin typeface="Malgun Gothic" pitchFamily="34" charset="0"/>
                          <a:ea typeface="Malgun Gothic" pitchFamily="34" charset="-122"/>
                          <a:cs typeface="Malgun Gothic" pitchFamily="34" charset="-120"/>
                        </a:rPr>
                        <a:t>이 프로젝트에서</a:t>
                      </a:r>
                      <a:endParaRPr lang="en-US" sz="11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solidFill>
                      <a:srgbClr val="F3F5F8"/>
                    </a:solidFill>
                  </a:tcPr>
                </a:tc>
              </a:tr>
              <a:tr h="0">
                <a:tc>
                  <a:txBody>
                    <a:bodyPr/>
                    <a:lstStyle/>
                    <a:p>
                      <a:pPr indent="0" marL="0">
                        <a:buNone/>
                      </a:pPr>
                      <a:r>
                        <a:rPr lang="en-US" sz="1300" b="1" dirty="0">
                          <a:solidFill>
                            <a:srgbClr val="18212F"/>
                          </a:solidFill>
                          <a:latin typeface="Malgun Gothic" pitchFamily="34" charset="0"/>
                          <a:ea typeface="Malgun Gothic" pitchFamily="34" charset="-122"/>
                          <a:cs typeface="Malgun Gothic" pitchFamily="34" charset="-120"/>
                        </a:rPr>
                        <a:t>PR</a:t>
                      </a:r>
                      <a:endParaRPr lang="en-US" sz="1200" dirty="0">
                        <a:latin typeface="Malgun Gothic" charset="0"/>
                        <a:ea typeface="Malgun Gothic" charset="0"/>
                        <a:cs typeface="Malgun Gothic" charset="0"/>
                      </a:endParaRPr>
                    </a:p>
                    <a:p>
                      <a:pPr indent="0" marL="0">
                        <a:buNone/>
                      </a:pPr>
                      <a:r>
                        <a:rPr lang="en-US" sz="1000" dirty="0">
                          <a:solidFill>
                            <a:srgbClr val="A4520C"/>
                          </a:solidFill>
                          <a:latin typeface="Malgun Gothic" pitchFamily="34" charset="0"/>
                          <a:ea typeface="Malgun Gothic" pitchFamily="34" charset="-122"/>
                          <a:cs typeface="Malgun Gothic" pitchFamily="34" charset="-120"/>
                        </a:rPr>
                        <a:t>Pull Request (병합 요청)</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브랜치의 변경을 main에 합쳐 달라고 올리는 요청. 무엇을 왜 바꿨는지와 검증 결과를 적는다. 검토 후 합치기.</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#20~#42, 20개</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b="1" dirty="0">
                          <a:solidFill>
                            <a:srgbClr val="18212F"/>
                          </a:solidFill>
                          <a:latin typeface="Malgun Gothic" pitchFamily="34" charset="0"/>
                          <a:ea typeface="Malgun Gothic" pitchFamily="34" charset="-122"/>
                          <a:cs typeface="Malgun Gothic" pitchFamily="34" charset="-120"/>
                        </a:rPr>
                        <a:t>머지</a:t>
                      </a:r>
                      <a:endParaRPr lang="en-US" sz="1200" dirty="0">
                        <a:latin typeface="Malgun Gothic" charset="0"/>
                        <a:ea typeface="Malgun Gothic" charset="0"/>
                        <a:cs typeface="Malgun Gothic" charset="0"/>
                      </a:endParaRPr>
                    </a:p>
                    <a:p>
                      <a:pPr indent="0" marL="0">
                        <a:buNone/>
                      </a:pPr>
                      <a:r>
                        <a:rPr lang="en-US" sz="1000" dirty="0">
                          <a:solidFill>
                            <a:srgbClr val="A4520C"/>
                          </a:solidFill>
                          <a:latin typeface="Malgun Gothic" pitchFamily="34" charset="0"/>
                          <a:ea typeface="Malgun Gothic" pitchFamily="34" charset="-122"/>
                          <a:cs typeface="Malgun Gothic" pitchFamily="34" charset="-120"/>
                        </a:rPr>
                        <a:t>Merge</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PR을 main에 합치는 것. "Closes #13"이라고 적으면 이슈도 자동으로 닫힌다. 작업 완료.</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"PR 만들고 merge 해줘"</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b="1" dirty="0">
                          <a:solidFill>
                            <a:srgbClr val="18212F"/>
                          </a:solidFill>
                          <a:latin typeface="Malgun Gothic" pitchFamily="34" charset="0"/>
                          <a:ea typeface="Malgun Gothic" pitchFamily="34" charset="-122"/>
                          <a:cs typeface="Malgun Gothic" pitchFamily="34" charset="-120"/>
                        </a:rPr>
                        <a:t>이슈</a:t>
                      </a:r>
                      <a:endParaRPr lang="en-US" sz="1200" dirty="0">
                        <a:latin typeface="Malgun Gothic" charset="0"/>
                        <a:ea typeface="Malgun Gothic" charset="0"/>
                        <a:cs typeface="Malgun Gothic" charset="0"/>
                      </a:endParaRPr>
                    </a:p>
                    <a:p>
                      <a:pPr indent="0" marL="0">
                        <a:buNone/>
                      </a:pPr>
                      <a:r>
                        <a:rPr lang="en-US" sz="1000" dirty="0">
                          <a:solidFill>
                            <a:srgbClr val="A4520C"/>
                          </a:solidFill>
                          <a:latin typeface="Malgun Gothic" pitchFamily="34" charset="0"/>
                          <a:ea typeface="Malgun Gothic" pitchFamily="34" charset="-122"/>
                          <a:cs typeface="Malgun Gothic" pitchFamily="34" charset="-120"/>
                        </a:rPr>
                        <a:t>GitHub Issue</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할 일이나 버그를 적어 두는 게시물. 번호(#13)로 부른다. 할 일 목록과 진행 관리.</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#1~#19(계획), #36~#38(점검 발견)</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b="1" dirty="0">
                          <a:solidFill>
                            <a:srgbClr val="18212F"/>
                          </a:solidFill>
                          <a:latin typeface="Malgun Gothic" pitchFamily="34" charset="0"/>
                          <a:ea typeface="Malgun Gothic" pitchFamily="34" charset="-122"/>
                          <a:cs typeface="Malgun Gothic" pitchFamily="34" charset="-120"/>
                        </a:rPr>
                        <a:t>gh</a:t>
                      </a:r>
                      <a:endParaRPr lang="en-US" sz="1200" dirty="0">
                        <a:latin typeface="Malgun Gothic" charset="0"/>
                        <a:ea typeface="Malgun Gothic" charset="0"/>
                        <a:cs typeface="Malgun Gothic" charset="0"/>
                      </a:endParaRPr>
                    </a:p>
                    <a:p>
                      <a:pPr indent="0" marL="0">
                        <a:buNone/>
                      </a:pPr>
                      <a:r>
                        <a:rPr lang="en-US" sz="1000" dirty="0">
                          <a:solidFill>
                            <a:srgbClr val="A4520C"/>
                          </a:solidFill>
                          <a:latin typeface="Malgun Gothic" pitchFamily="34" charset="0"/>
                          <a:ea typeface="Malgun Gothic" pitchFamily="34" charset="-122"/>
                          <a:cs typeface="Malgun Gothic" pitchFamily="34" charset="-120"/>
                        </a:rPr>
                        <a:t>GitHub CLI</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명령창에서 이슈·PR을 만들고 합칠 수 있게 해 주는 GitHub 공식 도구. Claude가 GitHub 작업을 대신 하게 함.</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이슈 생성, PR 생성·머지</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320040"/>
          </a:xfrm>
          <a:prstGeom prst="rect">
            <a:avLst/>
          </a:prstGeom>
          <a:noFill/>
          <a:ln/>
        </p:spPr>
        <p:txBody>
          <a:bodyPr wrap="square" lIns="0" tIns="0" rIns="0" bIns="0" rtlCol="0" anchor="ctr"/>
          <a:lstStyle/>
          <a:p>
            <a:pPr indent="0" marL="0">
              <a:buNone/>
            </a:pPr>
            <a:r>
              <a:rPr lang="en-US" sz="1200" dirty="0">
                <a:solidFill>
                  <a:srgbClr val="A4520C"/>
                </a:solidFill>
                <a:latin typeface="Consolas" pitchFamily="34" charset="0"/>
                <a:ea typeface="Consolas" pitchFamily="34" charset="-122"/>
                <a:cs typeface="Consolas" pitchFamily="34" charset="-120"/>
              </a:rPr>
              <a:t>용어 사전 · 내 PC에서 프로그램을 띄우고 관리하는 데 쓰인 말</a:t>
            </a:r>
            <a:endParaRPr lang="en-US" sz="1200" dirty="0"/>
          </a:p>
        </p:txBody>
      </p:sp>
      <p:sp>
        <p:nvSpPr>
          <p:cNvPr id="3" name="Text 0"/>
          <p:cNvSpPr/>
          <p:nvPr>
            <p:ph idx="101" type="title" hasCustomPrompt="1"/>
          </p:nvPr>
        </p:nvSpPr>
        <p:spPr>
          <a:xfrm>
            <a:off x="548640" y="658368"/>
            <a:ext cx="11094415" cy="731520"/>
          </a:xfrm>
          <a:prstGeom prst="rect">
            <a:avLst/>
          </a:prstGeom>
          <a:noFill/>
          <a:ln/>
        </p:spPr>
        <p:txBody>
          <a:bodyPr wrap="square" lIns="0" tIns="0" rIns="0" bIns="0" rtlCol="0" anchor="ctr"/>
          <a:lstStyle/>
          <a:p>
            <a:pPr algn="l" indent="0" marL="0">
              <a:buNone/>
            </a:pPr>
            <a:r>
              <a:rPr lang="en-US" sz="3000" b="1" dirty="0">
                <a:solidFill>
                  <a:srgbClr val="18212F"/>
                </a:solidFill>
              </a:rPr>
              <a:t>실행 환경</a:t>
            </a:r>
            <a:endParaRPr lang="en-US" sz="30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2743200"/>
                <a:gridCol w="5394960"/>
                <a:gridCol w="2953512"/>
              </a:tblGrid>
              <a:tr h="0">
                <a:tc>
                  <a:txBody>
                    <a:bodyPr/>
                    <a:lstStyle/>
                    <a:p>
                      <a:pPr indent="0" marL="0">
                        <a:buNone/>
                      </a:pPr>
                      <a:r>
                        <a:rPr lang="en-US" sz="1100" b="1" dirty="0">
                          <a:solidFill>
                            <a:srgbClr val="5B6678"/>
                          </a:solidFill>
                          <a:latin typeface="Malgun Gothic" pitchFamily="34" charset="0"/>
                          <a:ea typeface="Malgun Gothic" pitchFamily="34" charset="-122"/>
                          <a:cs typeface="Malgun Gothic" pitchFamily="34" charset="-120"/>
                        </a:rPr>
                        <a:t>용어 · 원래 이름</a:t>
                      </a:r>
                      <a:endParaRPr lang="en-US" sz="11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solidFill>
                      <a:srgbClr val="F3F5F8"/>
                    </a:solidFill>
                  </a:tcPr>
                </a:tc>
                <a:tc>
                  <a:txBody>
                    <a:bodyPr/>
                    <a:lstStyle/>
                    <a:p>
                      <a:pPr indent="0" marL="0">
                        <a:buNone/>
                      </a:pPr>
                      <a:r>
                        <a:rPr lang="en-US" sz="1100" b="1" dirty="0">
                          <a:solidFill>
                            <a:srgbClr val="5B6678"/>
                          </a:solidFill>
                          <a:latin typeface="Malgun Gothic" pitchFamily="34" charset="0"/>
                          <a:ea typeface="Malgun Gothic" pitchFamily="34" charset="-122"/>
                          <a:cs typeface="Malgun Gothic" pitchFamily="34" charset="-120"/>
                        </a:rPr>
                        <a:t>쉬운 뜻 · 하는 일</a:t>
                      </a:r>
                      <a:endParaRPr lang="en-US" sz="11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solidFill>
                      <a:srgbClr val="F3F5F8"/>
                    </a:solidFill>
                  </a:tcPr>
                </a:tc>
                <a:tc>
                  <a:txBody>
                    <a:bodyPr/>
                    <a:lstStyle/>
                    <a:p>
                      <a:pPr indent="0" marL="0">
                        <a:buNone/>
                      </a:pPr>
                      <a:r>
                        <a:rPr lang="en-US" sz="1100" b="1" dirty="0">
                          <a:solidFill>
                            <a:srgbClr val="5B6678"/>
                          </a:solidFill>
                          <a:latin typeface="Malgun Gothic" pitchFamily="34" charset="0"/>
                          <a:ea typeface="Malgun Gothic" pitchFamily="34" charset="-122"/>
                          <a:cs typeface="Malgun Gothic" pitchFamily="34" charset="-120"/>
                        </a:rPr>
                        <a:t>이 프로젝트에서</a:t>
                      </a:r>
                      <a:endParaRPr lang="en-US" sz="11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solidFill>
                      <a:srgbClr val="F3F5F8"/>
                    </a:solidFill>
                  </a:tcPr>
                </a:tc>
              </a:tr>
              <a:tr h="0">
                <a:tc>
                  <a:txBody>
                    <a:bodyPr/>
                    <a:lstStyle/>
                    <a:p>
                      <a:pPr indent="0" marL="0">
                        <a:buNone/>
                      </a:pPr>
                      <a:r>
                        <a:rPr lang="en-US" sz="1300" b="1" dirty="0">
                          <a:solidFill>
                            <a:srgbClr val="18212F"/>
                          </a:solidFill>
                          <a:latin typeface="Malgun Gothic" pitchFamily="34" charset="0"/>
                          <a:ea typeface="Malgun Gothic" pitchFamily="34" charset="-122"/>
                          <a:cs typeface="Malgun Gothic" pitchFamily="34" charset="-120"/>
                        </a:rPr>
                        <a:t>pnpm</a:t>
                      </a:r>
                      <a:endParaRPr lang="en-US" sz="1200" dirty="0">
                        <a:latin typeface="Malgun Gothic" charset="0"/>
                        <a:ea typeface="Malgun Gothic" charset="0"/>
                        <a:cs typeface="Malgun Gothic" charset="0"/>
                      </a:endParaRPr>
                    </a:p>
                    <a:p>
                      <a:pPr indent="0" marL="0">
                        <a:buNone/>
                      </a:pPr>
                      <a:r>
                        <a:rPr lang="en-US" sz="1000" dirty="0">
                          <a:solidFill>
                            <a:srgbClr val="A4520C"/>
                          </a:solidFill>
                          <a:latin typeface="Malgun Gothic" pitchFamily="34" charset="0"/>
                          <a:ea typeface="Malgun Gothic" pitchFamily="34" charset="-122"/>
                          <a:cs typeface="Malgun Gothic" pitchFamily="34" charset="-120"/>
                        </a:rPr>
                        <a:t>pnpm · npm (패키지 관리자)</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라이브러리를 내려받아 설치하고 버전을 관리하는 도구. pnpm은 npm보다 빠르고 디스크를 아낀다. 필요한 부품 설치.</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pnpm install, pnpm dev</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b="1" dirty="0">
                          <a:solidFill>
                            <a:srgbClr val="18212F"/>
                          </a:solidFill>
                          <a:latin typeface="Malgun Gothic" pitchFamily="34" charset="0"/>
                          <a:ea typeface="Malgun Gothic" pitchFamily="34" charset="-122"/>
                          <a:cs typeface="Malgun Gothic" pitchFamily="34" charset="-120"/>
                        </a:rPr>
                        <a:t>워크스페이스</a:t>
                      </a:r>
                      <a:endParaRPr lang="en-US" sz="1200" dirty="0">
                        <a:latin typeface="Malgun Gothic" charset="0"/>
                        <a:ea typeface="Malgun Gothic" charset="0"/>
                        <a:cs typeface="Malgun Gothic" charset="0"/>
                      </a:endParaRPr>
                    </a:p>
                    <a:p>
                      <a:pPr indent="0" marL="0">
                        <a:buNone/>
                      </a:pPr>
                      <a:r>
                        <a:rPr lang="en-US" sz="1000" dirty="0">
                          <a:solidFill>
                            <a:srgbClr val="A4520C"/>
                          </a:solidFill>
                          <a:latin typeface="Malgun Gothic" pitchFamily="34" charset="0"/>
                          <a:ea typeface="Malgun Gothic" pitchFamily="34" charset="-122"/>
                          <a:cs typeface="Malgun Gothic" pitchFamily="34" charset="-120"/>
                        </a:rPr>
                        <a:t>Workspace</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한 저장소 안에 여러 프로그램(프론트, server, mockup)을 함께 두는 구성. 한 번 설치로 전부 준비.</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pnpm-workspace.yaml</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b="1" dirty="0">
                          <a:solidFill>
                            <a:srgbClr val="18212F"/>
                          </a:solidFill>
                          <a:latin typeface="Malgun Gothic" pitchFamily="34" charset="0"/>
                          <a:ea typeface="Malgun Gothic" pitchFamily="34" charset="-122"/>
                          <a:cs typeface="Malgun Gothic" pitchFamily="34" charset="-120"/>
                        </a:rPr>
                        <a:t>localhost · 포트</a:t>
                      </a:r>
                      <a:endParaRPr lang="en-US" sz="1200" dirty="0">
                        <a:latin typeface="Malgun Gothic" charset="0"/>
                        <a:ea typeface="Malgun Gothic" charset="0"/>
                        <a:cs typeface="Malgun Gothic" charset="0"/>
                      </a:endParaRPr>
                    </a:p>
                    <a:p>
                      <a:pPr indent="0" marL="0">
                        <a:buNone/>
                      </a:pPr>
                      <a:r>
                        <a:rPr lang="en-US" sz="1000" dirty="0">
                          <a:solidFill>
                            <a:srgbClr val="A4520C"/>
                          </a:solidFill>
                          <a:latin typeface="Malgun Gothic" pitchFamily="34" charset="0"/>
                          <a:ea typeface="Malgun Gothic" pitchFamily="34" charset="-122"/>
                          <a:cs typeface="Malgun Gothic" pitchFamily="34" charset="-120"/>
                        </a:rPr>
                        <a:t>localhost · Port</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localhost는 "내 PC", 포트는 프로그램마다 쓰는 문 번호. 어느 프로그램에 접속할지 구분.</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5173 화면, 3001 API, 3000 목 서버</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b="1" dirty="0">
                          <a:solidFill>
                            <a:srgbClr val="18212F"/>
                          </a:solidFill>
                          <a:latin typeface="Malgun Gothic" pitchFamily="34" charset="0"/>
                          <a:ea typeface="Malgun Gothic" pitchFamily="34" charset="-122"/>
                          <a:cs typeface="Malgun Gothic" pitchFamily="34" charset="-120"/>
                        </a:rPr>
                        <a:t>cmd · Ctrl+C</a:t>
                      </a:r>
                      <a:endParaRPr lang="en-US" sz="1200" dirty="0">
                        <a:latin typeface="Malgun Gothic" charset="0"/>
                        <a:ea typeface="Malgun Gothic" charset="0"/>
                        <a:cs typeface="Malgun Gothic" charset="0"/>
                      </a:endParaRPr>
                    </a:p>
                    <a:p>
                      <a:pPr indent="0" marL="0">
                        <a:buNone/>
                      </a:pPr>
                      <a:r>
                        <a:rPr lang="en-US" sz="1000" dirty="0">
                          <a:solidFill>
                            <a:srgbClr val="A4520C"/>
                          </a:solidFill>
                          <a:latin typeface="Malgun Gothic" pitchFamily="34" charset="0"/>
                          <a:ea typeface="Malgun Gothic" pitchFamily="34" charset="-122"/>
                          <a:cs typeface="Malgun Gothic" pitchFamily="34" charset="-120"/>
                        </a:rPr>
                        <a:t>명령 프롬프트 · 실행 중지 키</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cmd는 명령을 입력하는 검은 창. 그 창에서 Ctrl+C는 복사가 아니라 "지금 실행 중인 프로그램 멈추기". 서버 켜고 끄기.</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프론트용, 백엔드용 창 2개를 열어 둠</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b="1" dirty="0">
                          <a:solidFill>
                            <a:srgbClr val="18212F"/>
                          </a:solidFill>
                          <a:latin typeface="Malgun Gothic" pitchFamily="34" charset="0"/>
                          <a:ea typeface="Malgun Gothic" pitchFamily="34" charset="-122"/>
                          <a:cs typeface="Malgun Gothic" pitchFamily="34" charset="-120"/>
                        </a:rPr>
                        <a:t>개발자도구</a:t>
                      </a:r>
                      <a:endParaRPr lang="en-US" sz="1200" dirty="0">
                        <a:latin typeface="Malgun Gothic" charset="0"/>
                        <a:ea typeface="Malgun Gothic" charset="0"/>
                        <a:cs typeface="Malgun Gothic" charset="0"/>
                      </a:endParaRPr>
                    </a:p>
                    <a:p>
                      <a:pPr indent="0" marL="0">
                        <a:buNone/>
                      </a:pPr>
                      <a:r>
                        <a:rPr lang="en-US" sz="1000" dirty="0">
                          <a:solidFill>
                            <a:srgbClr val="A4520C"/>
                          </a:solidFill>
                          <a:latin typeface="Malgun Gothic" pitchFamily="34" charset="0"/>
                          <a:ea typeface="Malgun Gothic" pitchFamily="34" charset="-122"/>
                          <a:cs typeface="Malgun Gothic" pitchFamily="34" charset="-120"/>
                        </a:rPr>
                        <a:t>DevTools (F12)</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브라우저에 들어 있는 점검 도구. Network 탭에서 인터넷 끊김(Offline)을 흉내 낼 수 있다. 화면 문제 조사.</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Offline은 이미 열린 실시간 연결은 끊지 못함</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b="1" dirty="0">
                          <a:solidFill>
                            <a:srgbClr val="18212F"/>
                          </a:solidFill>
                          <a:latin typeface="Malgun Gothic" pitchFamily="34" charset="0"/>
                          <a:ea typeface="Malgun Gothic" pitchFamily="34" charset="-122"/>
                          <a:cs typeface="Malgun Gothic" pitchFamily="34" charset="-120"/>
                        </a:rPr>
                        <a:t>SheetJS</a:t>
                      </a:r>
                      <a:endParaRPr lang="en-US" sz="1200" dirty="0">
                        <a:latin typeface="Malgun Gothic" charset="0"/>
                        <a:ea typeface="Malgun Gothic" charset="0"/>
                        <a:cs typeface="Malgun Gothic" charset="0"/>
                      </a:endParaRPr>
                    </a:p>
                    <a:p>
                      <a:pPr indent="0" marL="0">
                        <a:buNone/>
                      </a:pPr>
                      <a:r>
                        <a:rPr lang="en-US" sz="1000" dirty="0">
                          <a:solidFill>
                            <a:srgbClr val="A4520C"/>
                          </a:solidFill>
                          <a:latin typeface="Malgun Gothic" pitchFamily="34" charset="0"/>
                          <a:ea typeface="Malgun Gothic" pitchFamily="34" charset="-122"/>
                          <a:cs typeface="Malgun Gothic" pitchFamily="34" charset="-120"/>
                        </a:rPr>
                        <a:t>SheetJS (xlsx 라이브러리)</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엑셀 파일을 읽고 쓰는 JavaScript 라이브러리. 브라우저에서 엑셀 읽기.</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MapGen 엑셀 선택, 첫 시트 이미지</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b="1" dirty="0">
                          <a:solidFill>
                            <a:srgbClr val="18212F"/>
                          </a:solidFill>
                          <a:latin typeface="Malgun Gothic" pitchFamily="34" charset="0"/>
                          <a:ea typeface="Malgun Gothic" pitchFamily="34" charset="-122"/>
                          <a:cs typeface="Malgun Gothic" pitchFamily="34" charset="-120"/>
                        </a:rPr>
                        <a:t>CDN</a:t>
                      </a:r>
                      <a:endParaRPr lang="en-US" sz="1200" dirty="0">
                        <a:latin typeface="Malgun Gothic" charset="0"/>
                        <a:ea typeface="Malgun Gothic" charset="0"/>
                        <a:cs typeface="Malgun Gothic" charset="0"/>
                      </a:endParaRPr>
                    </a:p>
                    <a:p>
                      <a:pPr indent="0" marL="0">
                        <a:buNone/>
                      </a:pPr>
                      <a:r>
                        <a:rPr lang="en-US" sz="1000" dirty="0">
                          <a:solidFill>
                            <a:srgbClr val="A4520C"/>
                          </a:solidFill>
                          <a:latin typeface="Malgun Gothic" pitchFamily="34" charset="0"/>
                          <a:ea typeface="Malgun Gothic" pitchFamily="34" charset="-122"/>
                          <a:cs typeface="Malgun Gothic" pitchFamily="34" charset="-120"/>
                        </a:rPr>
                        <a:t>Content Delivery Network</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파일을 여러 곳에서 빠르게 내려받게 해 주는 배포 서버망. 라이브러리 배포처.</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SheetJS를 공식 CDN에서 설치</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320040"/>
          </a:xfrm>
          <a:prstGeom prst="rect">
            <a:avLst/>
          </a:prstGeom>
          <a:noFill/>
          <a:ln/>
        </p:spPr>
        <p:txBody>
          <a:bodyPr wrap="square" lIns="0" tIns="0" rIns="0" bIns="0" rtlCol="0" anchor="ctr"/>
          <a:lstStyle/>
          <a:p>
            <a:pPr indent="0" marL="0">
              <a:buNone/>
            </a:pPr>
            <a:r>
              <a:rPr lang="en-US" sz="1200" dirty="0">
                <a:solidFill>
                  <a:srgbClr val="A4520C"/>
                </a:solidFill>
                <a:latin typeface="Consolas" pitchFamily="34" charset="0"/>
                <a:ea typeface="Consolas" pitchFamily="34" charset="-122"/>
                <a:cs typeface="Consolas" pitchFamily="34" charset="-120"/>
              </a:rPr>
              <a:t>용어 사전 · 개발 이후 사내에 설치하고 쓰게 하는 단계의 말</a:t>
            </a:r>
            <a:endParaRPr lang="en-US" sz="1200" dirty="0"/>
          </a:p>
        </p:txBody>
      </p:sp>
      <p:sp>
        <p:nvSpPr>
          <p:cNvPr id="3" name="Text 0"/>
          <p:cNvSpPr/>
          <p:nvPr>
            <p:ph idx="101" type="title" hasCustomPrompt="1"/>
          </p:nvPr>
        </p:nvSpPr>
        <p:spPr>
          <a:xfrm>
            <a:off x="548640" y="658368"/>
            <a:ext cx="11094415" cy="731520"/>
          </a:xfrm>
          <a:prstGeom prst="rect">
            <a:avLst/>
          </a:prstGeom>
          <a:noFill/>
          <a:ln/>
        </p:spPr>
        <p:txBody>
          <a:bodyPr wrap="square" lIns="0" tIns="0" rIns="0" bIns="0" rtlCol="0" anchor="ctr"/>
          <a:lstStyle/>
          <a:p>
            <a:pPr algn="l" indent="0" marL="0">
              <a:buNone/>
            </a:pPr>
            <a:r>
              <a:rPr lang="en-US" sz="3000" b="1" dirty="0">
                <a:solidFill>
                  <a:srgbClr val="18212F"/>
                </a:solidFill>
              </a:rPr>
              <a:t>운영 · 배포 (다음 단계)</a:t>
            </a:r>
            <a:endParaRPr lang="en-US" sz="30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2743200"/>
                <a:gridCol w="5394960"/>
                <a:gridCol w="2953512"/>
              </a:tblGrid>
              <a:tr h="0">
                <a:tc>
                  <a:txBody>
                    <a:bodyPr/>
                    <a:lstStyle/>
                    <a:p>
                      <a:pPr indent="0" marL="0">
                        <a:buNone/>
                      </a:pPr>
                      <a:r>
                        <a:rPr lang="en-US" sz="1100" b="1" dirty="0">
                          <a:solidFill>
                            <a:srgbClr val="5B6678"/>
                          </a:solidFill>
                          <a:latin typeface="Malgun Gothic" pitchFamily="34" charset="0"/>
                          <a:ea typeface="Malgun Gothic" pitchFamily="34" charset="-122"/>
                          <a:cs typeface="Malgun Gothic" pitchFamily="34" charset="-120"/>
                        </a:rPr>
                        <a:t>용어 · 원래 이름</a:t>
                      </a:r>
                      <a:endParaRPr lang="en-US" sz="11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solidFill>
                      <a:srgbClr val="F3F5F8"/>
                    </a:solidFill>
                  </a:tcPr>
                </a:tc>
                <a:tc>
                  <a:txBody>
                    <a:bodyPr/>
                    <a:lstStyle/>
                    <a:p>
                      <a:pPr indent="0" marL="0">
                        <a:buNone/>
                      </a:pPr>
                      <a:r>
                        <a:rPr lang="en-US" sz="1100" b="1" dirty="0">
                          <a:solidFill>
                            <a:srgbClr val="5B6678"/>
                          </a:solidFill>
                          <a:latin typeface="Malgun Gothic" pitchFamily="34" charset="0"/>
                          <a:ea typeface="Malgun Gothic" pitchFamily="34" charset="-122"/>
                          <a:cs typeface="Malgun Gothic" pitchFamily="34" charset="-120"/>
                        </a:rPr>
                        <a:t>쉬운 뜻 · 하는 일</a:t>
                      </a:r>
                      <a:endParaRPr lang="en-US" sz="11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solidFill>
                      <a:srgbClr val="F3F5F8"/>
                    </a:solidFill>
                  </a:tcPr>
                </a:tc>
                <a:tc>
                  <a:txBody>
                    <a:bodyPr/>
                    <a:lstStyle/>
                    <a:p>
                      <a:pPr indent="0" marL="0">
                        <a:buNone/>
                      </a:pPr>
                      <a:r>
                        <a:rPr lang="en-US" sz="1100" b="1" dirty="0">
                          <a:solidFill>
                            <a:srgbClr val="5B6678"/>
                          </a:solidFill>
                          <a:latin typeface="Malgun Gothic" pitchFamily="34" charset="0"/>
                          <a:ea typeface="Malgun Gothic" pitchFamily="34" charset="-122"/>
                          <a:cs typeface="Malgun Gothic" pitchFamily="34" charset="-120"/>
                        </a:rPr>
                        <a:t>이 프로젝트에서</a:t>
                      </a:r>
                      <a:endParaRPr lang="en-US" sz="11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solidFill>
                      <a:srgbClr val="F3F5F8"/>
                    </a:solidFill>
                  </a:tcPr>
                </a:tc>
              </a:tr>
              <a:tr h="0">
                <a:tc>
                  <a:txBody>
                    <a:bodyPr/>
                    <a:lstStyle/>
                    <a:p>
                      <a:pPr indent="0" marL="0">
                        <a:buNone/>
                      </a:pPr>
                      <a:r>
                        <a:rPr lang="en-US" sz="1300" b="1" dirty="0">
                          <a:solidFill>
                            <a:srgbClr val="18212F"/>
                          </a:solidFill>
                          <a:latin typeface="Malgun Gothic" pitchFamily="34" charset="0"/>
                          <a:ea typeface="Malgun Gothic" pitchFamily="34" charset="-122"/>
                          <a:cs typeface="Malgun Gothic" pitchFamily="34" charset="-120"/>
                        </a:rPr>
                        <a:t>배포</a:t>
                      </a:r>
                      <a:endParaRPr lang="en-US" sz="1200" dirty="0">
                        <a:latin typeface="Malgun Gothic" charset="0"/>
                        <a:ea typeface="Malgun Gothic" charset="0"/>
                        <a:cs typeface="Malgun Gothic" charset="0"/>
                      </a:endParaRPr>
                    </a:p>
                    <a:p>
                      <a:pPr indent="0" marL="0">
                        <a:buNone/>
                      </a:pPr>
                      <a:r>
                        <a:rPr lang="en-US" sz="1000" dirty="0">
                          <a:solidFill>
                            <a:srgbClr val="A4520C"/>
                          </a:solidFill>
                          <a:latin typeface="Malgun Gothic" pitchFamily="34" charset="0"/>
                          <a:ea typeface="Malgun Gothic" pitchFamily="34" charset="-122"/>
                          <a:cs typeface="Malgun Gothic" pitchFamily="34" charset="-120"/>
                        </a:rPr>
                        <a:t>Deployment</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개발한 프로그램을 실제 사용자가 쓰는 서버에 설치하고 실행하는 일. 개발 결과를 사용자에게 전달.</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다음 단계 OP-4~OP-5 (사내 서버)</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b="1" dirty="0">
                          <a:solidFill>
                            <a:srgbClr val="18212F"/>
                          </a:solidFill>
                          <a:latin typeface="Malgun Gothic" pitchFamily="34" charset="0"/>
                          <a:ea typeface="Malgun Gothic" pitchFamily="34" charset="-122"/>
                          <a:cs typeface="Malgun Gothic" pitchFamily="34" charset="-120"/>
                        </a:rPr>
                        <a:t>운영 환경</a:t>
                      </a:r>
                      <a:endParaRPr lang="en-US" sz="1200" dirty="0">
                        <a:latin typeface="Malgun Gothic" charset="0"/>
                        <a:ea typeface="Malgun Gothic" charset="0"/>
                        <a:cs typeface="Malgun Gothic" charset="0"/>
                      </a:endParaRPr>
                    </a:p>
                    <a:p>
                      <a:pPr indent="0" marL="0">
                        <a:buNone/>
                      </a:pPr>
                      <a:r>
                        <a:rPr lang="en-US" sz="1000" dirty="0">
                          <a:solidFill>
                            <a:srgbClr val="A4520C"/>
                          </a:solidFill>
                          <a:latin typeface="Malgun Gothic" pitchFamily="34" charset="0"/>
                          <a:ea typeface="Malgun Gothic" pitchFamily="34" charset="-122"/>
                          <a:cs typeface="Malgun Gothic" pitchFamily="34" charset="-120"/>
                        </a:rPr>
                        <a:t>Production environment</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개발용 PC가 아니라 실제 사용자가 접속하는 서버와 그 설정. 개발 모드와 달리 자동 시작, 보안, 백업이 필요하다. 안정적으로 계속 돌아가는 곳.</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지금은 개발 모드(pnpm dev)로만 실행 중</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b="1" dirty="0">
                          <a:solidFill>
                            <a:srgbClr val="18212F"/>
                          </a:solidFill>
                          <a:latin typeface="Malgun Gothic" pitchFamily="34" charset="0"/>
                          <a:ea typeface="Malgun Gothic" pitchFamily="34" charset="-122"/>
                          <a:cs typeface="Malgun Gothic" pitchFamily="34" charset="-120"/>
                        </a:rPr>
                        <a:t>HTTPS</a:t>
                      </a:r>
                      <a:endParaRPr lang="en-US" sz="1200" dirty="0">
                        <a:latin typeface="Malgun Gothic" charset="0"/>
                        <a:ea typeface="Malgun Gothic" charset="0"/>
                        <a:cs typeface="Malgun Gothic" charset="0"/>
                      </a:endParaRPr>
                    </a:p>
                    <a:p>
                      <a:pPr indent="0" marL="0">
                        <a:buNone/>
                      </a:pPr>
                      <a:r>
                        <a:rPr lang="en-US" sz="1000" dirty="0">
                          <a:solidFill>
                            <a:srgbClr val="A4520C"/>
                          </a:solidFill>
                          <a:latin typeface="Malgun Gothic" pitchFamily="34" charset="0"/>
                          <a:ea typeface="Malgun Gothic" pitchFamily="34" charset="-122"/>
                          <a:cs typeface="Malgun Gothic" pitchFamily="34" charset="-120"/>
                        </a:rPr>
                        <a:t>HTTP Secure</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브라우저와 서버 사이의 통신을 암호화하는 방식. 주소창의 자물쇠 표시. 인증서가 필요하다. 로그인 정보 보호.</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OP-4에서 인프라 부서와 인증서 준비</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b="1" dirty="0">
                          <a:solidFill>
                            <a:srgbClr val="18212F"/>
                          </a:solidFill>
                          <a:latin typeface="Malgun Gothic" pitchFamily="34" charset="0"/>
                          <a:ea typeface="Malgun Gothic" pitchFamily="34" charset="-122"/>
                          <a:cs typeface="Malgun Gothic" pitchFamily="34" charset="-120"/>
                        </a:rPr>
                        <a:t>서비스 등록</a:t>
                      </a:r>
                      <a:endParaRPr lang="en-US" sz="1200" dirty="0">
                        <a:latin typeface="Malgun Gothic" charset="0"/>
                        <a:ea typeface="Malgun Gothic" charset="0"/>
                        <a:cs typeface="Malgun Gothic" charset="0"/>
                      </a:endParaRPr>
                    </a:p>
                    <a:p>
                      <a:pPr indent="0" marL="0">
                        <a:buNone/>
                      </a:pPr>
                      <a:r>
                        <a:rPr lang="en-US" sz="1000" dirty="0">
                          <a:solidFill>
                            <a:srgbClr val="A4520C"/>
                          </a:solidFill>
                          <a:latin typeface="Malgun Gothic" pitchFamily="34" charset="0"/>
                          <a:ea typeface="Malgun Gothic" pitchFamily="34" charset="-122"/>
                          <a:cs typeface="Malgun Gothic" pitchFamily="34" charset="-120"/>
                        </a:rPr>
                        <a:t>Windows 서비스 · Linux systemd</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서버 프로그램을 운영체제에 등록해 PC가 켜지면 자동으로 시작하고, 꺼지면 다시 띄우게 하는 것. cmd 창을 열어 두지 않아도 계속 실행.</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OP-2에서 준비</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b="1" dirty="0">
                          <a:solidFill>
                            <a:srgbClr val="18212F"/>
                          </a:solidFill>
                          <a:latin typeface="Malgun Gothic" pitchFamily="34" charset="0"/>
                          <a:ea typeface="Malgun Gothic" pitchFamily="34" charset="-122"/>
                          <a:cs typeface="Malgun Gothic" pitchFamily="34" charset="-120"/>
                        </a:rPr>
                        <a:t>백업</a:t>
                      </a:r>
                      <a:endParaRPr lang="en-US" sz="1200" dirty="0">
                        <a:latin typeface="Malgun Gothic" charset="0"/>
                        <a:ea typeface="Malgun Gothic" charset="0"/>
                        <a:cs typeface="Malgun Gothic" charset="0"/>
                      </a:endParaRPr>
                    </a:p>
                    <a:p>
                      <a:pPr indent="0" marL="0">
                        <a:buNone/>
                      </a:pPr>
                      <a:r>
                        <a:rPr lang="en-US" sz="1000" dirty="0">
                          <a:solidFill>
                            <a:srgbClr val="A4520C"/>
                          </a:solidFill>
                          <a:latin typeface="Malgun Gothic" pitchFamily="34" charset="0"/>
                          <a:ea typeface="Malgun Gothic" pitchFamily="34" charset="-122"/>
                          <a:cs typeface="Malgun Gothic" pitchFamily="34" charset="-120"/>
                        </a:rPr>
                        <a:t>Backup</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DB와 업로드 파일을 정기적으로 복사해 두어, 장애가 나도 되돌릴 수 있게 하는 것. 데이터 보호.</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OP-2 스크립트, OP-5 자동화</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b="1" dirty="0">
                          <a:solidFill>
                            <a:srgbClr val="18212F"/>
                          </a:solidFill>
                          <a:latin typeface="Malgun Gothic" pitchFamily="34" charset="0"/>
                          <a:ea typeface="Malgun Gothic" pitchFamily="34" charset="-122"/>
                          <a:cs typeface="Malgun Gothic" pitchFamily="34" charset="-120"/>
                        </a:rPr>
                        <a:t>MDM 암호화</a:t>
                      </a:r>
                      <a:endParaRPr lang="en-US" sz="1200" dirty="0">
                        <a:latin typeface="Malgun Gothic" charset="0"/>
                        <a:ea typeface="Malgun Gothic" charset="0"/>
                        <a:cs typeface="Malgun Gothic" charset="0"/>
                      </a:endParaRPr>
                    </a:p>
                    <a:p>
                      <a:pPr indent="0" marL="0">
                        <a:buNone/>
                      </a:pPr>
                      <a:r>
                        <a:rPr lang="en-US" sz="1000" dirty="0">
                          <a:solidFill>
                            <a:srgbClr val="A4520C"/>
                          </a:solidFill>
                          <a:latin typeface="Malgun Gothic" pitchFamily="34" charset="0"/>
                          <a:ea typeface="Malgun Gothic" pitchFamily="34" charset="-122"/>
                          <a:cs typeface="Malgun Gothic" pitchFamily="34" charset="-120"/>
                        </a:rPr>
                        <a:t>사내 문서 보안(암호화) 솔루션</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사내 문서 보안 솔루션이 파일을 암호화해, 허가된 프로그램에서만 열리게 하는 것. 사내 문서 유출 방지.</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암호화된 엑셀은 MapGen이 읽지 못함 (R-4)</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r h="0">
                <a:tc>
                  <a:txBody>
                    <a:bodyPr/>
                    <a:lstStyle/>
                    <a:p>
                      <a:pPr indent="0" marL="0">
                        <a:buNone/>
                      </a:pPr>
                      <a:r>
                        <a:rPr lang="en-US" sz="1300" b="1" dirty="0">
                          <a:solidFill>
                            <a:srgbClr val="18212F"/>
                          </a:solidFill>
                          <a:latin typeface="Malgun Gothic" pitchFamily="34" charset="0"/>
                          <a:ea typeface="Malgun Gothic" pitchFamily="34" charset="-122"/>
                          <a:cs typeface="Malgun Gothic" pitchFamily="34" charset="-120"/>
                        </a:rPr>
                        <a:t>시범 운영</a:t>
                      </a:r>
                      <a:endParaRPr lang="en-US" sz="1200" dirty="0">
                        <a:latin typeface="Malgun Gothic" charset="0"/>
                        <a:ea typeface="Malgun Gothic" charset="0"/>
                        <a:cs typeface="Malgun Gothic" charset="0"/>
                      </a:endParaRPr>
                    </a:p>
                    <a:p>
                      <a:pPr indent="0" marL="0">
                        <a:buNone/>
                      </a:pPr>
                      <a:r>
                        <a:rPr lang="en-US" sz="1000" dirty="0">
                          <a:solidFill>
                            <a:srgbClr val="A4520C"/>
                          </a:solidFill>
                          <a:latin typeface="Malgun Gothic" pitchFamily="34" charset="0"/>
                          <a:ea typeface="Malgun Gothic" pitchFamily="34" charset="-122"/>
                          <a:cs typeface="Malgun Gothic" pitchFamily="34" charset="-120"/>
                        </a:rPr>
                        <a:t>Pilot</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정식 오픈 전에 소수 사용자가 실제 업무로 먼저 써 보며 문제를 찾는 기간. 오픈 전 마지막 점검.</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c>
                  <a:txBody>
                    <a:bodyPr/>
                    <a:lstStyle/>
                    <a:p>
                      <a:pPr indent="0" marL="0">
                        <a:buNone/>
                      </a:pPr>
                      <a:r>
                        <a:rPr lang="en-US" sz="1200" dirty="0">
                          <a:solidFill>
                            <a:srgbClr val="18212F"/>
                          </a:solidFill>
                          <a:latin typeface="Malgun Gothic" pitchFamily="34" charset="0"/>
                          <a:ea typeface="Malgun Gothic" pitchFamily="34" charset="-122"/>
                          <a:cs typeface="Malgun Gothic" pitchFamily="34" charset="-120"/>
                        </a:rPr>
                        <a:t>OP-6</a:t>
                      </a:r>
                      <a:endParaRPr lang="en-US" sz="1200" dirty="0">
                        <a:latin typeface="Malgun Gothic" charset="0"/>
                        <a:ea typeface="Malgun Gothic" charset="0"/>
                        <a:cs typeface="Malgun Gothic" charset="0"/>
                      </a:endParaRPr>
                    </a:p>
                  </a:txBody>
                  <a:tcPr marL="88900" marR="88900" marT="50800" marB="50800" anchor="t">
                    <a:lnL w="9525" cap="flat" cmpd="sng" algn="ctr">
                      <a:solidFill>
                        <a:srgbClr val="D8DDE6"/>
                      </a:solidFill>
                      <a:prstDash val="solid"/>
                      <a:round/>
                      <a:headEnd type="none" w="med" len="med"/>
                      <a:tailEnd type="none" w="med" len="med"/>
                    </a:lnL>
                    <a:lnR w="9525" cap="flat" cmpd="sng" algn="ctr">
                      <a:solidFill>
                        <a:srgbClr val="D8DDE6"/>
                      </a:solidFill>
                      <a:prstDash val="solid"/>
                      <a:round/>
                      <a:headEnd type="none" w="med" len="med"/>
                      <a:tailEnd type="none" w="med" len="med"/>
                    </a:lnR>
                    <a:lnT w="9525" cap="flat" cmpd="sng" algn="ctr">
                      <a:solidFill>
                        <a:srgbClr val="D8DDE6"/>
                      </a:solidFill>
                      <a:prstDash val="solid"/>
                      <a:round/>
                      <a:headEnd type="none" w="med" len="med"/>
                      <a:tailEnd type="none" w="med" len="med"/>
                    </a:lnT>
                    <a:lnB w="9525" cap="flat" cmpd="sng" algn="ctr">
                      <a:solidFill>
                        <a:srgbClr val="D8DD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defRPr>
            </a:lvl1pPr>
          </a:lstStyle>
          <a:p>
            <a:pPr algn="r"/>
            <a:fld id="{F7021451-1387-4CA6-816F-3879F97B5CBC}" type="slidenum">
              <a:rPr b="0" lang="en-US"/>
              <a:t>33</a:t>
            </a:fld>
            <a:endParaRPr lang="en-US"/>
          </a:p>
        </p:txBody>
      </p:sp>
    </p:spTree>
  </p:cSld>
  <p:clrMapOvr>
    <a:masterClrMapping/>
  </p:clrMapOvr>
</p:sld>
</file>

<file path=ppt/theme/theme1.xml><?xml version="1.0" encoding="utf-8"?>
<a:theme xmlns:a="http://schemas.openxmlformats.org/drawingml/2006/main" name="MPW Plus Journey">
  <a:themeElements>
    <a:clrScheme name="MPW Plus Journey">
      <a:dk1>
        <a:srgbClr val="18212F"/>
      </a:dk1>
      <a:lt1>
        <a:srgbClr val="FFFFFF"/>
      </a:lt1>
      <a:dk2>
        <a:srgbClr val="1B2A4A"/>
      </a:dk2>
      <a:lt2>
        <a:srgbClr val="F3F5F8"/>
      </a:lt2>
      <a:accent1>
        <a:srgbClr val="2B55C9"/>
      </a:accent1>
      <a:accent2>
        <a:srgbClr val="A4520C"/>
      </a:accent2>
      <a:accent3>
        <a:srgbClr val="1D7347"/>
      </a:accent3>
      <a:accent4>
        <a:srgbClr val="FBEFE2"/>
      </a:accent4>
      <a:accent5>
        <a:srgbClr val="E1F2E8"/>
      </a:accent5>
      <a:accent6>
        <a:srgbClr val="5B6678"/>
      </a:accent6>
      <a:hlink>
        <a:srgbClr val="2B55C9"/>
      </a:hlink>
      <a:folHlink>
        <a:srgbClr val="5B6678"/>
      </a:folHlink>
    </a:clrScheme>
    <a:fontScheme name="MPW Plus Journey">
      <a:majorFont>
        <a:latin typeface="Malgun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MPW Plus 개발 편</dc:title>
  <dc:subject>Claude Code로 해 본 풀스택 바이브 코딩 기록</dc:subject>
  <dc:creator>PptxGenJS</dc:creator>
  <cp:lastModifiedBy>PptxGenJS</cp:lastModifiedBy>
  <cp:revision>1</cp:revision>
  <dcterms:created xsi:type="dcterms:W3CDTF">2026-10-11T01:33:03Z</dcterms:created>
  <dcterms:modified xsi:type="dcterms:W3CDTF">2026-10-11T01:33:03Z</dcterms:modified>
</cp:coreProperties>
</file>